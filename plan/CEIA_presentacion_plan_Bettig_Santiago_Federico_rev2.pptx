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1" roundtripDataSignature="AMtx7mggNSsOUFwP78bUiH24R4zFsgUoz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uis Mariano Campos" initials="" lastIdx="9" clrIdx="0"/>
  <p:cmAuthor id="1" name="Santiago Bettig" initials="" lastIdx="7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6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" name="Google Shape;16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" name="Google Shape;31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" name="Google Shape;64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" name="Google Shape;83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0" name="Google Shape;120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6" name="Google Shape;146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6" name="Google Shape;266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1" name="Google Shape;311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7" name="Google Shape;367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7" name="Google Shape;417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0" name="Google Shape;450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7" name="Google Shape;507;p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4" name="Google Shape;544;p1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1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1" name="Google Shape;581;p1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1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">
  <p:cSld name="M">
    <p:bg>
      <p:bgPr>
        <a:solidFill>
          <a:srgbClr val="1E2E3D"/>
        </a:solidFill>
        <a:effectLst/>
      </p:bgPr>
    </p:bg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7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E8FA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9;p17"/>
          <p:cNvSpPr/>
          <p:nvPr/>
        </p:nvSpPr>
        <p:spPr>
          <a:xfrm>
            <a:off x="0" y="0"/>
            <a:ext cx="256032" cy="164592"/>
          </a:xfrm>
          <a:prstGeom prst="rect">
            <a:avLst/>
          </a:prstGeom>
          <a:solidFill>
            <a:srgbClr val="3DBFA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7243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linkedin.com/in/santiago-bettig-699566202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"/>
          <p:cNvSpPr/>
          <p:nvPr/>
        </p:nvSpPr>
        <p:spPr>
          <a:xfrm>
            <a:off x="6530" y="219456"/>
            <a:ext cx="9144000" cy="4924044"/>
          </a:xfrm>
          <a:prstGeom prst="rect">
            <a:avLst/>
          </a:prstGeom>
          <a:solidFill>
            <a:srgbClr val="253649"/>
          </a:solidFill>
          <a:ln w="12700" cap="flat" cmpd="sng">
            <a:solidFill>
              <a:srgbClr val="2536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0" y="164592"/>
            <a:ext cx="91440" cy="4924044"/>
          </a:xfrm>
          <a:prstGeom prst="rect">
            <a:avLst/>
          </a:prstGeom>
          <a:solidFill>
            <a:srgbClr val="4ABFCF"/>
          </a:solidFill>
          <a:ln w="12700" cap="flat" cmpd="sng">
            <a:solidFill>
              <a:srgbClr val="4AB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14745" y="1626263"/>
            <a:ext cx="8412480" cy="1080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Detección de patologías cardiopulmonares mediante redes neuronales aplicadas a señales de auscultación</a:t>
            </a:r>
            <a:endParaRPr sz="2400" b="1">
              <a:solidFill>
                <a:srgbClr val="F0F6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3331028" y="2886897"/>
            <a:ext cx="2560320" cy="36576"/>
          </a:xfrm>
          <a:prstGeom prst="rect">
            <a:avLst/>
          </a:prstGeom>
          <a:solidFill>
            <a:srgbClr val="3DBFA0"/>
          </a:solidFill>
          <a:ln w="12700" cap="flat" cmpd="sng">
            <a:solidFill>
              <a:srgbClr val="3DB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04948" y="3244817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1450"/>
              <a:buFont typeface="Calibri"/>
              <a:buNone/>
            </a:pPr>
            <a:r>
              <a:rPr lang="en-US" sz="1450" b="1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Ing. Santiago Federico Bettig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404948" y="3665441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Director: Dr. Ing. Leandro Javier Cymberknop  |  CIBIO – UTN FRBA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404948" y="3976337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Carrera de Especialización en Inteligencia Artificial  –  FIUBA  |  2026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 txBox="1"/>
          <p:nvPr/>
        </p:nvSpPr>
        <p:spPr>
          <a:xfrm>
            <a:off x="1530206" y="675531"/>
            <a:ext cx="2832787" cy="707886"/>
          </a:xfrm>
          <a:prstGeom prst="rect">
            <a:avLst/>
          </a:prstGeom>
          <a:solidFill>
            <a:schemeClr val="accent6">
              <a:alpha val="50196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Presentación del plan de Trabajo F</a:t>
            </a:r>
            <a:r>
              <a:rPr lang="en-US" sz="2000" b="1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inal</a:t>
            </a:r>
            <a:endParaRPr/>
          </a:p>
        </p:txBody>
      </p:sp>
      <p:pic>
        <p:nvPicPr>
          <p:cNvPr id="27" name="Google Shape;27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36743" y="491059"/>
            <a:ext cx="2793597" cy="1070512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2E8FA0"/>
                </a:solidFill>
              </a:rPr>
              <a:t>1</a:t>
            </a:fld>
            <a:endParaRPr>
              <a:solidFill>
                <a:srgbClr val="2E8FA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"/>
          <p:cNvSpPr/>
          <p:nvPr/>
        </p:nvSpPr>
        <p:spPr>
          <a:xfrm>
            <a:off x="347472" y="289992"/>
            <a:ext cx="1417320" cy="237744"/>
          </a:xfrm>
          <a:prstGeom prst="roundRect">
            <a:avLst>
              <a:gd name="adj" fmla="val 15385"/>
            </a:avLst>
          </a:prstGeom>
          <a:solidFill>
            <a:srgbClr val="4ABFCF"/>
          </a:solidFill>
          <a:ln w="12700" cap="flat" cmpd="sng">
            <a:solidFill>
              <a:srgbClr val="4AB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347472" y="289992"/>
            <a:ext cx="14173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E3D"/>
              </a:buClr>
              <a:buSzPts val="850"/>
              <a:buFont typeface="Calibri"/>
              <a:buNone/>
            </a:pPr>
            <a:r>
              <a:rPr lang="en-US" sz="850" b="1">
                <a:solidFill>
                  <a:srgbClr val="1E2E3D"/>
                </a:solidFill>
                <a:latin typeface="Calibri"/>
                <a:ea typeface="Calibri"/>
                <a:cs typeface="Calibri"/>
                <a:sym typeface="Calibri"/>
              </a:rPr>
              <a:t>CONTEXTO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347472" y="711708"/>
            <a:ext cx="8449056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2100"/>
              <a:buFont typeface="Calibri"/>
              <a:buNone/>
            </a:pPr>
            <a:r>
              <a:rPr lang="en-US" sz="2100" b="1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Contexto del Proyecto y problema que se atiende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347472" y="1450301"/>
            <a:ext cx="2651760" cy="914400"/>
          </a:xfrm>
          <a:prstGeom prst="rect">
            <a:avLst/>
          </a:prstGeom>
          <a:solidFill>
            <a:srgbClr val="2C3E52"/>
          </a:solidFill>
          <a:ln w="9525" cap="flat" cmpd="sng">
            <a:solidFill>
              <a:srgbClr val="E0707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347472" y="1450301"/>
            <a:ext cx="41148" cy="914400"/>
          </a:xfrm>
          <a:prstGeom prst="rect">
            <a:avLst/>
          </a:prstGeom>
          <a:solidFill>
            <a:srgbClr val="E07070"/>
          </a:solidFill>
          <a:ln w="12700" cap="flat" cmpd="sng">
            <a:solidFill>
              <a:srgbClr val="E0707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29768" y="1564601"/>
            <a:ext cx="2487168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07070"/>
              </a:buClr>
              <a:buSzPts val="2400"/>
              <a:buFont typeface="Calibri"/>
              <a:buNone/>
            </a:pPr>
            <a:r>
              <a:rPr lang="en-US" sz="2400" b="1">
                <a:solidFill>
                  <a:srgbClr val="E07070"/>
                </a:solidFill>
                <a:latin typeface="Calibri"/>
                <a:ea typeface="Calibri"/>
                <a:cs typeface="Calibri"/>
                <a:sym typeface="Calibri"/>
              </a:rPr>
              <a:t>17M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38912" y="1884641"/>
            <a:ext cx="24871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muertes/año por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enfermedades cardíacas (OMS)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3191256" y="1450301"/>
            <a:ext cx="2651760" cy="914400"/>
          </a:xfrm>
          <a:prstGeom prst="rect">
            <a:avLst/>
          </a:prstGeom>
          <a:solidFill>
            <a:srgbClr val="2C3E52"/>
          </a:solidFill>
          <a:ln w="9525" cap="flat" cmpd="sng">
            <a:solidFill>
              <a:srgbClr val="D4A8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3191256" y="1450301"/>
            <a:ext cx="41148" cy="914400"/>
          </a:xfrm>
          <a:prstGeom prst="rect">
            <a:avLst/>
          </a:prstGeom>
          <a:solidFill>
            <a:srgbClr val="D4A847"/>
          </a:solidFill>
          <a:ln w="12700" cap="flat" cmpd="sng">
            <a:solidFill>
              <a:srgbClr val="D4A8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3282696" y="1496021"/>
            <a:ext cx="24871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4A847"/>
              </a:buClr>
              <a:buSzPts val="2400"/>
              <a:buFont typeface="Calibri"/>
              <a:buNone/>
            </a:pPr>
            <a:r>
              <a:rPr lang="en-US" sz="2400" b="1">
                <a:solidFill>
                  <a:srgbClr val="D4A847"/>
                </a:solidFill>
                <a:latin typeface="Calibri"/>
                <a:ea typeface="Calibri"/>
                <a:cs typeface="Calibri"/>
                <a:sym typeface="Calibri"/>
              </a:rPr>
              <a:t>500M+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3282696" y="1884641"/>
            <a:ext cx="24871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personas afectadas</a:t>
            </a:r>
            <a:endParaRPr sz="1200">
              <a:solidFill>
                <a:srgbClr val="B8CC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por enfermedades respiratorias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035040" y="1450301"/>
            <a:ext cx="2651760" cy="914400"/>
          </a:xfrm>
          <a:prstGeom prst="rect">
            <a:avLst/>
          </a:prstGeom>
          <a:solidFill>
            <a:srgbClr val="2C3E52"/>
          </a:solidFill>
          <a:ln w="9525" cap="flat" cmpd="sng">
            <a:solidFill>
              <a:srgbClr val="4AB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6035040" y="1450301"/>
            <a:ext cx="41148" cy="914400"/>
          </a:xfrm>
          <a:prstGeom prst="rect">
            <a:avLst/>
          </a:prstGeom>
          <a:solidFill>
            <a:srgbClr val="4ABFCF"/>
          </a:solidFill>
          <a:ln w="12700" cap="flat" cmpd="sng">
            <a:solidFill>
              <a:srgbClr val="4AB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6126480" y="1496021"/>
            <a:ext cx="24871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BFCF"/>
              </a:buClr>
              <a:buSzPts val="2400"/>
              <a:buFont typeface="Calibri"/>
              <a:buNone/>
            </a:pPr>
            <a:r>
              <a:rPr lang="en-US" sz="2400" b="1">
                <a:solidFill>
                  <a:srgbClr val="4ABFCF"/>
                </a:solidFill>
                <a:latin typeface="Calibri"/>
                <a:ea typeface="Calibri"/>
                <a:cs typeface="Calibri"/>
                <a:sym typeface="Calibri"/>
              </a:rPr>
              <a:t>1ª causa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6137910" y="1907501"/>
            <a:ext cx="24871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de mortalidad global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a nivel mundial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347472" y="2602445"/>
            <a:ext cx="2651760" cy="930870"/>
          </a:xfrm>
          <a:prstGeom prst="rect">
            <a:avLst/>
          </a:prstGeom>
          <a:solidFill>
            <a:srgbClr val="2C3E52"/>
          </a:solidFill>
          <a:ln w="9525" cap="flat" cmpd="sng">
            <a:solidFill>
              <a:srgbClr val="4AB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347472" y="2602445"/>
            <a:ext cx="41148" cy="930870"/>
          </a:xfrm>
          <a:prstGeom prst="rect">
            <a:avLst/>
          </a:prstGeom>
          <a:solidFill>
            <a:srgbClr val="4ABFCF"/>
          </a:solidFill>
          <a:ln w="12700" cap="flat" cmpd="sng">
            <a:solidFill>
              <a:srgbClr val="4AB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58505" y="2693885"/>
            <a:ext cx="2487168" cy="18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BFC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4ABFCF"/>
                </a:solidFill>
                <a:latin typeface="Calibri"/>
                <a:ea typeface="Calibri"/>
                <a:cs typeface="Calibri"/>
                <a:sym typeface="Calibri"/>
              </a:rPr>
              <a:t>Limitación de la auscultación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449361" y="2932391"/>
            <a:ext cx="2487168" cy="593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100"/>
              <a:buFont typeface="Calibri"/>
              <a:buNone/>
            </a:pPr>
            <a:r>
              <a:rPr lang="en-US" sz="1100" dirty="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La </a:t>
            </a:r>
            <a:r>
              <a:rPr lang="en-US" sz="1100" dirty="0" err="1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auscultación</a:t>
            </a:r>
            <a:r>
              <a:rPr lang="en-US" sz="1100" dirty="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 es no </a:t>
            </a:r>
            <a:r>
              <a:rPr lang="en-US" sz="1100" dirty="0" err="1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invasiva</a:t>
            </a:r>
            <a:r>
              <a:rPr lang="en-US" sz="1100" dirty="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 y de bajo </a:t>
            </a:r>
            <a:r>
              <a:rPr lang="en-US" sz="1100" dirty="0" err="1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costo</a:t>
            </a:r>
            <a:r>
              <a:rPr lang="en-US" sz="1100" dirty="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100" dirty="0" err="1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pero</a:t>
            </a:r>
            <a:r>
              <a:rPr lang="en-US" sz="1100" dirty="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dirty="0" err="1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su</a:t>
            </a:r>
            <a:r>
              <a:rPr lang="en-US" sz="1100" dirty="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dirty="0" err="1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precisión</a:t>
            </a:r>
            <a:r>
              <a:rPr lang="en-US" sz="1100" dirty="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dirty="0" err="1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depende</a:t>
            </a:r>
            <a:r>
              <a:rPr lang="en-US" sz="1100" dirty="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 de la </a:t>
            </a:r>
            <a:r>
              <a:rPr lang="en-US" sz="1100" dirty="0" err="1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experiencia</a:t>
            </a:r>
            <a:r>
              <a:rPr lang="en-US" sz="1100" dirty="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 del </a:t>
            </a:r>
            <a:r>
              <a:rPr lang="en-US" sz="1100" dirty="0" err="1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profesional</a:t>
            </a:r>
            <a:r>
              <a:rPr lang="en-US" sz="1100" dirty="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3191256" y="2602445"/>
            <a:ext cx="2651760" cy="930870"/>
          </a:xfrm>
          <a:prstGeom prst="rect">
            <a:avLst/>
          </a:prstGeom>
          <a:solidFill>
            <a:srgbClr val="2C3E52"/>
          </a:solidFill>
          <a:ln w="9525" cap="flat" cmpd="sng">
            <a:solidFill>
              <a:srgbClr val="4AB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3191256" y="2602445"/>
            <a:ext cx="41148" cy="930870"/>
          </a:xfrm>
          <a:prstGeom prst="rect">
            <a:avLst/>
          </a:prstGeom>
          <a:solidFill>
            <a:srgbClr val="4ABFCF"/>
          </a:solidFill>
          <a:ln w="12700" cap="flat" cmpd="sng">
            <a:solidFill>
              <a:srgbClr val="4AB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3308820" y="2693885"/>
            <a:ext cx="2487168" cy="18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BFC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4ABFCF"/>
                </a:solidFill>
                <a:latin typeface="Calibri"/>
                <a:ea typeface="Calibri"/>
                <a:cs typeface="Calibri"/>
                <a:sym typeface="Calibri"/>
              </a:rPr>
              <a:t>Brecha de acceso en Latinoamérica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3308820" y="2927714"/>
            <a:ext cx="2487168" cy="593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El médico general interpreta sonidos cardiopulmonares sin el criterio de un cardiólogo o neumólogo.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6035040" y="2611589"/>
            <a:ext cx="2651760" cy="930870"/>
          </a:xfrm>
          <a:prstGeom prst="rect">
            <a:avLst/>
          </a:prstGeom>
          <a:solidFill>
            <a:srgbClr val="2C3E52"/>
          </a:solidFill>
          <a:ln w="9525" cap="flat" cmpd="sng">
            <a:solidFill>
              <a:srgbClr val="3DB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6035039" y="2611589"/>
            <a:ext cx="45719" cy="914400"/>
          </a:xfrm>
          <a:prstGeom prst="rect">
            <a:avLst/>
          </a:prstGeom>
          <a:solidFill>
            <a:srgbClr val="3DBFA0"/>
          </a:solidFill>
          <a:ln w="12700" cap="flat" cmpd="sng">
            <a:solidFill>
              <a:srgbClr val="3DB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6159135" y="2662311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BFA0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3DBFA0"/>
                </a:solidFill>
                <a:latin typeface="Calibri"/>
                <a:ea typeface="Calibri"/>
                <a:cs typeface="Calibri"/>
                <a:sym typeface="Calibri"/>
              </a:rPr>
              <a:t>El diagnóstico temprano es fundamental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6157503" y="2937529"/>
            <a:ext cx="2487168" cy="467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En enfermedades cardiovasculares y respiratorias el diagnóstico temprano mejora el pronóstico y reduce costos.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2E8FA0"/>
                </a:solidFill>
              </a:rPr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"/>
          <p:cNvSpPr/>
          <p:nvPr/>
        </p:nvSpPr>
        <p:spPr>
          <a:xfrm>
            <a:off x="347472" y="289992"/>
            <a:ext cx="1417320" cy="237744"/>
          </a:xfrm>
          <a:prstGeom prst="roundRect">
            <a:avLst>
              <a:gd name="adj" fmla="val 15385"/>
            </a:avLst>
          </a:prstGeom>
          <a:solidFill>
            <a:srgbClr val="4ABFCF"/>
          </a:solidFill>
          <a:ln w="12700" cap="flat" cmpd="sng">
            <a:solidFill>
              <a:srgbClr val="4AB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347472" y="289992"/>
            <a:ext cx="14173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E3D"/>
              </a:buClr>
              <a:buSzPts val="850"/>
              <a:buFont typeface="Calibri"/>
              <a:buNone/>
            </a:pPr>
            <a:r>
              <a:rPr lang="en-US" sz="850" b="1">
                <a:solidFill>
                  <a:srgbClr val="1E2E3D"/>
                </a:solidFill>
                <a:latin typeface="Calibri"/>
                <a:ea typeface="Calibri"/>
                <a:cs typeface="Calibri"/>
                <a:sym typeface="Calibri"/>
              </a:rPr>
              <a:t>PROPUESTA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347472" y="581295"/>
            <a:ext cx="8449056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2100"/>
              <a:buFont typeface="Calibri"/>
              <a:buNone/>
            </a:pPr>
            <a:r>
              <a:rPr lang="en-US" sz="2100" b="1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Estado del arte y propuesta de valor diferencial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289475" y="1110350"/>
            <a:ext cx="4332000" cy="1660500"/>
          </a:xfrm>
          <a:prstGeom prst="rect">
            <a:avLst/>
          </a:prstGeom>
          <a:solidFill>
            <a:srgbClr val="2C3E52"/>
          </a:solidFill>
          <a:ln w="9525" cap="flat" cmpd="sng">
            <a:solidFill>
              <a:srgbClr val="6E8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399205" y="1172841"/>
            <a:ext cx="41292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Estado del arte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399205" y="1470935"/>
            <a:ext cx="4100400" cy="47700"/>
          </a:xfrm>
          <a:prstGeom prst="rect">
            <a:avLst/>
          </a:prstGeom>
          <a:solidFill>
            <a:srgbClr val="172433"/>
          </a:solidFill>
          <a:ln w="12700" cap="flat" cmpd="sng">
            <a:solidFill>
              <a:srgbClr val="1724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377080" y="1607749"/>
            <a:ext cx="4244400" cy="9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Redes convolucionales sobre representaciones MEL y vectores MFCC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COVID-19 aceleró el interés en diagnóstico automatizado.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07070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E07070"/>
                </a:solidFill>
                <a:latin typeface="Calibri"/>
                <a:ea typeface="Calibri"/>
                <a:cs typeface="Calibri"/>
                <a:sym typeface="Calibri"/>
              </a:rPr>
              <a:t>No refleja la práctica clínica real integrada.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07070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E07070"/>
                </a:solidFill>
                <a:latin typeface="Calibri"/>
                <a:ea typeface="Calibri"/>
                <a:cs typeface="Calibri"/>
                <a:sym typeface="Calibri"/>
              </a:rPr>
              <a:t>Ausencia de validación integrada cardíaco-pulmonar.</a:t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4754150" y="1110225"/>
            <a:ext cx="4100400" cy="1660500"/>
          </a:xfrm>
          <a:prstGeom prst="rect">
            <a:avLst/>
          </a:prstGeom>
          <a:solidFill>
            <a:srgbClr val="2C3E52"/>
          </a:solidFill>
          <a:ln w="10150" cap="flat" cmpd="sng">
            <a:solidFill>
              <a:srgbClr val="3DB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4754150" y="1110225"/>
            <a:ext cx="61200" cy="1660500"/>
          </a:xfrm>
          <a:prstGeom prst="rect">
            <a:avLst/>
          </a:prstGeom>
          <a:solidFill>
            <a:srgbClr val="3DBFA0"/>
          </a:solidFill>
          <a:ln w="12700" cap="flat" cmpd="sng">
            <a:solidFill>
              <a:srgbClr val="3DB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4871724" y="1216177"/>
            <a:ext cx="3914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BFA0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3DBFA0"/>
                </a:solidFill>
                <a:latin typeface="Calibri"/>
                <a:ea typeface="Calibri"/>
                <a:cs typeface="Calibri"/>
                <a:sym typeface="Calibri"/>
              </a:rPr>
              <a:t>Propuesta de valor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4871707" y="1470936"/>
            <a:ext cx="3866700" cy="47700"/>
          </a:xfrm>
          <a:prstGeom prst="rect">
            <a:avLst/>
          </a:prstGeom>
          <a:solidFill>
            <a:srgbClr val="172433"/>
          </a:solidFill>
          <a:ln w="12700" cap="flat" cmpd="sng">
            <a:solidFill>
              <a:srgbClr val="1724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4857030" y="1542485"/>
            <a:ext cx="3914100" cy="11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Pipeline unificado: cardíacos + pulmonares en un único modelo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Más fiel a la práctica clínica real del médico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A8D08C"/>
                </a:solidFill>
                <a:latin typeface="Calibri"/>
                <a:ea typeface="Calibri"/>
                <a:cs typeface="Calibri"/>
                <a:sym typeface="Calibri"/>
              </a:rPr>
              <a:t>Herramienta de apoyo, no reemplaza el criterio clínico</a:t>
            </a:r>
            <a:endParaRPr sz="1000">
              <a:solidFill>
                <a:srgbClr val="A8D08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Resultados de carácter académico y acceso abierto (CIBIO)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" name="Google Shape;7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37525" y="2919125"/>
            <a:ext cx="5230801" cy="20464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2E8FA0"/>
                </a:solidFill>
              </a:rPr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/>
          <p:nvPr/>
        </p:nvSpPr>
        <p:spPr>
          <a:xfrm>
            <a:off x="347472" y="289992"/>
            <a:ext cx="1417320" cy="237744"/>
          </a:xfrm>
          <a:prstGeom prst="roundRect">
            <a:avLst>
              <a:gd name="adj" fmla="val 15385"/>
            </a:avLst>
          </a:prstGeom>
          <a:solidFill>
            <a:srgbClr val="4ABFCF"/>
          </a:solidFill>
          <a:ln w="12700" cap="flat" cmpd="sng">
            <a:solidFill>
              <a:srgbClr val="4AB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347472" y="289992"/>
            <a:ext cx="14173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E3D"/>
              </a:buClr>
              <a:buSzPts val="850"/>
              <a:buFont typeface="Calibri"/>
              <a:buNone/>
            </a:pPr>
            <a:r>
              <a:rPr lang="en-US" sz="850" b="1">
                <a:solidFill>
                  <a:srgbClr val="1E2E3D"/>
                </a:solidFill>
                <a:latin typeface="Calibri"/>
                <a:ea typeface="Calibri"/>
                <a:cs typeface="Calibri"/>
                <a:sym typeface="Calibri"/>
              </a:rPr>
              <a:t>INTERESADOS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347472" y="692331"/>
            <a:ext cx="8449056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2100"/>
              <a:buFont typeface="Calibri"/>
              <a:buNone/>
            </a:pPr>
            <a:r>
              <a:rPr lang="en-US" sz="2100" b="1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Identificación y análisis de los interesados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347472" y="1389888"/>
            <a:ext cx="4041648" cy="1616202"/>
          </a:xfrm>
          <a:prstGeom prst="rect">
            <a:avLst/>
          </a:prstGeom>
          <a:solidFill>
            <a:srgbClr val="2C3E52"/>
          </a:solidFill>
          <a:ln w="9525" cap="flat" cmpd="sng">
            <a:solidFill>
              <a:srgbClr val="D4A8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050"/>
              <a:buFont typeface="Calibri"/>
              <a:buNone/>
            </a:pPr>
            <a:endParaRPr sz="1050">
              <a:solidFill>
                <a:srgbClr val="B8CC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347472" y="1389888"/>
            <a:ext cx="41148" cy="1616202"/>
          </a:xfrm>
          <a:prstGeom prst="rect">
            <a:avLst/>
          </a:prstGeom>
          <a:solidFill>
            <a:srgbClr val="D4A847"/>
          </a:solidFill>
          <a:ln w="12700" cap="flat" cmpd="sng">
            <a:solidFill>
              <a:srgbClr val="D4A8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465036" y="1463040"/>
            <a:ext cx="387705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4A847"/>
              </a:buClr>
              <a:buSzPts val="850"/>
              <a:buFont typeface="Calibri"/>
              <a:buNone/>
            </a:pPr>
            <a:r>
              <a:rPr lang="en-US" sz="850" b="1">
                <a:solidFill>
                  <a:srgbClr val="D4A847"/>
                </a:solidFill>
                <a:latin typeface="Calibri"/>
                <a:ea typeface="Calibri"/>
                <a:cs typeface="Calibri"/>
                <a:sym typeface="Calibri"/>
              </a:rPr>
              <a:t>CLIENTE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465036" y="1682496"/>
            <a:ext cx="387705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Dra. Laura Méndez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465036" y="1975104"/>
            <a:ext cx="387705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DA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E8DA0"/>
                </a:solidFill>
                <a:latin typeface="Calibri"/>
                <a:ea typeface="Calibri"/>
                <a:cs typeface="Calibri"/>
                <a:sym typeface="Calibri"/>
              </a:rPr>
              <a:t>CIBIO - UTN FRBA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465036" y="2194560"/>
            <a:ext cx="3858768" cy="20117"/>
          </a:xfrm>
          <a:prstGeom prst="rect">
            <a:avLst/>
          </a:prstGeom>
          <a:solidFill>
            <a:srgbClr val="172433"/>
          </a:solidFill>
          <a:ln w="12700" cap="flat" cmpd="sng">
            <a:solidFill>
              <a:srgbClr val="1724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464963" y="2376186"/>
            <a:ext cx="3877200" cy="4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Médica especialista y referente biomédica del CIBIO</a:t>
            </a:r>
            <a:endParaRPr sz="1050">
              <a:solidFill>
                <a:srgbClr val="B8CC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347472" y="3207258"/>
            <a:ext cx="4041648" cy="1616202"/>
          </a:xfrm>
          <a:prstGeom prst="rect">
            <a:avLst/>
          </a:prstGeom>
          <a:solidFill>
            <a:srgbClr val="2C3E52"/>
          </a:solidFill>
          <a:ln w="9525" cap="flat" cmpd="sng">
            <a:solidFill>
              <a:srgbClr val="4AB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347472" y="3207258"/>
            <a:ext cx="41148" cy="1616202"/>
          </a:xfrm>
          <a:prstGeom prst="rect">
            <a:avLst/>
          </a:prstGeom>
          <a:solidFill>
            <a:srgbClr val="4ABFCF"/>
          </a:solidFill>
          <a:ln w="12700" cap="flat" cmpd="sng">
            <a:solidFill>
              <a:srgbClr val="4AB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465036" y="3280410"/>
            <a:ext cx="387705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BFCF"/>
              </a:buClr>
              <a:buSzPts val="850"/>
              <a:buFont typeface="Calibri"/>
              <a:buNone/>
            </a:pPr>
            <a:r>
              <a:rPr lang="en-US" sz="850" b="1">
                <a:solidFill>
                  <a:srgbClr val="4ABFCF"/>
                </a:solidFill>
                <a:latin typeface="Calibri"/>
                <a:ea typeface="Calibri"/>
                <a:cs typeface="Calibri"/>
                <a:sym typeface="Calibri"/>
              </a:rPr>
              <a:t>RESPONSABLE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465036" y="3499866"/>
            <a:ext cx="387705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Ing. Santiago Federico Bettig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465036" y="3792474"/>
            <a:ext cx="387705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8DA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E8DA0"/>
                </a:solidFill>
                <a:latin typeface="Calibri"/>
                <a:ea typeface="Calibri"/>
                <a:cs typeface="Calibri"/>
                <a:sym typeface="Calibri"/>
              </a:rPr>
              <a:t>FIUBA – CEIA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465036" y="4011930"/>
            <a:ext cx="3858768" cy="20117"/>
          </a:xfrm>
          <a:prstGeom prst="rect">
            <a:avLst/>
          </a:prstGeom>
          <a:solidFill>
            <a:srgbClr val="172433"/>
          </a:solidFill>
          <a:ln w="12700" cap="flat" cmpd="sng">
            <a:solidFill>
              <a:srgbClr val="1724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465036" y="4075938"/>
            <a:ext cx="3877056" cy="683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Desarrollador de firmware (+5 años), experiencia en DSP y proyectos médicos. Cursa la Especialización en Inteligencia Artificial.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4773168" y="1389888"/>
            <a:ext cx="4041648" cy="1616202"/>
          </a:xfrm>
          <a:prstGeom prst="rect">
            <a:avLst/>
          </a:prstGeom>
          <a:solidFill>
            <a:srgbClr val="2C3E52"/>
          </a:solidFill>
          <a:ln w="9525" cap="flat" cmpd="sng">
            <a:solidFill>
              <a:srgbClr val="3DB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4773168" y="1389888"/>
            <a:ext cx="41148" cy="1616202"/>
          </a:xfrm>
          <a:prstGeom prst="rect">
            <a:avLst/>
          </a:prstGeom>
          <a:solidFill>
            <a:srgbClr val="3DBFA0"/>
          </a:solidFill>
          <a:ln w="12700" cap="flat" cmpd="sng">
            <a:solidFill>
              <a:srgbClr val="3DB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4890732" y="1463040"/>
            <a:ext cx="387705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BFA0"/>
              </a:buClr>
              <a:buSzPts val="850"/>
              <a:buFont typeface="Calibri"/>
              <a:buNone/>
            </a:pPr>
            <a:r>
              <a:rPr lang="en-US" sz="850" b="1">
                <a:solidFill>
                  <a:srgbClr val="3DBFA0"/>
                </a:solidFill>
                <a:latin typeface="Calibri"/>
                <a:ea typeface="Calibri"/>
                <a:cs typeface="Calibri"/>
                <a:sym typeface="Calibri"/>
              </a:rPr>
              <a:t>ORIENTADOR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4890732" y="1682496"/>
            <a:ext cx="387705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Dr. Ing. Leandro Javier Cymberknop</a:t>
            </a:r>
            <a:endParaRPr sz="1200" b="1">
              <a:solidFill>
                <a:srgbClr val="F0F6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4890732" y="1975104"/>
            <a:ext cx="387705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6E8DA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E8DA0"/>
                </a:solidFill>
                <a:latin typeface="Calibri"/>
                <a:ea typeface="Calibri"/>
                <a:cs typeface="Calibri"/>
                <a:sym typeface="Calibri"/>
              </a:rPr>
              <a:t>CIBIO - UTN FRBA</a:t>
            </a:r>
            <a:endParaRPr sz="1000">
              <a:solidFill>
                <a:srgbClr val="6E8D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4890732" y="2194560"/>
            <a:ext cx="3858768" cy="20117"/>
          </a:xfrm>
          <a:prstGeom prst="rect">
            <a:avLst/>
          </a:prstGeom>
          <a:solidFill>
            <a:srgbClr val="172433"/>
          </a:solidFill>
          <a:ln w="12700" cap="flat" cmpd="sng">
            <a:solidFill>
              <a:srgbClr val="1724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4890732" y="2258568"/>
            <a:ext cx="3877056" cy="683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Investigador Categoría A en UTN FRBA. Director del grupo CIBIO. Docente de ASyS. Experto en IA médica.</a:t>
            </a:r>
            <a:endParaRPr sz="1050">
              <a:solidFill>
                <a:srgbClr val="B8CC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4773168" y="3207258"/>
            <a:ext cx="4041648" cy="1616202"/>
          </a:xfrm>
          <a:prstGeom prst="rect">
            <a:avLst/>
          </a:prstGeom>
          <a:solidFill>
            <a:srgbClr val="2C3E52"/>
          </a:solidFill>
          <a:ln w="9525" cap="flat" cmpd="sng">
            <a:solidFill>
              <a:srgbClr val="7B9E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4773168" y="3207258"/>
            <a:ext cx="41148" cy="1616202"/>
          </a:xfrm>
          <a:prstGeom prst="rect">
            <a:avLst/>
          </a:prstGeom>
          <a:solidFill>
            <a:srgbClr val="7B9EC0"/>
          </a:solidFill>
          <a:ln w="12700" cap="flat" cmpd="sng">
            <a:solidFill>
              <a:srgbClr val="7B9E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4890732" y="3280410"/>
            <a:ext cx="387705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B9EC0"/>
              </a:buClr>
              <a:buSzPts val="850"/>
              <a:buFont typeface="Calibri"/>
              <a:buNone/>
            </a:pPr>
            <a:r>
              <a:rPr lang="en-US" sz="850" b="1">
                <a:solidFill>
                  <a:srgbClr val="7B9EC0"/>
                </a:solidFill>
                <a:latin typeface="Calibri"/>
                <a:ea typeface="Calibri"/>
                <a:cs typeface="Calibri"/>
                <a:sym typeface="Calibri"/>
              </a:rPr>
              <a:t>USUARIO FINAL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4890732" y="3499866"/>
            <a:ext cx="387705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Médicos generalistas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4890732" y="3792474"/>
            <a:ext cx="387705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8DA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E8DA0"/>
                </a:solidFill>
                <a:latin typeface="Calibri"/>
                <a:ea typeface="Calibri"/>
                <a:cs typeface="Calibri"/>
                <a:sym typeface="Calibri"/>
              </a:rPr>
              <a:t>Sistema de salud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4890732" y="4011930"/>
            <a:ext cx="3858768" cy="20117"/>
          </a:xfrm>
          <a:prstGeom prst="rect">
            <a:avLst/>
          </a:prstGeom>
          <a:solidFill>
            <a:srgbClr val="172433"/>
          </a:solidFill>
          <a:ln w="12700" cap="flat" cmpd="sng">
            <a:solidFill>
              <a:srgbClr val="1724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4890732" y="4075938"/>
            <a:ext cx="3877056" cy="683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Médicos generales, especialistas e instituciones de salud. Usuarios potenciales del sistema de apoyo.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2E8FA0"/>
                </a:solidFill>
              </a:rPr>
              <a:t>4</a:t>
            </a:fld>
            <a:endParaRPr>
              <a:solidFill>
                <a:srgbClr val="2E8FA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/>
          <p:nvPr/>
        </p:nvSpPr>
        <p:spPr>
          <a:xfrm>
            <a:off x="347472" y="289992"/>
            <a:ext cx="1417320" cy="237744"/>
          </a:xfrm>
          <a:prstGeom prst="roundRect">
            <a:avLst>
              <a:gd name="adj" fmla="val 15385"/>
            </a:avLst>
          </a:prstGeom>
          <a:solidFill>
            <a:srgbClr val="4ABFCF"/>
          </a:solidFill>
          <a:ln w="12700" cap="flat" cmpd="sng">
            <a:solidFill>
              <a:srgbClr val="4AB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347472" y="289992"/>
            <a:ext cx="14173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E3D"/>
              </a:buClr>
              <a:buSzPts val="850"/>
              <a:buFont typeface="Calibri"/>
              <a:buNone/>
            </a:pPr>
            <a:r>
              <a:rPr lang="en-US" sz="850" b="1">
                <a:solidFill>
                  <a:srgbClr val="1E2E3D"/>
                </a:solidFill>
                <a:latin typeface="Calibri"/>
                <a:ea typeface="Calibri"/>
                <a:cs typeface="Calibri"/>
                <a:sym typeface="Calibri"/>
              </a:rPr>
              <a:t>ALCANCE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347472" y="548640"/>
            <a:ext cx="8449056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2100"/>
              <a:buFont typeface="Calibri"/>
              <a:buNone/>
            </a:pPr>
            <a:r>
              <a:rPr lang="en-US" sz="2100" b="1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Propósito, alcance y supuestos del proyecto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347475" y="2322900"/>
            <a:ext cx="4041600" cy="1422600"/>
          </a:xfrm>
          <a:prstGeom prst="rect">
            <a:avLst/>
          </a:prstGeom>
          <a:solidFill>
            <a:srgbClr val="2C3E52"/>
          </a:solidFill>
          <a:ln w="9525" cap="flat" cmpd="sng">
            <a:solidFill>
              <a:srgbClr val="4AB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347475" y="2322900"/>
            <a:ext cx="41100" cy="1422600"/>
          </a:xfrm>
          <a:prstGeom prst="rect">
            <a:avLst/>
          </a:prstGeom>
          <a:solidFill>
            <a:srgbClr val="4ABFCF"/>
          </a:solidFill>
          <a:ln w="12700" cap="flat" cmpd="sng">
            <a:solidFill>
              <a:srgbClr val="4AB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438915" y="2398573"/>
            <a:ext cx="3877200" cy="2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BFC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4ABFCF"/>
                </a:solidFill>
                <a:latin typeface="Calibri"/>
                <a:ea typeface="Calibri"/>
                <a:cs typeface="Calibri"/>
                <a:sym typeface="Calibri"/>
              </a:rPr>
              <a:t>✔  El proyecto incluye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438915" y="2640725"/>
            <a:ext cx="3877200" cy="16800"/>
          </a:xfrm>
          <a:prstGeom prst="rect">
            <a:avLst/>
          </a:prstGeom>
          <a:solidFill>
            <a:srgbClr val="172433"/>
          </a:solidFill>
          <a:ln w="12700" cap="flat" cmpd="sng">
            <a:solidFill>
              <a:srgbClr val="1724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438915" y="2701263"/>
            <a:ext cx="3877200" cy="9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Recopilación y procesamiento de datasets públicos.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Extracción de features: espectrogramas Mel + MFCC.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Diseño, entrenamiento y validación de modelo.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Evaluación de rendimiento.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4773175" y="2322900"/>
            <a:ext cx="4041600" cy="1422600"/>
          </a:xfrm>
          <a:prstGeom prst="rect">
            <a:avLst/>
          </a:prstGeom>
          <a:solidFill>
            <a:srgbClr val="2C3E52"/>
          </a:solidFill>
          <a:ln w="9525" cap="flat" cmpd="sng">
            <a:solidFill>
              <a:srgbClr val="E0707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4773175" y="2322900"/>
            <a:ext cx="41100" cy="1422600"/>
          </a:xfrm>
          <a:prstGeom prst="rect">
            <a:avLst/>
          </a:prstGeom>
          <a:solidFill>
            <a:srgbClr val="E07070"/>
          </a:solidFill>
          <a:ln w="12700" cap="flat" cmpd="sng">
            <a:solidFill>
              <a:srgbClr val="E0707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4864615" y="2398573"/>
            <a:ext cx="3877200" cy="2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7070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E07070"/>
                </a:solidFill>
                <a:latin typeface="Calibri"/>
                <a:ea typeface="Calibri"/>
                <a:cs typeface="Calibri"/>
                <a:sym typeface="Calibri"/>
              </a:rPr>
              <a:t>✗  El proyecto no incluye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4864615" y="2640725"/>
            <a:ext cx="3877200" cy="16800"/>
          </a:xfrm>
          <a:prstGeom prst="rect">
            <a:avLst/>
          </a:prstGeom>
          <a:solidFill>
            <a:srgbClr val="172433"/>
          </a:solidFill>
          <a:ln w="12700" cap="flat" cmpd="sng">
            <a:solidFill>
              <a:srgbClr val="1724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4864615" y="2701263"/>
            <a:ext cx="3877200" cy="9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Desarrollo de hardware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Validación clínica ni aprobación regulatoria.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Despliegue en entorno médico real.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07070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E07070"/>
                </a:solidFill>
                <a:latin typeface="Calibri"/>
                <a:ea typeface="Calibri"/>
                <a:cs typeface="Calibri"/>
                <a:sym typeface="Calibri"/>
              </a:rPr>
              <a:t>El sistema es solo herramienta de apoyo.</a:t>
            </a:r>
            <a:endParaRPr sz="1100">
              <a:solidFill>
                <a:srgbClr val="E0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347472" y="4169991"/>
            <a:ext cx="8449056" cy="347472"/>
          </a:xfrm>
          <a:prstGeom prst="rect">
            <a:avLst/>
          </a:prstGeom>
          <a:solidFill>
            <a:srgbClr val="253649"/>
          </a:solidFill>
          <a:ln w="9525" cap="flat" cmpd="sng">
            <a:solidFill>
              <a:srgbClr val="1724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457200" y="4197423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E8DA0"/>
              </a:buClr>
              <a:buSzPts val="1000"/>
              <a:buFont typeface="Calibri"/>
              <a:buNone/>
            </a:pPr>
            <a:r>
              <a:rPr lang="en-US" sz="1000" i="1">
                <a:solidFill>
                  <a:srgbClr val="6E8DA0"/>
                </a:solidFill>
                <a:latin typeface="Calibri"/>
                <a:ea typeface="Calibri"/>
                <a:cs typeface="Calibri"/>
                <a:sym typeface="Calibri"/>
              </a:rPr>
              <a:t>Supuestos: tiempo extralaboral suficiente · datasets accesibles · hardware adecuado · orientación del director del TF y del grupo CIBIO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2010110" y="1271217"/>
            <a:ext cx="5127300" cy="732000"/>
          </a:xfrm>
          <a:prstGeom prst="rect">
            <a:avLst/>
          </a:prstGeom>
          <a:solidFill>
            <a:srgbClr val="2C3E52"/>
          </a:solidFill>
          <a:ln w="9525" cap="flat" cmpd="sng">
            <a:solidFill>
              <a:srgbClr val="3DB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2010112" y="1271214"/>
            <a:ext cx="41100" cy="732000"/>
          </a:xfrm>
          <a:prstGeom prst="rect">
            <a:avLst/>
          </a:prstGeom>
          <a:solidFill>
            <a:srgbClr val="3DBFA0"/>
          </a:solidFill>
          <a:ln w="12700" cap="flat" cmpd="sng">
            <a:solidFill>
              <a:srgbClr val="3DB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 txBox="1"/>
          <p:nvPr/>
        </p:nvSpPr>
        <p:spPr>
          <a:xfrm>
            <a:off x="2148036" y="1587667"/>
            <a:ext cx="4854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Desarrollar una herramienta de apoyo al diagnóstico médico basada en inteligencia artificial</a:t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2175027" y="1295176"/>
            <a:ext cx="5014800" cy="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BFA0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3DBFA0"/>
                </a:solidFill>
                <a:latin typeface="Calibri"/>
                <a:ea typeface="Calibri"/>
                <a:cs typeface="Calibri"/>
                <a:sym typeface="Calibri"/>
              </a:rPr>
              <a:t>Propósito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2175024" y="1551447"/>
            <a:ext cx="4799100" cy="25800"/>
          </a:xfrm>
          <a:prstGeom prst="rect">
            <a:avLst/>
          </a:prstGeom>
          <a:solidFill>
            <a:srgbClr val="172433"/>
          </a:solidFill>
          <a:ln w="12700" cap="flat" cmpd="sng">
            <a:solidFill>
              <a:srgbClr val="1724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2E8FA0"/>
                </a:solidFill>
              </a:rPr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"/>
          <p:cNvSpPr/>
          <p:nvPr/>
        </p:nvSpPr>
        <p:spPr>
          <a:xfrm>
            <a:off x="347472" y="283461"/>
            <a:ext cx="1417320" cy="237744"/>
          </a:xfrm>
          <a:prstGeom prst="roundRect">
            <a:avLst>
              <a:gd name="adj" fmla="val 15385"/>
            </a:avLst>
          </a:prstGeom>
          <a:solidFill>
            <a:srgbClr val="4ABFCF"/>
          </a:solidFill>
          <a:ln w="12700" cap="flat" cmpd="sng">
            <a:solidFill>
              <a:srgbClr val="4AB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347472" y="283461"/>
            <a:ext cx="14173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E3D"/>
              </a:buClr>
              <a:buSzPts val="850"/>
              <a:buFont typeface="Calibri"/>
              <a:buNone/>
            </a:pPr>
            <a:r>
              <a:rPr lang="en-US" sz="850" b="1">
                <a:solidFill>
                  <a:srgbClr val="1E2E3D"/>
                </a:solidFill>
                <a:latin typeface="Calibri"/>
                <a:ea typeface="Calibri"/>
                <a:cs typeface="Calibri"/>
                <a:sym typeface="Calibri"/>
              </a:rPr>
              <a:t>BACKLOG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347472" y="548640"/>
            <a:ext cx="8449056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2100"/>
              <a:buFont typeface="Calibri"/>
              <a:buNone/>
            </a:pPr>
            <a:r>
              <a:rPr lang="en-US" sz="2100" b="1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Product Backlog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347472" y="1042416"/>
            <a:ext cx="844905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8DA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E8DA0"/>
                </a:solidFill>
                <a:latin typeface="Calibri"/>
                <a:ea typeface="Calibri"/>
                <a:cs typeface="Calibri"/>
                <a:sym typeface="Calibri"/>
              </a:rPr>
              <a:t>Story Points (Fibonacci): SP = Dificultad + Complejidad + Incertidumbre → redondeado al siguiente valor de la serie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347472" y="1389888"/>
            <a:ext cx="8449056" cy="274320"/>
          </a:xfrm>
          <a:prstGeom prst="rect">
            <a:avLst/>
          </a:prstGeom>
          <a:solidFill>
            <a:srgbClr val="2E8FA0"/>
          </a:solidFill>
          <a:ln w="12700" cap="flat" cmpd="sng">
            <a:solidFill>
              <a:srgbClr val="2E8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402336" y="1426464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ID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1097280" y="1426464"/>
            <a:ext cx="12618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Épica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2395728" y="1426464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Descripción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5724144" y="1426464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SP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6309360" y="1426464"/>
            <a:ext cx="224942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Barra SP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347472" y="1664208"/>
            <a:ext cx="8449056" cy="297637"/>
          </a:xfrm>
          <a:prstGeom prst="rect">
            <a:avLst/>
          </a:prstGeom>
          <a:solidFill>
            <a:srgbClr val="2C3E52"/>
          </a:solidFill>
          <a:ln w="12700" cap="flat" cmpd="sng">
            <a:solidFill>
              <a:srgbClr val="2C3E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402336" y="1691640"/>
            <a:ext cx="658368" cy="242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BFC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4ABFCF"/>
                </a:solidFill>
                <a:latin typeface="Calibri"/>
                <a:ea typeface="Calibri"/>
                <a:cs typeface="Calibri"/>
                <a:sym typeface="Calibri"/>
              </a:rPr>
              <a:t>HU1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1097280" y="1691640"/>
            <a:ext cx="1261872" cy="242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Exploración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2395728" y="1691640"/>
            <a:ext cx="3291840" cy="242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Analizar distribución de datos para identificar desbalances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5724144" y="1691640"/>
            <a:ext cx="548640" cy="242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6309360" y="1728216"/>
            <a:ext cx="2084832" cy="151333"/>
          </a:xfrm>
          <a:prstGeom prst="rect">
            <a:avLst/>
          </a:prstGeom>
          <a:solidFill>
            <a:srgbClr val="253649"/>
          </a:solidFill>
          <a:ln w="12700" cap="flat" cmpd="sng">
            <a:solidFill>
              <a:srgbClr val="2536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6309360" y="1728216"/>
            <a:ext cx="1290610" cy="151333"/>
          </a:xfrm>
          <a:prstGeom prst="rect">
            <a:avLst/>
          </a:prstGeom>
          <a:solidFill>
            <a:srgbClr val="4ABFCF"/>
          </a:solidFill>
          <a:ln w="12700" cap="flat" cmpd="sng">
            <a:solidFill>
              <a:srgbClr val="4AB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347472" y="1980133"/>
            <a:ext cx="8449056" cy="297637"/>
          </a:xfrm>
          <a:prstGeom prst="rect">
            <a:avLst/>
          </a:prstGeom>
          <a:solidFill>
            <a:srgbClr val="253649"/>
          </a:solidFill>
          <a:ln w="12700" cap="flat" cmpd="sng">
            <a:solidFill>
              <a:srgbClr val="2536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402336" y="2007565"/>
            <a:ext cx="658368" cy="242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BFC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4ABFCF"/>
                </a:solidFill>
                <a:latin typeface="Calibri"/>
                <a:ea typeface="Calibri"/>
                <a:cs typeface="Calibri"/>
                <a:sym typeface="Calibri"/>
              </a:rPr>
              <a:t>HU2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1097280" y="2007565"/>
            <a:ext cx="1261872" cy="242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Exploración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2395728" y="2007565"/>
            <a:ext cx="3291840" cy="242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Visualizar señales de audio representativas de cada patología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5724144" y="2007565"/>
            <a:ext cx="548640" cy="242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6309360" y="2044141"/>
            <a:ext cx="2084832" cy="151333"/>
          </a:xfrm>
          <a:prstGeom prst="rect">
            <a:avLst/>
          </a:prstGeom>
          <a:solidFill>
            <a:srgbClr val="253649"/>
          </a:solidFill>
          <a:ln w="12700" cap="flat" cmpd="sng">
            <a:solidFill>
              <a:srgbClr val="2536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6309360" y="2044141"/>
            <a:ext cx="496389" cy="151333"/>
          </a:xfrm>
          <a:prstGeom prst="rect">
            <a:avLst/>
          </a:prstGeom>
          <a:solidFill>
            <a:srgbClr val="4ABFCF"/>
          </a:solidFill>
          <a:ln w="12700" cap="flat" cmpd="sng">
            <a:solidFill>
              <a:srgbClr val="4AB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347472" y="2296058"/>
            <a:ext cx="8449056" cy="297637"/>
          </a:xfrm>
          <a:prstGeom prst="rect">
            <a:avLst/>
          </a:prstGeom>
          <a:solidFill>
            <a:srgbClr val="2C3E52"/>
          </a:solidFill>
          <a:ln w="12700" cap="flat" cmpd="sng">
            <a:solidFill>
              <a:srgbClr val="2C3E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402336" y="2323490"/>
            <a:ext cx="658368" cy="242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4A847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D4A847"/>
                </a:solidFill>
                <a:latin typeface="Calibri"/>
                <a:ea typeface="Calibri"/>
                <a:cs typeface="Calibri"/>
                <a:sym typeface="Calibri"/>
              </a:rPr>
              <a:t>HU3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1097280" y="2323490"/>
            <a:ext cx="1261872" cy="242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Preprocesamiento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2395728" y="2323490"/>
            <a:ext cx="3291840" cy="242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Normalizar y limpiar señales de audio (remuestreo, ruido, amplitud)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5724144" y="2323490"/>
            <a:ext cx="548640" cy="242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6309360" y="2360066"/>
            <a:ext cx="2084832" cy="151333"/>
          </a:xfrm>
          <a:prstGeom prst="rect">
            <a:avLst/>
          </a:prstGeom>
          <a:solidFill>
            <a:srgbClr val="253649"/>
          </a:solidFill>
          <a:ln w="12700" cap="flat" cmpd="sng">
            <a:solidFill>
              <a:srgbClr val="2536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6309360" y="2360066"/>
            <a:ext cx="2084832" cy="151333"/>
          </a:xfrm>
          <a:prstGeom prst="rect">
            <a:avLst/>
          </a:prstGeom>
          <a:solidFill>
            <a:srgbClr val="D4A847"/>
          </a:solidFill>
          <a:ln w="12700" cap="flat" cmpd="sng">
            <a:solidFill>
              <a:srgbClr val="D4A8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347472" y="2611984"/>
            <a:ext cx="8449056" cy="297637"/>
          </a:xfrm>
          <a:prstGeom prst="rect">
            <a:avLst/>
          </a:prstGeom>
          <a:solidFill>
            <a:srgbClr val="253649"/>
          </a:solidFill>
          <a:ln w="12700" cap="flat" cmpd="sng">
            <a:solidFill>
              <a:srgbClr val="2536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402336" y="2639416"/>
            <a:ext cx="658368" cy="242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4A847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D4A847"/>
                </a:solidFill>
                <a:latin typeface="Calibri"/>
                <a:ea typeface="Calibri"/>
                <a:cs typeface="Calibri"/>
                <a:sym typeface="Calibri"/>
              </a:rPr>
              <a:t>HU4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1097280" y="2639416"/>
            <a:ext cx="1261872" cy="242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Preprocesamiento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2395728" y="2639416"/>
            <a:ext cx="3291840" cy="242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Extraer features: espectrogramas Mel y coeficientes MFCC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5724144" y="2639416"/>
            <a:ext cx="548640" cy="242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6309360" y="2675992"/>
            <a:ext cx="2084832" cy="151333"/>
          </a:xfrm>
          <a:prstGeom prst="rect">
            <a:avLst/>
          </a:prstGeom>
          <a:solidFill>
            <a:srgbClr val="253649"/>
          </a:solidFill>
          <a:ln w="12700" cap="flat" cmpd="sng">
            <a:solidFill>
              <a:srgbClr val="2536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6309360" y="2675992"/>
            <a:ext cx="2084832" cy="151333"/>
          </a:xfrm>
          <a:prstGeom prst="rect">
            <a:avLst/>
          </a:prstGeom>
          <a:solidFill>
            <a:srgbClr val="D4A847"/>
          </a:solidFill>
          <a:ln w="12700" cap="flat" cmpd="sng">
            <a:solidFill>
              <a:srgbClr val="D4A8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347472" y="2927909"/>
            <a:ext cx="8449056" cy="297637"/>
          </a:xfrm>
          <a:prstGeom prst="rect">
            <a:avLst/>
          </a:prstGeom>
          <a:solidFill>
            <a:srgbClr val="2C3E52"/>
          </a:solidFill>
          <a:ln w="12700" cap="flat" cmpd="sng">
            <a:solidFill>
              <a:srgbClr val="2C3E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402336" y="2955341"/>
            <a:ext cx="658368" cy="242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BFA0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3DBFA0"/>
                </a:solidFill>
                <a:latin typeface="Calibri"/>
                <a:ea typeface="Calibri"/>
                <a:cs typeface="Calibri"/>
                <a:sym typeface="Calibri"/>
              </a:rPr>
              <a:t>HU5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1097280" y="2955341"/>
            <a:ext cx="1261872" cy="242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Modelado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2395728" y="2955341"/>
            <a:ext cx="3291840" cy="242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Diseñar y entrenar modelo CNN para clasificación cardiopulmonar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5724144" y="2955341"/>
            <a:ext cx="548640" cy="242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6309360" y="2991917"/>
            <a:ext cx="2084832" cy="151333"/>
          </a:xfrm>
          <a:prstGeom prst="rect">
            <a:avLst/>
          </a:prstGeom>
          <a:solidFill>
            <a:srgbClr val="253649"/>
          </a:solidFill>
          <a:ln w="12700" cap="flat" cmpd="sng">
            <a:solidFill>
              <a:srgbClr val="2536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6309360" y="2991917"/>
            <a:ext cx="2084832" cy="151333"/>
          </a:xfrm>
          <a:prstGeom prst="rect">
            <a:avLst/>
          </a:prstGeom>
          <a:solidFill>
            <a:srgbClr val="3DBFA0"/>
          </a:solidFill>
          <a:ln w="12700" cap="flat" cmpd="sng">
            <a:solidFill>
              <a:srgbClr val="3DB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347472" y="3243834"/>
            <a:ext cx="8449056" cy="297637"/>
          </a:xfrm>
          <a:prstGeom prst="rect">
            <a:avLst/>
          </a:prstGeom>
          <a:solidFill>
            <a:srgbClr val="253649"/>
          </a:solidFill>
          <a:ln w="12700" cap="flat" cmpd="sng">
            <a:solidFill>
              <a:srgbClr val="2536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402336" y="3271266"/>
            <a:ext cx="658368" cy="242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BFA0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3DBFA0"/>
                </a:solidFill>
                <a:latin typeface="Calibri"/>
                <a:ea typeface="Calibri"/>
                <a:cs typeface="Calibri"/>
                <a:sym typeface="Calibri"/>
              </a:rPr>
              <a:t>HU6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1097280" y="3271266"/>
            <a:ext cx="1261872" cy="242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Modelado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2395728" y="3271266"/>
            <a:ext cx="3291840" cy="242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Comparar rendimiento: enfoque integrado vs. modelos separados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5724144" y="3271266"/>
            <a:ext cx="548640" cy="242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6309360" y="3307842"/>
            <a:ext cx="2084832" cy="151333"/>
          </a:xfrm>
          <a:prstGeom prst="rect">
            <a:avLst/>
          </a:prstGeom>
          <a:solidFill>
            <a:srgbClr val="253649"/>
          </a:solidFill>
          <a:ln w="12700" cap="flat" cmpd="sng">
            <a:solidFill>
              <a:srgbClr val="2536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6309360" y="3307842"/>
            <a:ext cx="2084832" cy="151333"/>
          </a:xfrm>
          <a:prstGeom prst="rect">
            <a:avLst/>
          </a:prstGeom>
          <a:solidFill>
            <a:srgbClr val="3DBFA0"/>
          </a:solidFill>
          <a:ln w="12700" cap="flat" cmpd="sng">
            <a:solidFill>
              <a:srgbClr val="3DB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347472" y="3559759"/>
            <a:ext cx="8449056" cy="297637"/>
          </a:xfrm>
          <a:prstGeom prst="rect">
            <a:avLst/>
          </a:prstGeom>
          <a:solidFill>
            <a:srgbClr val="2C3E52"/>
          </a:solidFill>
          <a:ln w="12700" cap="flat" cmpd="sng">
            <a:solidFill>
              <a:srgbClr val="2C3E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402336" y="3587191"/>
            <a:ext cx="658368" cy="242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7070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E07070"/>
                </a:solidFill>
                <a:latin typeface="Calibri"/>
                <a:ea typeface="Calibri"/>
                <a:cs typeface="Calibri"/>
                <a:sym typeface="Calibri"/>
              </a:rPr>
              <a:t>HU7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1097280" y="3587191"/>
            <a:ext cx="1261872" cy="242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Evaluación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2395728" y="3587191"/>
            <a:ext cx="3291840" cy="242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Evaluar modelo con métricas estándar (accuracy, F1, ROC, conf. matrix)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5724144" y="3587191"/>
            <a:ext cx="548640" cy="242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6309360" y="3623767"/>
            <a:ext cx="2084832" cy="151333"/>
          </a:xfrm>
          <a:prstGeom prst="rect">
            <a:avLst/>
          </a:prstGeom>
          <a:solidFill>
            <a:srgbClr val="253649"/>
          </a:solidFill>
          <a:ln w="12700" cap="flat" cmpd="sng">
            <a:solidFill>
              <a:srgbClr val="2536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6309360" y="3623767"/>
            <a:ext cx="794222" cy="151333"/>
          </a:xfrm>
          <a:prstGeom prst="rect">
            <a:avLst/>
          </a:prstGeom>
          <a:solidFill>
            <a:srgbClr val="E07070"/>
          </a:solidFill>
          <a:ln w="12700" cap="flat" cmpd="sng">
            <a:solidFill>
              <a:srgbClr val="E0707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347472" y="3875684"/>
            <a:ext cx="8449056" cy="297637"/>
          </a:xfrm>
          <a:prstGeom prst="rect">
            <a:avLst/>
          </a:prstGeom>
          <a:solidFill>
            <a:srgbClr val="253649"/>
          </a:solidFill>
          <a:ln w="12700" cap="flat" cmpd="sng">
            <a:solidFill>
              <a:srgbClr val="2536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402336" y="3903116"/>
            <a:ext cx="658368" cy="242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7070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E07070"/>
                </a:solidFill>
                <a:latin typeface="Calibri"/>
                <a:ea typeface="Calibri"/>
                <a:cs typeface="Calibri"/>
                <a:sym typeface="Calibri"/>
              </a:rPr>
              <a:t>HU8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1097280" y="3903116"/>
            <a:ext cx="1261872" cy="242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Evaluación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2395728" y="3903116"/>
            <a:ext cx="3291840" cy="242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Revisar resultados del modelo comparados con el estado del arte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5724144" y="3903116"/>
            <a:ext cx="548640" cy="242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6309360" y="3939692"/>
            <a:ext cx="2084832" cy="151333"/>
          </a:xfrm>
          <a:prstGeom prst="rect">
            <a:avLst/>
          </a:prstGeom>
          <a:solidFill>
            <a:srgbClr val="253649"/>
          </a:solidFill>
          <a:ln w="12700" cap="flat" cmpd="sng">
            <a:solidFill>
              <a:srgbClr val="2536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6309360" y="3939692"/>
            <a:ext cx="794222" cy="151333"/>
          </a:xfrm>
          <a:prstGeom prst="rect">
            <a:avLst/>
          </a:prstGeom>
          <a:solidFill>
            <a:srgbClr val="E07070"/>
          </a:solidFill>
          <a:ln w="12700" cap="flat" cmpd="sng">
            <a:solidFill>
              <a:srgbClr val="E0707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347472" y="4191610"/>
            <a:ext cx="8449056" cy="297637"/>
          </a:xfrm>
          <a:prstGeom prst="rect">
            <a:avLst/>
          </a:prstGeom>
          <a:solidFill>
            <a:srgbClr val="2C3E52"/>
          </a:solidFill>
          <a:ln w="12700" cap="flat" cmpd="sng">
            <a:solidFill>
              <a:srgbClr val="2C3E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402336" y="4219042"/>
            <a:ext cx="658368" cy="242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B9EC0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7B9EC0"/>
                </a:solidFill>
                <a:latin typeface="Calibri"/>
                <a:ea typeface="Calibri"/>
                <a:cs typeface="Calibri"/>
                <a:sym typeface="Calibri"/>
              </a:rPr>
              <a:t>HU9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1097280" y="4219042"/>
            <a:ext cx="1261872" cy="242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Documentación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2395728" y="4219042"/>
            <a:ext cx="3291840" cy="242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Documentar proceso y resultados: informe final reproducible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5724144" y="4219042"/>
            <a:ext cx="548640" cy="242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6309360" y="4255618"/>
            <a:ext cx="2084832" cy="151333"/>
          </a:xfrm>
          <a:prstGeom prst="rect">
            <a:avLst/>
          </a:prstGeom>
          <a:solidFill>
            <a:srgbClr val="253649"/>
          </a:solidFill>
          <a:ln w="12700" cap="flat" cmpd="sng">
            <a:solidFill>
              <a:srgbClr val="2536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6309360" y="4255618"/>
            <a:ext cx="794222" cy="151333"/>
          </a:xfrm>
          <a:prstGeom prst="rect">
            <a:avLst/>
          </a:prstGeom>
          <a:solidFill>
            <a:srgbClr val="7B9EC0"/>
          </a:solidFill>
          <a:ln w="12700" cap="flat" cmpd="sng">
            <a:solidFill>
              <a:srgbClr val="7B9E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347472" y="4507535"/>
            <a:ext cx="8449056" cy="297637"/>
          </a:xfrm>
          <a:prstGeom prst="rect">
            <a:avLst/>
          </a:prstGeom>
          <a:solidFill>
            <a:srgbClr val="253649"/>
          </a:solidFill>
          <a:ln w="12700" cap="flat" cmpd="sng">
            <a:solidFill>
              <a:srgbClr val="2536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402336" y="4534967"/>
            <a:ext cx="658368" cy="242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B9EC0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7B9EC0"/>
                </a:solidFill>
                <a:latin typeface="Calibri"/>
                <a:ea typeface="Calibri"/>
                <a:cs typeface="Calibri"/>
                <a:sym typeface="Calibri"/>
              </a:rPr>
              <a:t>HU10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1097280" y="4534967"/>
            <a:ext cx="1261872" cy="242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Documentación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2395728" y="4534967"/>
            <a:ext cx="3291840" cy="242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Redactar informe final formal para evaluación y defensa del TF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5724144" y="4534967"/>
            <a:ext cx="548640" cy="242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6309360" y="4571543"/>
            <a:ext cx="2084832" cy="151333"/>
          </a:xfrm>
          <a:prstGeom prst="rect">
            <a:avLst/>
          </a:prstGeom>
          <a:solidFill>
            <a:srgbClr val="253649"/>
          </a:solidFill>
          <a:ln w="12700" cap="flat" cmpd="sng">
            <a:solidFill>
              <a:srgbClr val="2536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6309360" y="4571543"/>
            <a:ext cx="1290610" cy="151333"/>
          </a:xfrm>
          <a:prstGeom prst="rect">
            <a:avLst/>
          </a:prstGeom>
          <a:solidFill>
            <a:srgbClr val="7B9EC0"/>
          </a:solidFill>
          <a:ln w="12700" cap="flat" cmpd="sng">
            <a:solidFill>
              <a:srgbClr val="7B9E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2E8FA0"/>
                </a:solidFill>
              </a:rPr>
              <a:t>6</a:t>
            </a:fld>
            <a:endParaRPr>
              <a:solidFill>
                <a:srgbClr val="2E8FA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7"/>
          <p:cNvSpPr/>
          <p:nvPr/>
        </p:nvSpPr>
        <p:spPr>
          <a:xfrm>
            <a:off x="347472" y="289992"/>
            <a:ext cx="1417320" cy="237744"/>
          </a:xfrm>
          <a:prstGeom prst="roundRect">
            <a:avLst>
              <a:gd name="adj" fmla="val 15385"/>
            </a:avLst>
          </a:prstGeom>
          <a:solidFill>
            <a:srgbClr val="4ABFCF"/>
          </a:solidFill>
          <a:ln w="12700" cap="flat" cmpd="sng">
            <a:solidFill>
              <a:srgbClr val="4AB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347472" y="289992"/>
            <a:ext cx="14173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E3D"/>
              </a:buClr>
              <a:buSzPts val="850"/>
              <a:buFont typeface="Calibri"/>
              <a:buNone/>
            </a:pPr>
            <a:r>
              <a:rPr lang="en-US" sz="850" b="1">
                <a:solidFill>
                  <a:srgbClr val="1E2E3D"/>
                </a:solidFill>
                <a:latin typeface="Calibri"/>
                <a:ea typeface="Calibri"/>
                <a:cs typeface="Calibri"/>
                <a:sym typeface="Calibri"/>
              </a:rPr>
              <a:t>CRITERIOS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347472" y="721068"/>
            <a:ext cx="8449056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2100"/>
              <a:buFont typeface="Calibri"/>
              <a:buNone/>
            </a:pPr>
            <a:r>
              <a:rPr lang="en-US" sz="2100" b="1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Criterios de aceptación por épica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347472" y="1389888"/>
            <a:ext cx="2724912" cy="1652778"/>
          </a:xfrm>
          <a:prstGeom prst="rect">
            <a:avLst/>
          </a:prstGeom>
          <a:solidFill>
            <a:srgbClr val="2C3E52"/>
          </a:solidFill>
          <a:ln w="9525" cap="flat" cmpd="sng">
            <a:solidFill>
              <a:srgbClr val="4AB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347472" y="1389888"/>
            <a:ext cx="41148" cy="1652778"/>
          </a:xfrm>
          <a:prstGeom prst="rect">
            <a:avLst/>
          </a:prstGeom>
          <a:solidFill>
            <a:srgbClr val="4ABFCF"/>
          </a:solidFill>
          <a:ln w="12700" cap="flat" cmpd="sng">
            <a:solidFill>
              <a:srgbClr val="4AB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438912" y="1472184"/>
            <a:ext cx="256032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BFC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4ABFCF"/>
                </a:solidFill>
                <a:latin typeface="Calibri"/>
                <a:ea typeface="Calibri"/>
                <a:cs typeface="Calibri"/>
                <a:sym typeface="Calibri"/>
              </a:rPr>
              <a:t>Épica 1 – Exploración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438912" y="1746504"/>
            <a:ext cx="2542032" cy="20117"/>
          </a:xfrm>
          <a:prstGeom prst="rect">
            <a:avLst/>
          </a:prstGeom>
          <a:solidFill>
            <a:srgbClr val="172433"/>
          </a:solidFill>
          <a:ln w="12700" cap="flat" cmpd="sng">
            <a:solidFill>
              <a:srgbClr val="1724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438912" y="1810512"/>
            <a:ext cx="2560320" cy="1159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Generar gráficos de distribución de cada clase y documentarlos.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Señales graficadas en dominio temporal y frecuencial por clase.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Estrategia de balanceo propuesta y documentada.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347472" y="3170682"/>
            <a:ext cx="2724912" cy="1652778"/>
          </a:xfrm>
          <a:prstGeom prst="rect">
            <a:avLst/>
          </a:prstGeom>
          <a:solidFill>
            <a:srgbClr val="2C3E52"/>
          </a:solidFill>
          <a:ln w="9525" cap="flat" cmpd="sng">
            <a:solidFill>
              <a:srgbClr val="D4A8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347472" y="3170682"/>
            <a:ext cx="41148" cy="1652778"/>
          </a:xfrm>
          <a:prstGeom prst="rect">
            <a:avLst/>
          </a:prstGeom>
          <a:solidFill>
            <a:srgbClr val="D4A847"/>
          </a:solidFill>
          <a:ln w="12700" cap="flat" cmpd="sng">
            <a:solidFill>
              <a:srgbClr val="D4A8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438912" y="3252978"/>
            <a:ext cx="256032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4A847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D4A847"/>
                </a:solidFill>
                <a:latin typeface="Calibri"/>
                <a:ea typeface="Calibri"/>
                <a:cs typeface="Calibri"/>
                <a:sym typeface="Calibri"/>
              </a:rPr>
              <a:t>Épica 2 – Preprocesamiento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438912" y="3527298"/>
            <a:ext cx="2542032" cy="20117"/>
          </a:xfrm>
          <a:prstGeom prst="rect">
            <a:avLst/>
          </a:prstGeom>
          <a:solidFill>
            <a:srgbClr val="172433"/>
          </a:solidFill>
          <a:ln w="12700" cap="flat" cmpd="sng">
            <a:solidFill>
              <a:srgbClr val="1724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438912" y="3591306"/>
            <a:ext cx="2560320" cy="1159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Grabaciones remuestreadas a frecuencia común.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Espectrogramas Mel y vectores MFCC generados y almacenados.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Parámetros de configuración documentados.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3200400" y="1389888"/>
            <a:ext cx="2724912" cy="1652778"/>
          </a:xfrm>
          <a:prstGeom prst="rect">
            <a:avLst/>
          </a:prstGeom>
          <a:solidFill>
            <a:srgbClr val="2C3E52"/>
          </a:solidFill>
          <a:ln w="9525" cap="flat" cmpd="sng">
            <a:solidFill>
              <a:srgbClr val="3DB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3200400" y="1389888"/>
            <a:ext cx="41148" cy="1652778"/>
          </a:xfrm>
          <a:prstGeom prst="rect">
            <a:avLst/>
          </a:prstGeom>
          <a:solidFill>
            <a:srgbClr val="3DBFA0"/>
          </a:solidFill>
          <a:ln w="12700" cap="flat" cmpd="sng">
            <a:solidFill>
              <a:srgbClr val="3DB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3291840" y="1472184"/>
            <a:ext cx="256032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BFA0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3DBFA0"/>
                </a:solidFill>
                <a:latin typeface="Calibri"/>
                <a:ea typeface="Calibri"/>
                <a:cs typeface="Calibri"/>
                <a:sym typeface="Calibri"/>
              </a:rPr>
              <a:t>Épica 3 – Modelado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3291840" y="1746504"/>
            <a:ext cx="2542032" cy="20117"/>
          </a:xfrm>
          <a:prstGeom prst="rect">
            <a:avLst/>
          </a:prstGeom>
          <a:solidFill>
            <a:srgbClr val="172433"/>
          </a:solidFill>
          <a:ln w="12700" cap="flat" cmpd="sng">
            <a:solidFill>
              <a:srgbClr val="1724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3291840" y="1810512"/>
            <a:ext cx="2560320" cy="1159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Investigación sobre arquitecturas aplicables.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Entrenamiento de modelo  y convergencia de los resultados.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Análisis de resultados y conclusiones del modelado.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3200400" y="3170682"/>
            <a:ext cx="2724912" cy="1652778"/>
          </a:xfrm>
          <a:prstGeom prst="rect">
            <a:avLst/>
          </a:prstGeom>
          <a:solidFill>
            <a:srgbClr val="2C3E52"/>
          </a:solidFill>
          <a:ln w="9525" cap="flat" cmpd="sng">
            <a:solidFill>
              <a:srgbClr val="E0707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3200400" y="3170682"/>
            <a:ext cx="41148" cy="1652778"/>
          </a:xfrm>
          <a:prstGeom prst="rect">
            <a:avLst/>
          </a:prstGeom>
          <a:solidFill>
            <a:srgbClr val="E07070"/>
          </a:solidFill>
          <a:ln w="12700" cap="flat" cmpd="sng">
            <a:solidFill>
              <a:srgbClr val="E0707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3291840" y="3252978"/>
            <a:ext cx="256032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7070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E07070"/>
                </a:solidFill>
                <a:latin typeface="Calibri"/>
                <a:ea typeface="Calibri"/>
                <a:cs typeface="Calibri"/>
                <a:sym typeface="Calibri"/>
              </a:rPr>
              <a:t>Épica 4 – Evaluación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3291840" y="3527298"/>
            <a:ext cx="2542032" cy="20117"/>
          </a:xfrm>
          <a:prstGeom prst="rect">
            <a:avLst/>
          </a:prstGeom>
          <a:solidFill>
            <a:srgbClr val="172433"/>
          </a:solidFill>
          <a:ln w="12700" cap="flat" cmpd="sng">
            <a:solidFill>
              <a:srgbClr val="1724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3291840" y="3591306"/>
            <a:ext cx="2560320" cy="1159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Accuracy, F1-score, matriz de confusión y ROC reportados.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Tabla comparativa con trabajos relevantes de la literature.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Interpretación de resultados en contexto clínico</a:t>
            </a:r>
            <a:r>
              <a:rPr lang="en-US" sz="95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6053328" y="2336944"/>
            <a:ext cx="2651760" cy="1516598"/>
          </a:xfrm>
          <a:prstGeom prst="rect">
            <a:avLst/>
          </a:prstGeom>
          <a:solidFill>
            <a:srgbClr val="2C3E52"/>
          </a:solidFill>
          <a:ln w="9525" cap="flat" cmpd="sng">
            <a:solidFill>
              <a:srgbClr val="7B9E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6053327" y="2336944"/>
            <a:ext cx="45719" cy="1516598"/>
          </a:xfrm>
          <a:prstGeom prst="rect">
            <a:avLst/>
          </a:prstGeom>
          <a:solidFill>
            <a:srgbClr val="7B9EC0"/>
          </a:solidFill>
          <a:ln w="12700" cap="flat" cmpd="sng">
            <a:solidFill>
              <a:srgbClr val="7B9E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6157830" y="2464961"/>
            <a:ext cx="2491587" cy="109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B9EC0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7B9EC0"/>
                </a:solidFill>
                <a:latin typeface="Calibri"/>
                <a:ea typeface="Calibri"/>
                <a:cs typeface="Calibri"/>
                <a:sym typeface="Calibri"/>
              </a:rPr>
              <a:t>Épica 5 – Documentación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6144768" y="2693560"/>
            <a:ext cx="2473790" cy="45719"/>
          </a:xfrm>
          <a:prstGeom prst="rect">
            <a:avLst/>
          </a:prstGeom>
          <a:solidFill>
            <a:srgbClr val="172433"/>
          </a:solidFill>
          <a:ln w="12700" cap="flat" cmpd="sng">
            <a:solidFill>
              <a:srgbClr val="1724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6144768" y="2757569"/>
            <a:ext cx="2491587" cy="1043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Informe final con todas las etapas del pipeline.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Código comentado para desarrollos complementarios.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Director aprueba el informe previo a la defensa del TF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2E8FA0"/>
                </a:solidFill>
              </a:rPr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8"/>
          <p:cNvSpPr/>
          <p:nvPr/>
        </p:nvSpPr>
        <p:spPr>
          <a:xfrm>
            <a:off x="347472" y="289992"/>
            <a:ext cx="1417320" cy="237744"/>
          </a:xfrm>
          <a:prstGeom prst="roundRect">
            <a:avLst>
              <a:gd name="adj" fmla="val 15385"/>
            </a:avLst>
          </a:prstGeom>
          <a:solidFill>
            <a:srgbClr val="4ABFCF"/>
          </a:solidFill>
          <a:ln w="12700" cap="flat" cmpd="sng">
            <a:solidFill>
              <a:srgbClr val="4AB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347472" y="289992"/>
            <a:ext cx="14173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E3D"/>
              </a:buClr>
              <a:buSzPts val="850"/>
              <a:buFont typeface="Calibri"/>
              <a:buNone/>
            </a:pPr>
            <a:r>
              <a:rPr lang="en-US" sz="850" b="1">
                <a:solidFill>
                  <a:srgbClr val="1E2E3D"/>
                </a:solidFill>
                <a:latin typeface="Calibri"/>
                <a:ea typeface="Calibri"/>
                <a:cs typeface="Calibri"/>
                <a:sym typeface="Calibri"/>
              </a:rPr>
              <a:t>CRISP-DM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347472" y="548640"/>
            <a:ext cx="8449056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2100"/>
              <a:buFont typeface="Calibri"/>
              <a:buNone/>
            </a:pPr>
            <a:r>
              <a:rPr lang="en-US" sz="2100" b="1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Metodología CRISP-DM  +  Agile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731520" y="1084223"/>
            <a:ext cx="822960" cy="822960"/>
          </a:xfrm>
          <a:prstGeom prst="ellipse">
            <a:avLst/>
          </a:prstGeom>
          <a:solidFill>
            <a:srgbClr val="4ABFCF"/>
          </a:solidFill>
          <a:ln w="12700" cap="flat" cmpd="sng">
            <a:solidFill>
              <a:srgbClr val="4AB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731520" y="1084223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E3D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rgbClr val="1E2E3D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1901952" y="1486559"/>
            <a:ext cx="219456" cy="18288"/>
          </a:xfrm>
          <a:prstGeom prst="rect">
            <a:avLst/>
          </a:prstGeom>
          <a:solidFill>
            <a:srgbClr val="6E8DA0"/>
          </a:solidFill>
          <a:ln w="12700" cap="flat" cmpd="sng">
            <a:solidFill>
              <a:srgbClr val="6E8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347472" y="2101815"/>
            <a:ext cx="1591056" cy="2372868"/>
          </a:xfrm>
          <a:prstGeom prst="rect">
            <a:avLst/>
          </a:prstGeom>
          <a:solidFill>
            <a:srgbClr val="2C3E52"/>
          </a:solidFill>
          <a:ln w="9525" cap="flat" cmpd="sng">
            <a:solidFill>
              <a:srgbClr val="4AB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347472" y="2092672"/>
            <a:ext cx="1591056" cy="45719"/>
          </a:xfrm>
          <a:prstGeom prst="rect">
            <a:avLst/>
          </a:prstGeom>
          <a:solidFill>
            <a:srgbClr val="4ABFCF"/>
          </a:solidFill>
          <a:ln w="12700" cap="flat" cmpd="sng">
            <a:solidFill>
              <a:srgbClr val="4AB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402336" y="2174967"/>
            <a:ext cx="1481328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BFCF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4ABFCF"/>
                </a:solidFill>
                <a:latin typeface="Calibri"/>
                <a:ea typeface="Calibri"/>
                <a:cs typeface="Calibri"/>
                <a:sym typeface="Calibri"/>
              </a:rPr>
              <a:t>Comprensión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BFCF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4ABFCF"/>
                </a:solidFill>
                <a:latin typeface="Calibri"/>
                <a:ea typeface="Calibri"/>
                <a:cs typeface="Calibri"/>
                <a:sym typeface="Calibri"/>
              </a:rPr>
              <a:t>del negocio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420624" y="2760183"/>
            <a:ext cx="1444752" cy="1641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03200" marR="0" lvl="0" indent="-1524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Entender problema y definir objetivo.</a:t>
            </a:r>
            <a:endParaRPr/>
          </a:p>
          <a:p>
            <a:pPr marL="203200" marR="0" lvl="0" indent="-1524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Revisar literatura: auscultación + IA.</a:t>
            </a:r>
            <a:endParaRPr/>
          </a:p>
          <a:p>
            <a:pPr marL="203200" marR="0" lvl="0" indent="-1524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Establecer métricas de evaluación.</a:t>
            </a:r>
            <a:endParaRPr/>
          </a:p>
          <a:p>
            <a:pPr marL="203200" marR="0" lvl="0" indent="-1524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Delimitar alcance y supuestos.</a:t>
            </a:r>
            <a:endParaRPr/>
          </a:p>
        </p:txBody>
      </p:sp>
      <p:sp>
        <p:nvSpPr>
          <p:cNvPr id="279" name="Google Shape;279;p8"/>
          <p:cNvSpPr/>
          <p:nvPr/>
        </p:nvSpPr>
        <p:spPr>
          <a:xfrm>
            <a:off x="2468880" y="1084223"/>
            <a:ext cx="822960" cy="822960"/>
          </a:xfrm>
          <a:prstGeom prst="ellipse">
            <a:avLst/>
          </a:prstGeom>
          <a:solidFill>
            <a:srgbClr val="7B9EC0"/>
          </a:solidFill>
          <a:ln w="12700" cap="flat" cmpd="sng">
            <a:solidFill>
              <a:srgbClr val="7B9E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2468880" y="1084223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E3D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rgbClr val="1E2E3D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3639312" y="1486559"/>
            <a:ext cx="219456" cy="18288"/>
          </a:xfrm>
          <a:prstGeom prst="rect">
            <a:avLst/>
          </a:prstGeom>
          <a:solidFill>
            <a:srgbClr val="6E8DA0"/>
          </a:solidFill>
          <a:ln w="12700" cap="flat" cmpd="sng">
            <a:solidFill>
              <a:srgbClr val="6E8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2084832" y="2101815"/>
            <a:ext cx="1591056" cy="2372868"/>
          </a:xfrm>
          <a:prstGeom prst="rect">
            <a:avLst/>
          </a:prstGeom>
          <a:solidFill>
            <a:srgbClr val="2C3E52"/>
          </a:solidFill>
          <a:ln w="9525" cap="flat" cmpd="sng">
            <a:solidFill>
              <a:srgbClr val="7B9E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2084832" y="2092672"/>
            <a:ext cx="1591056" cy="45719"/>
          </a:xfrm>
          <a:prstGeom prst="rect">
            <a:avLst/>
          </a:prstGeom>
          <a:solidFill>
            <a:srgbClr val="7B9EC0"/>
          </a:solidFill>
          <a:ln w="12700" cap="flat" cmpd="sng">
            <a:solidFill>
              <a:srgbClr val="7B9E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2139696" y="2174967"/>
            <a:ext cx="1481328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B9EC0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7B9EC0"/>
                </a:solidFill>
                <a:latin typeface="Calibri"/>
                <a:ea typeface="Calibri"/>
                <a:cs typeface="Calibri"/>
                <a:sym typeface="Calibri"/>
              </a:rPr>
              <a:t>Comprensión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B9EC0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7B9EC0"/>
                </a:solidFill>
                <a:latin typeface="Calibri"/>
                <a:ea typeface="Calibri"/>
                <a:cs typeface="Calibri"/>
                <a:sym typeface="Calibri"/>
              </a:rPr>
              <a:t>de los datos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2157984" y="2760183"/>
            <a:ext cx="1444752" cy="1641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03200" marR="0" lvl="0" indent="-1524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EDA: distribución de clases y desbalances.</a:t>
            </a:r>
            <a:endParaRPr/>
          </a:p>
          <a:p>
            <a:pPr marL="203200" marR="0" lvl="0" indent="-1524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Detectar problemas de calidad de audio.</a:t>
            </a:r>
            <a:endParaRPr/>
          </a:p>
          <a:p>
            <a:pPr marL="203200" marR="0" lvl="0" indent="-1524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Visualizar señales en tiempo y frecuencia.</a:t>
            </a:r>
            <a:endParaRPr/>
          </a:p>
        </p:txBody>
      </p:sp>
      <p:sp>
        <p:nvSpPr>
          <p:cNvPr id="286" name="Google Shape;286;p8"/>
          <p:cNvSpPr/>
          <p:nvPr/>
        </p:nvSpPr>
        <p:spPr>
          <a:xfrm>
            <a:off x="4206240" y="1084223"/>
            <a:ext cx="822960" cy="822960"/>
          </a:xfrm>
          <a:prstGeom prst="ellipse">
            <a:avLst/>
          </a:prstGeom>
          <a:solidFill>
            <a:srgbClr val="D4A847"/>
          </a:solidFill>
          <a:ln w="12700" cap="flat" cmpd="sng">
            <a:solidFill>
              <a:srgbClr val="D4A8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4206240" y="1084223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E3D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rgbClr val="1E2E3D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5376672" y="1486559"/>
            <a:ext cx="219456" cy="18288"/>
          </a:xfrm>
          <a:prstGeom prst="rect">
            <a:avLst/>
          </a:prstGeom>
          <a:solidFill>
            <a:srgbClr val="6E8DA0"/>
          </a:solidFill>
          <a:ln w="12700" cap="flat" cmpd="sng">
            <a:solidFill>
              <a:srgbClr val="6E8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3822192" y="2101815"/>
            <a:ext cx="1591056" cy="2372868"/>
          </a:xfrm>
          <a:prstGeom prst="rect">
            <a:avLst/>
          </a:prstGeom>
          <a:solidFill>
            <a:srgbClr val="2C3E52"/>
          </a:solidFill>
          <a:ln w="9525" cap="flat" cmpd="sng">
            <a:solidFill>
              <a:srgbClr val="D4A8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3822192" y="2092672"/>
            <a:ext cx="1591056" cy="45719"/>
          </a:xfrm>
          <a:prstGeom prst="rect">
            <a:avLst/>
          </a:prstGeom>
          <a:solidFill>
            <a:srgbClr val="D4A847"/>
          </a:solidFill>
          <a:ln w="12700" cap="flat" cmpd="sng">
            <a:solidFill>
              <a:srgbClr val="D4A8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3877056" y="2174967"/>
            <a:ext cx="1481328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4A847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D4A847"/>
                </a:solidFill>
                <a:latin typeface="Calibri"/>
                <a:ea typeface="Calibri"/>
                <a:cs typeface="Calibri"/>
                <a:sym typeface="Calibri"/>
              </a:rPr>
              <a:t>Preparación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4A847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D4A847"/>
                </a:solidFill>
                <a:latin typeface="Calibri"/>
                <a:ea typeface="Calibri"/>
                <a:cs typeface="Calibri"/>
                <a:sym typeface="Calibri"/>
              </a:rPr>
              <a:t>de datos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3895344" y="2760183"/>
            <a:ext cx="1444752" cy="1641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03200" marR="0" lvl="0" indent="-1524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Normalizar y limpiar señales de audio.</a:t>
            </a:r>
            <a:endParaRPr/>
          </a:p>
          <a:p>
            <a:pPr marL="203200" marR="0" lvl="0" indent="-1524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Extraer features</a:t>
            </a:r>
            <a:endParaRPr sz="10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1524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Dividir en train / val / test.</a:t>
            </a:r>
            <a:endParaRPr/>
          </a:p>
          <a:p>
            <a:pPr marL="203200" marR="0" lvl="0" indent="-1524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augmentation si es necesario.</a:t>
            </a:r>
            <a:endParaRPr/>
          </a:p>
        </p:txBody>
      </p:sp>
      <p:sp>
        <p:nvSpPr>
          <p:cNvPr id="293" name="Google Shape;293;p8"/>
          <p:cNvSpPr/>
          <p:nvPr/>
        </p:nvSpPr>
        <p:spPr>
          <a:xfrm>
            <a:off x="5943600" y="1084223"/>
            <a:ext cx="822960" cy="822960"/>
          </a:xfrm>
          <a:prstGeom prst="ellipse">
            <a:avLst/>
          </a:prstGeom>
          <a:solidFill>
            <a:srgbClr val="3DBFA0"/>
          </a:solidFill>
          <a:ln w="12700" cap="flat" cmpd="sng">
            <a:solidFill>
              <a:srgbClr val="3DB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5943600" y="1084223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E3D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rgbClr val="1E2E3D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7114032" y="1486559"/>
            <a:ext cx="219456" cy="18288"/>
          </a:xfrm>
          <a:prstGeom prst="rect">
            <a:avLst/>
          </a:prstGeom>
          <a:solidFill>
            <a:srgbClr val="6E8DA0"/>
          </a:solidFill>
          <a:ln w="12700" cap="flat" cmpd="sng">
            <a:solidFill>
              <a:srgbClr val="6E8D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5559552" y="2101815"/>
            <a:ext cx="1591056" cy="2372868"/>
          </a:xfrm>
          <a:prstGeom prst="rect">
            <a:avLst/>
          </a:prstGeom>
          <a:solidFill>
            <a:srgbClr val="2C3E52"/>
          </a:solidFill>
          <a:ln w="9525" cap="flat" cmpd="sng">
            <a:solidFill>
              <a:srgbClr val="3DB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5559552" y="2092672"/>
            <a:ext cx="1591056" cy="45719"/>
          </a:xfrm>
          <a:prstGeom prst="rect">
            <a:avLst/>
          </a:prstGeom>
          <a:solidFill>
            <a:srgbClr val="3DBFA0"/>
          </a:solidFill>
          <a:ln w="12700" cap="flat" cmpd="sng">
            <a:solidFill>
              <a:srgbClr val="3DB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5614416" y="2174967"/>
            <a:ext cx="1481328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DBFA0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3DBFA0"/>
                </a:solidFill>
                <a:latin typeface="Calibri"/>
                <a:ea typeface="Calibri"/>
                <a:cs typeface="Calibri"/>
                <a:sym typeface="Calibri"/>
              </a:rPr>
              <a:t>Modelado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5632704" y="2571750"/>
            <a:ext cx="1444752" cy="1829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03200" marR="0" lvl="0" indent="-1524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Investigar arquitecturas para audio médico.</a:t>
            </a:r>
            <a:endParaRPr/>
          </a:p>
          <a:p>
            <a:pPr marL="203200" marR="0" lvl="0" indent="-1524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Implementar y comparar arquitecturas.</a:t>
            </a:r>
            <a:endParaRPr/>
          </a:p>
          <a:p>
            <a:pPr marL="203200" marR="0" lvl="0" indent="-1524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Entrenar y ajustar hiperparámetros.</a:t>
            </a:r>
            <a:endParaRPr/>
          </a:p>
          <a:p>
            <a:pPr marL="203200" marR="0" lvl="0" indent="-1524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Comparar enfoque integrado vs. separado.</a:t>
            </a:r>
            <a:endParaRPr/>
          </a:p>
        </p:txBody>
      </p:sp>
      <p:sp>
        <p:nvSpPr>
          <p:cNvPr id="300" name="Google Shape;300;p8"/>
          <p:cNvSpPr/>
          <p:nvPr/>
        </p:nvSpPr>
        <p:spPr>
          <a:xfrm>
            <a:off x="7680960" y="1084223"/>
            <a:ext cx="822960" cy="822960"/>
          </a:xfrm>
          <a:prstGeom prst="ellipse">
            <a:avLst/>
          </a:prstGeom>
          <a:solidFill>
            <a:srgbClr val="E07070"/>
          </a:solidFill>
          <a:ln w="12700" cap="flat" cmpd="sng">
            <a:solidFill>
              <a:srgbClr val="E0707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7680960" y="1084223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E3D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rgbClr val="1E2E3D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7296912" y="2101815"/>
            <a:ext cx="1591056" cy="2372868"/>
          </a:xfrm>
          <a:prstGeom prst="rect">
            <a:avLst/>
          </a:prstGeom>
          <a:solidFill>
            <a:srgbClr val="2C3E52"/>
          </a:solidFill>
          <a:ln w="9525" cap="flat" cmpd="sng">
            <a:solidFill>
              <a:srgbClr val="E0707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7296912" y="2092672"/>
            <a:ext cx="1591056" cy="45719"/>
          </a:xfrm>
          <a:prstGeom prst="rect">
            <a:avLst/>
          </a:prstGeom>
          <a:solidFill>
            <a:srgbClr val="E07070"/>
          </a:solidFill>
          <a:ln w="12700" cap="flat" cmpd="sng">
            <a:solidFill>
              <a:srgbClr val="E0707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7351776" y="2174967"/>
            <a:ext cx="1481328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07070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E07070"/>
                </a:solidFill>
                <a:latin typeface="Calibri"/>
                <a:ea typeface="Calibri"/>
                <a:cs typeface="Calibri"/>
                <a:sym typeface="Calibri"/>
              </a:rPr>
              <a:t>Evaluación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07070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E07070"/>
                </a:solidFill>
                <a:latin typeface="Calibri"/>
                <a:ea typeface="Calibri"/>
                <a:cs typeface="Calibri"/>
                <a:sym typeface="Calibri"/>
              </a:rPr>
              <a:t>del modelo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7370064" y="2760183"/>
            <a:ext cx="1444752" cy="1641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03200" marR="0" lvl="0" indent="-1524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Calcular accuracy, F1-score, ROC y conf. Matrix.</a:t>
            </a:r>
            <a:endParaRPr/>
          </a:p>
          <a:p>
            <a:pPr marL="203200" marR="0" lvl="0" indent="-1524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Analizar errores por tipo de patología.</a:t>
            </a:r>
            <a:endParaRPr/>
          </a:p>
          <a:p>
            <a:pPr marL="203200" marR="0" lvl="0" indent="-1524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Validar resultados con el CIBIO.</a:t>
            </a:r>
            <a:endParaRPr/>
          </a:p>
          <a:p>
            <a:pPr marL="203200" marR="0" lvl="0" indent="-1524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Optimizar modelo con resultados preliminares.</a:t>
            </a:r>
            <a:endParaRPr/>
          </a:p>
        </p:txBody>
      </p:sp>
      <p:sp>
        <p:nvSpPr>
          <p:cNvPr id="306" name="Google Shape;306;p8"/>
          <p:cNvSpPr/>
          <p:nvPr/>
        </p:nvSpPr>
        <p:spPr>
          <a:xfrm>
            <a:off x="347472" y="4604004"/>
            <a:ext cx="8449056" cy="219456"/>
          </a:xfrm>
          <a:prstGeom prst="rect">
            <a:avLst/>
          </a:prstGeom>
          <a:solidFill>
            <a:srgbClr val="253649"/>
          </a:solidFill>
          <a:ln w="9525" cap="flat" cmpd="sng">
            <a:solidFill>
              <a:srgbClr val="1724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438912" y="4631436"/>
            <a:ext cx="8266176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E8DA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E8DA0"/>
                </a:solidFill>
                <a:latin typeface="Calibri"/>
                <a:ea typeface="Calibri"/>
                <a:cs typeface="Calibri"/>
                <a:sym typeface="Calibri"/>
              </a:rPr>
              <a:t>Metodología Agile  |  16 sprints de 2 semanas  |  10 hs/semana  |  Sprint 0 – Sprint 15  |  Abril – Diciembre 2026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2E8FA0"/>
                </a:solidFill>
              </a:rPr>
              <a:t>8</a:t>
            </a:fld>
            <a:endParaRPr>
              <a:solidFill>
                <a:srgbClr val="2E8FA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9"/>
          <p:cNvSpPr/>
          <p:nvPr/>
        </p:nvSpPr>
        <p:spPr>
          <a:xfrm>
            <a:off x="347472" y="289992"/>
            <a:ext cx="1417320" cy="237744"/>
          </a:xfrm>
          <a:prstGeom prst="roundRect">
            <a:avLst>
              <a:gd name="adj" fmla="val 15385"/>
            </a:avLst>
          </a:prstGeom>
          <a:solidFill>
            <a:srgbClr val="4ABFCF"/>
          </a:solidFill>
          <a:ln w="12700" cap="flat" cmpd="sng">
            <a:solidFill>
              <a:srgbClr val="4AB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/>
          <p:nvPr/>
        </p:nvSpPr>
        <p:spPr>
          <a:xfrm>
            <a:off x="347472" y="289992"/>
            <a:ext cx="14173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E3D"/>
              </a:buClr>
              <a:buSzPts val="850"/>
              <a:buFont typeface="Calibri"/>
              <a:buNone/>
            </a:pPr>
            <a:r>
              <a:rPr lang="en-US" sz="850" b="1">
                <a:solidFill>
                  <a:srgbClr val="1E2E3D"/>
                </a:solidFill>
                <a:latin typeface="Calibri"/>
                <a:ea typeface="Calibri"/>
                <a:cs typeface="Calibri"/>
                <a:sym typeface="Calibri"/>
              </a:rPr>
              <a:t>SPRINTS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347472" y="548640"/>
            <a:ext cx="8449056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2100"/>
              <a:buFont typeface="Calibri"/>
              <a:buNone/>
            </a:pPr>
            <a:r>
              <a:rPr lang="en-US" sz="2100" b="1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Planificación de Sprints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347472" y="1389888"/>
            <a:ext cx="8449056" cy="274320"/>
          </a:xfrm>
          <a:prstGeom prst="rect">
            <a:avLst/>
          </a:prstGeom>
          <a:solidFill>
            <a:srgbClr val="2E8FA0"/>
          </a:solidFill>
          <a:ln w="12700" cap="flat" cmpd="sng">
            <a:solidFill>
              <a:srgbClr val="2E8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402336" y="1426464"/>
            <a:ext cx="117043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Sprint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1609344" y="1426464"/>
            <a:ext cx="190195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Fase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3547872" y="14264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HU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4407408" y="1426464"/>
            <a:ext cx="44805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Descripción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402336" y="1664208"/>
            <a:ext cx="8394192" cy="433034"/>
          </a:xfrm>
          <a:prstGeom prst="rect">
            <a:avLst/>
          </a:prstGeom>
          <a:solidFill>
            <a:srgbClr val="2C3E52"/>
          </a:solidFill>
          <a:ln w="12700" cap="flat" cmpd="sng">
            <a:solidFill>
              <a:srgbClr val="2C3E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347472" y="1664208"/>
            <a:ext cx="41148" cy="433034"/>
          </a:xfrm>
          <a:prstGeom prst="rect">
            <a:avLst/>
          </a:prstGeom>
          <a:solidFill>
            <a:srgbClr val="4ABFCF"/>
          </a:solidFill>
          <a:ln w="12700" cap="flat" cmpd="sng">
            <a:solidFill>
              <a:srgbClr val="4AB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470916" y="1685109"/>
            <a:ext cx="1170432" cy="378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BFCF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4ABFCF"/>
                </a:solidFill>
                <a:latin typeface="Calibri"/>
                <a:ea typeface="Calibri"/>
                <a:cs typeface="Calibri"/>
                <a:sym typeface="Calibri"/>
              </a:rPr>
              <a:t>Sprint 0–2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1609344" y="1691640"/>
            <a:ext cx="1901952" cy="378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Planificación + EDA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9"/>
          <p:cNvSpPr/>
          <p:nvPr/>
        </p:nvSpPr>
        <p:spPr>
          <a:xfrm>
            <a:off x="3547872" y="1691640"/>
            <a:ext cx="822960" cy="378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HU1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4407400" y="1691801"/>
            <a:ext cx="4389000" cy="3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Redacción del plan de proyecto - Investigación del estado del arte - Carga de datasets y análisis de calidad de grabaciones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347472" y="2115530"/>
            <a:ext cx="8449056" cy="433034"/>
          </a:xfrm>
          <a:prstGeom prst="rect">
            <a:avLst/>
          </a:prstGeom>
          <a:solidFill>
            <a:srgbClr val="253649"/>
          </a:solidFill>
          <a:ln w="12700" cap="flat" cmpd="sng">
            <a:solidFill>
              <a:srgbClr val="2536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347472" y="2115530"/>
            <a:ext cx="41148" cy="433034"/>
          </a:xfrm>
          <a:prstGeom prst="rect">
            <a:avLst/>
          </a:prstGeom>
          <a:solidFill>
            <a:srgbClr val="4ABFCF"/>
          </a:solidFill>
          <a:ln w="12700" cap="flat" cmpd="sng">
            <a:solidFill>
              <a:srgbClr val="4AB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474180" y="2142962"/>
            <a:ext cx="1170432" cy="378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BFCF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4ABFCF"/>
                </a:solidFill>
                <a:latin typeface="Calibri"/>
                <a:ea typeface="Calibri"/>
                <a:cs typeface="Calibri"/>
                <a:sym typeface="Calibri"/>
              </a:rPr>
              <a:t>Sprint 3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1609344" y="2142962"/>
            <a:ext cx="1901952" cy="378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Visualización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3547872" y="2142962"/>
            <a:ext cx="822960" cy="378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HU2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4407400" y="2142825"/>
            <a:ext cx="4389000" cy="3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Formas de onda temporales y representaciones frecuenciales por clase para orientar el preprocesamiento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347472" y="2566851"/>
            <a:ext cx="8449056" cy="433034"/>
          </a:xfrm>
          <a:prstGeom prst="rect">
            <a:avLst/>
          </a:prstGeom>
          <a:solidFill>
            <a:srgbClr val="2C3E52"/>
          </a:solidFill>
          <a:ln w="12700" cap="flat" cmpd="sng">
            <a:solidFill>
              <a:srgbClr val="2C3E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347472" y="2566851"/>
            <a:ext cx="41148" cy="433034"/>
          </a:xfrm>
          <a:prstGeom prst="rect">
            <a:avLst/>
          </a:prstGeom>
          <a:solidFill>
            <a:srgbClr val="D4A847"/>
          </a:solidFill>
          <a:ln w="12700" cap="flat" cmpd="sng">
            <a:solidFill>
              <a:srgbClr val="D4A8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474180" y="2594283"/>
            <a:ext cx="1170432" cy="378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4A847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D4A847"/>
                </a:solidFill>
                <a:latin typeface="Calibri"/>
                <a:ea typeface="Calibri"/>
                <a:cs typeface="Calibri"/>
                <a:sym typeface="Calibri"/>
              </a:rPr>
              <a:t>Sprint 4–5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1609344" y="2594283"/>
            <a:ext cx="1901952" cy="378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Preprocesamiento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3547872" y="2594283"/>
            <a:ext cx="822960" cy="378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HU3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9"/>
          <p:cNvSpPr/>
          <p:nvPr/>
        </p:nvSpPr>
        <p:spPr>
          <a:xfrm>
            <a:off x="4407400" y="2594450"/>
            <a:ext cx="4389000" cy="3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Eliminación de ruido - Remuestreo a frecuencia común - Normalización de amplitud - Validación visual pre/post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9"/>
          <p:cNvSpPr/>
          <p:nvPr/>
        </p:nvSpPr>
        <p:spPr>
          <a:xfrm>
            <a:off x="347472" y="3018173"/>
            <a:ext cx="8449056" cy="433034"/>
          </a:xfrm>
          <a:prstGeom prst="rect">
            <a:avLst/>
          </a:prstGeom>
          <a:solidFill>
            <a:srgbClr val="253649"/>
          </a:solidFill>
          <a:ln w="12700" cap="flat" cmpd="sng">
            <a:solidFill>
              <a:srgbClr val="2536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9"/>
          <p:cNvSpPr/>
          <p:nvPr/>
        </p:nvSpPr>
        <p:spPr>
          <a:xfrm>
            <a:off x="347472" y="3018173"/>
            <a:ext cx="41148" cy="433034"/>
          </a:xfrm>
          <a:prstGeom prst="rect">
            <a:avLst/>
          </a:prstGeom>
          <a:solidFill>
            <a:srgbClr val="D4A847"/>
          </a:solidFill>
          <a:ln w="12700" cap="flat" cmpd="sng">
            <a:solidFill>
              <a:srgbClr val="D4A8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9"/>
          <p:cNvSpPr/>
          <p:nvPr/>
        </p:nvSpPr>
        <p:spPr>
          <a:xfrm>
            <a:off x="474180" y="3045605"/>
            <a:ext cx="1170432" cy="378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4A847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D4A847"/>
                </a:solidFill>
                <a:latin typeface="Calibri"/>
                <a:ea typeface="Calibri"/>
                <a:cs typeface="Calibri"/>
                <a:sym typeface="Calibri"/>
              </a:rPr>
              <a:t>Sprint 6–7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9"/>
          <p:cNvSpPr/>
          <p:nvPr/>
        </p:nvSpPr>
        <p:spPr>
          <a:xfrm>
            <a:off x="1609344" y="3045605"/>
            <a:ext cx="1901952" cy="378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Extracción de features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9"/>
          <p:cNvSpPr/>
          <p:nvPr/>
        </p:nvSpPr>
        <p:spPr>
          <a:xfrm>
            <a:off x="3547872" y="3045605"/>
            <a:ext cx="822960" cy="378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HU4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9"/>
          <p:cNvSpPr/>
          <p:nvPr/>
        </p:nvSpPr>
        <p:spPr>
          <a:xfrm>
            <a:off x="4407400" y="3045475"/>
            <a:ext cx="4389000" cy="3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Pipeline Mel + MFCC - Experimentación de parámetros (ventana, coeficientes) -  Almacenamiento y documentación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9"/>
          <p:cNvSpPr/>
          <p:nvPr/>
        </p:nvSpPr>
        <p:spPr>
          <a:xfrm>
            <a:off x="347472" y="3469495"/>
            <a:ext cx="8449056" cy="433034"/>
          </a:xfrm>
          <a:prstGeom prst="rect">
            <a:avLst/>
          </a:prstGeom>
          <a:solidFill>
            <a:srgbClr val="2C3E52"/>
          </a:solidFill>
          <a:ln w="12700" cap="flat" cmpd="sng">
            <a:solidFill>
              <a:srgbClr val="2C3E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9"/>
          <p:cNvSpPr/>
          <p:nvPr/>
        </p:nvSpPr>
        <p:spPr>
          <a:xfrm>
            <a:off x="347472" y="3469495"/>
            <a:ext cx="41148" cy="433034"/>
          </a:xfrm>
          <a:prstGeom prst="rect">
            <a:avLst/>
          </a:prstGeom>
          <a:solidFill>
            <a:srgbClr val="3DBFA0"/>
          </a:solidFill>
          <a:ln w="12700" cap="flat" cmpd="sng">
            <a:solidFill>
              <a:srgbClr val="3DB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9"/>
          <p:cNvSpPr/>
          <p:nvPr/>
        </p:nvSpPr>
        <p:spPr>
          <a:xfrm>
            <a:off x="474180" y="3496927"/>
            <a:ext cx="1170432" cy="378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BFA0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3DBFA0"/>
                </a:solidFill>
                <a:latin typeface="Calibri"/>
                <a:ea typeface="Calibri"/>
                <a:cs typeface="Calibri"/>
                <a:sym typeface="Calibri"/>
              </a:rPr>
              <a:t>Sprint 8–9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9"/>
          <p:cNvSpPr/>
          <p:nvPr/>
        </p:nvSpPr>
        <p:spPr>
          <a:xfrm>
            <a:off x="1609344" y="3496927"/>
            <a:ext cx="1901952" cy="378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Modelado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9"/>
          <p:cNvSpPr/>
          <p:nvPr/>
        </p:nvSpPr>
        <p:spPr>
          <a:xfrm>
            <a:off x="3547872" y="3496927"/>
            <a:ext cx="822960" cy="378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HU5 - HU6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9"/>
          <p:cNvSpPr/>
          <p:nvPr/>
        </p:nvSpPr>
        <p:spPr>
          <a:xfrm>
            <a:off x="4407400" y="3496925"/>
            <a:ext cx="4389000" cy="3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Investigación y selección de arquitecturas- Entrenamiento - Comparación enfoque integrado vs. separado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9"/>
          <p:cNvSpPr/>
          <p:nvPr/>
        </p:nvSpPr>
        <p:spPr>
          <a:xfrm>
            <a:off x="347472" y="3920817"/>
            <a:ext cx="8449056" cy="433034"/>
          </a:xfrm>
          <a:prstGeom prst="rect">
            <a:avLst/>
          </a:prstGeom>
          <a:solidFill>
            <a:srgbClr val="253649"/>
          </a:solidFill>
          <a:ln w="12700" cap="flat" cmpd="sng">
            <a:solidFill>
              <a:srgbClr val="2536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9"/>
          <p:cNvSpPr/>
          <p:nvPr/>
        </p:nvSpPr>
        <p:spPr>
          <a:xfrm>
            <a:off x="347472" y="3920817"/>
            <a:ext cx="41148" cy="433034"/>
          </a:xfrm>
          <a:prstGeom prst="rect">
            <a:avLst/>
          </a:prstGeom>
          <a:solidFill>
            <a:srgbClr val="E07070"/>
          </a:solidFill>
          <a:ln w="12700" cap="flat" cmpd="sng">
            <a:solidFill>
              <a:srgbClr val="E0707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9"/>
          <p:cNvSpPr/>
          <p:nvPr/>
        </p:nvSpPr>
        <p:spPr>
          <a:xfrm>
            <a:off x="474180" y="3948249"/>
            <a:ext cx="1170432" cy="378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7070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E07070"/>
                </a:solidFill>
                <a:latin typeface="Calibri"/>
                <a:ea typeface="Calibri"/>
                <a:cs typeface="Calibri"/>
                <a:sym typeface="Calibri"/>
              </a:rPr>
              <a:t>Sprint 10–11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9"/>
          <p:cNvSpPr/>
          <p:nvPr/>
        </p:nvSpPr>
        <p:spPr>
          <a:xfrm>
            <a:off x="1609344" y="3948249"/>
            <a:ext cx="1901952" cy="378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Evaluación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9"/>
          <p:cNvSpPr/>
          <p:nvPr/>
        </p:nvSpPr>
        <p:spPr>
          <a:xfrm>
            <a:off x="3547872" y="3948249"/>
            <a:ext cx="822960" cy="378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HU6 - HU8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9"/>
          <p:cNvSpPr/>
          <p:nvPr/>
        </p:nvSpPr>
        <p:spPr>
          <a:xfrm>
            <a:off x="4407400" y="3948274"/>
            <a:ext cx="4389000" cy="3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Análisis de errores por patología - Métricas finales - Optimización del modelo - Comparativa con estado del arte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9"/>
          <p:cNvSpPr/>
          <p:nvPr/>
        </p:nvSpPr>
        <p:spPr>
          <a:xfrm>
            <a:off x="347472" y="4372138"/>
            <a:ext cx="8449056" cy="433034"/>
          </a:xfrm>
          <a:prstGeom prst="rect">
            <a:avLst/>
          </a:prstGeom>
          <a:solidFill>
            <a:srgbClr val="2C3E52"/>
          </a:solidFill>
          <a:ln w="12700" cap="flat" cmpd="sng">
            <a:solidFill>
              <a:srgbClr val="2C3E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9"/>
          <p:cNvSpPr/>
          <p:nvPr/>
        </p:nvSpPr>
        <p:spPr>
          <a:xfrm>
            <a:off x="347472" y="4372138"/>
            <a:ext cx="41148" cy="433034"/>
          </a:xfrm>
          <a:prstGeom prst="rect">
            <a:avLst/>
          </a:prstGeom>
          <a:solidFill>
            <a:srgbClr val="7B9EC0"/>
          </a:solidFill>
          <a:ln w="12700" cap="flat" cmpd="sng">
            <a:solidFill>
              <a:srgbClr val="7B9E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9"/>
          <p:cNvSpPr/>
          <p:nvPr/>
        </p:nvSpPr>
        <p:spPr>
          <a:xfrm>
            <a:off x="474180" y="4399570"/>
            <a:ext cx="1170432" cy="378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B9EC0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7B9EC0"/>
                </a:solidFill>
                <a:latin typeface="Calibri"/>
                <a:ea typeface="Calibri"/>
                <a:cs typeface="Calibri"/>
                <a:sym typeface="Calibri"/>
              </a:rPr>
              <a:t>Sprint 12–15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9"/>
          <p:cNvSpPr/>
          <p:nvPr/>
        </p:nvSpPr>
        <p:spPr>
          <a:xfrm>
            <a:off x="1609344" y="4399570"/>
            <a:ext cx="1901952" cy="378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Memoria técnica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9"/>
          <p:cNvSpPr/>
          <p:nvPr/>
        </p:nvSpPr>
        <p:spPr>
          <a:xfrm>
            <a:off x="3547872" y="4399570"/>
            <a:ext cx="822960" cy="378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HU9 - HU10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9"/>
          <p:cNvSpPr/>
          <p:nvPr/>
        </p:nvSpPr>
        <p:spPr>
          <a:xfrm>
            <a:off x="4407400" y="4399600"/>
            <a:ext cx="4389000" cy="3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Redacción de la memoria de trabajo - Revisión y correcciones con el director - Preparación de la defensa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2E8FA0"/>
                </a:solidFill>
              </a:rPr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0"/>
          <p:cNvSpPr/>
          <p:nvPr/>
        </p:nvSpPr>
        <p:spPr>
          <a:xfrm>
            <a:off x="347472" y="289992"/>
            <a:ext cx="1417320" cy="237744"/>
          </a:xfrm>
          <a:prstGeom prst="roundRect">
            <a:avLst>
              <a:gd name="adj" fmla="val 15385"/>
            </a:avLst>
          </a:prstGeom>
          <a:solidFill>
            <a:srgbClr val="4ABFCF"/>
          </a:solidFill>
          <a:ln w="12700" cap="flat" cmpd="sng">
            <a:solidFill>
              <a:srgbClr val="4AB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0"/>
          <p:cNvSpPr/>
          <p:nvPr/>
        </p:nvSpPr>
        <p:spPr>
          <a:xfrm>
            <a:off x="347472" y="289992"/>
            <a:ext cx="14173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E3D"/>
              </a:buClr>
              <a:buSzPts val="850"/>
              <a:buFont typeface="Calibri"/>
              <a:buNone/>
            </a:pPr>
            <a:r>
              <a:rPr lang="en-US" sz="850" b="1">
                <a:solidFill>
                  <a:srgbClr val="1E2E3D"/>
                </a:solidFill>
                <a:latin typeface="Calibri"/>
                <a:ea typeface="Calibri"/>
                <a:cs typeface="Calibri"/>
                <a:sym typeface="Calibri"/>
              </a:rPr>
              <a:t>GANTT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0"/>
          <p:cNvSpPr/>
          <p:nvPr/>
        </p:nvSpPr>
        <p:spPr>
          <a:xfrm>
            <a:off x="347472" y="666202"/>
            <a:ext cx="8449056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2100"/>
              <a:buFont typeface="Calibri"/>
              <a:buNone/>
            </a:pPr>
            <a:r>
              <a:rPr lang="en-US" sz="2100" b="1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Diagrama de Gantt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2331720" y="1389888"/>
            <a:ext cx="6464808" cy="256032"/>
          </a:xfrm>
          <a:prstGeom prst="rect">
            <a:avLst/>
          </a:prstGeom>
          <a:solidFill>
            <a:srgbClr val="2E8FA0"/>
          </a:solidFill>
          <a:ln w="12700" cap="flat" cmpd="sng">
            <a:solidFill>
              <a:srgbClr val="2E8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0"/>
          <p:cNvSpPr/>
          <p:nvPr/>
        </p:nvSpPr>
        <p:spPr>
          <a:xfrm>
            <a:off x="2331720" y="1417320"/>
            <a:ext cx="71831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Abr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0"/>
          <p:cNvSpPr/>
          <p:nvPr/>
        </p:nvSpPr>
        <p:spPr>
          <a:xfrm>
            <a:off x="3050032" y="1417320"/>
            <a:ext cx="71831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May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0"/>
          <p:cNvSpPr/>
          <p:nvPr/>
        </p:nvSpPr>
        <p:spPr>
          <a:xfrm>
            <a:off x="3050032" y="1389888"/>
            <a:ext cx="10973" cy="3433572"/>
          </a:xfrm>
          <a:prstGeom prst="rect">
            <a:avLst/>
          </a:prstGeom>
          <a:solidFill>
            <a:srgbClr val="172433"/>
          </a:solidFill>
          <a:ln w="12700" cap="flat" cmpd="sng">
            <a:solidFill>
              <a:srgbClr val="1724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0"/>
          <p:cNvSpPr/>
          <p:nvPr/>
        </p:nvSpPr>
        <p:spPr>
          <a:xfrm>
            <a:off x="3768344" y="1417320"/>
            <a:ext cx="71831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Jun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0"/>
          <p:cNvSpPr/>
          <p:nvPr/>
        </p:nvSpPr>
        <p:spPr>
          <a:xfrm>
            <a:off x="3768344" y="1389888"/>
            <a:ext cx="10973" cy="3433572"/>
          </a:xfrm>
          <a:prstGeom prst="rect">
            <a:avLst/>
          </a:prstGeom>
          <a:solidFill>
            <a:srgbClr val="172433"/>
          </a:solidFill>
          <a:ln w="12700" cap="flat" cmpd="sng">
            <a:solidFill>
              <a:srgbClr val="1724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0"/>
          <p:cNvSpPr/>
          <p:nvPr/>
        </p:nvSpPr>
        <p:spPr>
          <a:xfrm>
            <a:off x="4486656" y="1417320"/>
            <a:ext cx="71831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Jul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0"/>
          <p:cNvSpPr/>
          <p:nvPr/>
        </p:nvSpPr>
        <p:spPr>
          <a:xfrm>
            <a:off x="4486656" y="1389888"/>
            <a:ext cx="10973" cy="3433572"/>
          </a:xfrm>
          <a:prstGeom prst="rect">
            <a:avLst/>
          </a:prstGeom>
          <a:solidFill>
            <a:srgbClr val="172433"/>
          </a:solidFill>
          <a:ln w="12700" cap="flat" cmpd="sng">
            <a:solidFill>
              <a:srgbClr val="1724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0"/>
          <p:cNvSpPr/>
          <p:nvPr/>
        </p:nvSpPr>
        <p:spPr>
          <a:xfrm>
            <a:off x="5204968" y="1417320"/>
            <a:ext cx="71831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Ago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0"/>
          <p:cNvSpPr/>
          <p:nvPr/>
        </p:nvSpPr>
        <p:spPr>
          <a:xfrm>
            <a:off x="5204968" y="1389888"/>
            <a:ext cx="10973" cy="3433572"/>
          </a:xfrm>
          <a:prstGeom prst="rect">
            <a:avLst/>
          </a:prstGeom>
          <a:solidFill>
            <a:srgbClr val="172433"/>
          </a:solidFill>
          <a:ln w="12700" cap="flat" cmpd="sng">
            <a:solidFill>
              <a:srgbClr val="1724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0"/>
          <p:cNvSpPr/>
          <p:nvPr/>
        </p:nvSpPr>
        <p:spPr>
          <a:xfrm>
            <a:off x="5923280" y="1417320"/>
            <a:ext cx="71831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Sep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0"/>
          <p:cNvSpPr/>
          <p:nvPr/>
        </p:nvSpPr>
        <p:spPr>
          <a:xfrm>
            <a:off x="5923280" y="1389888"/>
            <a:ext cx="10973" cy="3433572"/>
          </a:xfrm>
          <a:prstGeom prst="rect">
            <a:avLst/>
          </a:prstGeom>
          <a:solidFill>
            <a:srgbClr val="172433"/>
          </a:solidFill>
          <a:ln w="12700" cap="flat" cmpd="sng">
            <a:solidFill>
              <a:srgbClr val="1724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0"/>
          <p:cNvSpPr/>
          <p:nvPr/>
        </p:nvSpPr>
        <p:spPr>
          <a:xfrm>
            <a:off x="6641592" y="1417320"/>
            <a:ext cx="71831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Oct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0"/>
          <p:cNvSpPr/>
          <p:nvPr/>
        </p:nvSpPr>
        <p:spPr>
          <a:xfrm>
            <a:off x="6641592" y="1389888"/>
            <a:ext cx="10973" cy="3433572"/>
          </a:xfrm>
          <a:prstGeom prst="rect">
            <a:avLst/>
          </a:prstGeom>
          <a:solidFill>
            <a:srgbClr val="172433"/>
          </a:solidFill>
          <a:ln w="12700" cap="flat" cmpd="sng">
            <a:solidFill>
              <a:srgbClr val="1724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0"/>
          <p:cNvSpPr/>
          <p:nvPr/>
        </p:nvSpPr>
        <p:spPr>
          <a:xfrm>
            <a:off x="7359904" y="1417320"/>
            <a:ext cx="71831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Nov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0"/>
          <p:cNvSpPr/>
          <p:nvPr/>
        </p:nvSpPr>
        <p:spPr>
          <a:xfrm>
            <a:off x="7359904" y="1389888"/>
            <a:ext cx="10973" cy="3433572"/>
          </a:xfrm>
          <a:prstGeom prst="rect">
            <a:avLst/>
          </a:prstGeom>
          <a:solidFill>
            <a:srgbClr val="172433"/>
          </a:solidFill>
          <a:ln w="12700" cap="flat" cmpd="sng">
            <a:solidFill>
              <a:srgbClr val="1724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0"/>
          <p:cNvSpPr/>
          <p:nvPr/>
        </p:nvSpPr>
        <p:spPr>
          <a:xfrm>
            <a:off x="8078216" y="1417320"/>
            <a:ext cx="71831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Dic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0"/>
          <p:cNvSpPr/>
          <p:nvPr/>
        </p:nvSpPr>
        <p:spPr>
          <a:xfrm>
            <a:off x="8078216" y="1389888"/>
            <a:ext cx="10973" cy="3433572"/>
          </a:xfrm>
          <a:prstGeom prst="rect">
            <a:avLst/>
          </a:prstGeom>
          <a:solidFill>
            <a:srgbClr val="172433"/>
          </a:solidFill>
          <a:ln w="12700" cap="flat" cmpd="sng">
            <a:solidFill>
              <a:srgbClr val="1724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0"/>
          <p:cNvSpPr/>
          <p:nvPr/>
        </p:nvSpPr>
        <p:spPr>
          <a:xfrm>
            <a:off x="3639007" y="1655064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07070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E07070"/>
                </a:solidFill>
                <a:latin typeface="Calibri"/>
                <a:ea typeface="Calibri"/>
                <a:cs typeface="Calibri"/>
                <a:sym typeface="Calibri"/>
              </a:rPr>
              <a:t>Hoy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0"/>
          <p:cNvSpPr/>
          <p:nvPr/>
        </p:nvSpPr>
        <p:spPr>
          <a:xfrm>
            <a:off x="491163" y="1682496"/>
            <a:ext cx="1892808" cy="380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Planificación + EDA</a:t>
            </a:r>
            <a:endParaRPr sz="1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0"/>
          <p:cNvSpPr/>
          <p:nvPr/>
        </p:nvSpPr>
        <p:spPr>
          <a:xfrm>
            <a:off x="2331720" y="1645920"/>
            <a:ext cx="6464808" cy="435646"/>
          </a:xfrm>
          <a:prstGeom prst="rect">
            <a:avLst/>
          </a:prstGeom>
          <a:solidFill>
            <a:srgbClr val="2C3E52"/>
          </a:solidFill>
          <a:ln w="9525" cap="flat" cmpd="sng">
            <a:solidFill>
              <a:srgbClr val="1724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0"/>
          <p:cNvSpPr/>
          <p:nvPr/>
        </p:nvSpPr>
        <p:spPr>
          <a:xfrm>
            <a:off x="2331724" y="1700775"/>
            <a:ext cx="1610400" cy="307800"/>
          </a:xfrm>
          <a:prstGeom prst="rect">
            <a:avLst/>
          </a:prstGeom>
          <a:solidFill>
            <a:srgbClr val="4ABFCF"/>
          </a:solidFill>
          <a:ln w="12700" cap="flat" cmpd="sng">
            <a:solidFill>
              <a:srgbClr val="4AB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0"/>
          <p:cNvSpPr/>
          <p:nvPr/>
        </p:nvSpPr>
        <p:spPr>
          <a:xfrm>
            <a:off x="491163" y="2136430"/>
            <a:ext cx="1892808" cy="380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Visualización – HU2</a:t>
            </a:r>
            <a:endParaRPr sz="1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0"/>
          <p:cNvSpPr/>
          <p:nvPr/>
        </p:nvSpPr>
        <p:spPr>
          <a:xfrm>
            <a:off x="2331720" y="2099854"/>
            <a:ext cx="6464808" cy="435646"/>
          </a:xfrm>
          <a:prstGeom prst="rect">
            <a:avLst/>
          </a:prstGeom>
          <a:solidFill>
            <a:srgbClr val="253649"/>
          </a:solidFill>
          <a:ln w="9525" cap="flat" cmpd="sng">
            <a:solidFill>
              <a:srgbClr val="1724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0"/>
          <p:cNvSpPr/>
          <p:nvPr/>
        </p:nvSpPr>
        <p:spPr>
          <a:xfrm>
            <a:off x="3942122" y="2154725"/>
            <a:ext cx="400800" cy="307500"/>
          </a:xfrm>
          <a:prstGeom prst="rect">
            <a:avLst/>
          </a:prstGeom>
          <a:solidFill>
            <a:srgbClr val="7B9EC0"/>
          </a:solidFill>
          <a:ln w="12700" cap="flat" cmpd="sng">
            <a:solidFill>
              <a:srgbClr val="7B9E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0"/>
          <p:cNvSpPr/>
          <p:nvPr/>
        </p:nvSpPr>
        <p:spPr>
          <a:xfrm>
            <a:off x="491163" y="2590365"/>
            <a:ext cx="1892808" cy="380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Preprocesamiento – HU3</a:t>
            </a:r>
            <a:endParaRPr sz="1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0"/>
          <p:cNvSpPr/>
          <p:nvPr/>
        </p:nvSpPr>
        <p:spPr>
          <a:xfrm>
            <a:off x="2331720" y="2553789"/>
            <a:ext cx="6464808" cy="435646"/>
          </a:xfrm>
          <a:prstGeom prst="rect">
            <a:avLst/>
          </a:prstGeom>
          <a:solidFill>
            <a:srgbClr val="2C3E52"/>
          </a:solidFill>
          <a:ln w="9525" cap="flat" cmpd="sng">
            <a:solidFill>
              <a:srgbClr val="1724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0"/>
          <p:cNvSpPr/>
          <p:nvPr/>
        </p:nvSpPr>
        <p:spPr>
          <a:xfrm>
            <a:off x="4243800" y="2608650"/>
            <a:ext cx="718200" cy="307800"/>
          </a:xfrm>
          <a:prstGeom prst="rect">
            <a:avLst/>
          </a:prstGeom>
          <a:solidFill>
            <a:srgbClr val="D4A847"/>
          </a:solidFill>
          <a:ln w="12700" cap="flat" cmpd="sng">
            <a:solidFill>
              <a:srgbClr val="D4A8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0"/>
          <p:cNvSpPr/>
          <p:nvPr/>
        </p:nvSpPr>
        <p:spPr>
          <a:xfrm>
            <a:off x="491163" y="3044299"/>
            <a:ext cx="1892808" cy="380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Features – HU4</a:t>
            </a:r>
            <a:endParaRPr sz="1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0"/>
          <p:cNvSpPr/>
          <p:nvPr/>
        </p:nvSpPr>
        <p:spPr>
          <a:xfrm>
            <a:off x="2331720" y="3007723"/>
            <a:ext cx="6464808" cy="435646"/>
          </a:xfrm>
          <a:prstGeom prst="rect">
            <a:avLst/>
          </a:prstGeom>
          <a:solidFill>
            <a:srgbClr val="253649"/>
          </a:solidFill>
          <a:ln w="9525" cap="flat" cmpd="sng">
            <a:solidFill>
              <a:srgbClr val="1724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0"/>
          <p:cNvSpPr/>
          <p:nvPr/>
        </p:nvSpPr>
        <p:spPr>
          <a:xfrm>
            <a:off x="4937400" y="3062575"/>
            <a:ext cx="893400" cy="307800"/>
          </a:xfrm>
          <a:prstGeom prst="rect">
            <a:avLst/>
          </a:prstGeom>
          <a:solidFill>
            <a:srgbClr val="D4A847"/>
          </a:solidFill>
          <a:ln w="12700" cap="flat" cmpd="sng">
            <a:solidFill>
              <a:srgbClr val="D4A8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0"/>
          <p:cNvSpPr/>
          <p:nvPr/>
        </p:nvSpPr>
        <p:spPr>
          <a:xfrm>
            <a:off x="491163" y="3498233"/>
            <a:ext cx="1892808" cy="380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Modelado – HU5/6</a:t>
            </a:r>
            <a:endParaRPr sz="1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0"/>
          <p:cNvSpPr/>
          <p:nvPr/>
        </p:nvSpPr>
        <p:spPr>
          <a:xfrm>
            <a:off x="2331720" y="3461657"/>
            <a:ext cx="6464808" cy="435646"/>
          </a:xfrm>
          <a:prstGeom prst="rect">
            <a:avLst/>
          </a:prstGeom>
          <a:solidFill>
            <a:srgbClr val="2C3E52"/>
          </a:solidFill>
          <a:ln w="9525" cap="flat" cmpd="sng">
            <a:solidFill>
              <a:srgbClr val="1724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0"/>
          <p:cNvSpPr/>
          <p:nvPr/>
        </p:nvSpPr>
        <p:spPr>
          <a:xfrm>
            <a:off x="5830800" y="3516525"/>
            <a:ext cx="893400" cy="307800"/>
          </a:xfrm>
          <a:prstGeom prst="rect">
            <a:avLst/>
          </a:prstGeom>
          <a:solidFill>
            <a:srgbClr val="3DBFA0"/>
          </a:solidFill>
          <a:ln w="12700" cap="flat" cmpd="sng">
            <a:solidFill>
              <a:srgbClr val="3DB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0"/>
          <p:cNvSpPr/>
          <p:nvPr/>
        </p:nvSpPr>
        <p:spPr>
          <a:xfrm>
            <a:off x="491163" y="3952167"/>
            <a:ext cx="1892808" cy="380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Evaluación – HU7/8</a:t>
            </a:r>
            <a:endParaRPr sz="1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0"/>
          <p:cNvSpPr/>
          <p:nvPr/>
        </p:nvSpPr>
        <p:spPr>
          <a:xfrm>
            <a:off x="2331720" y="3915591"/>
            <a:ext cx="6464808" cy="435646"/>
          </a:xfrm>
          <a:prstGeom prst="rect">
            <a:avLst/>
          </a:prstGeom>
          <a:solidFill>
            <a:srgbClr val="253649"/>
          </a:solidFill>
          <a:ln w="9525" cap="flat" cmpd="sng">
            <a:solidFill>
              <a:srgbClr val="1724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0"/>
          <p:cNvSpPr/>
          <p:nvPr/>
        </p:nvSpPr>
        <p:spPr>
          <a:xfrm>
            <a:off x="6724200" y="3970450"/>
            <a:ext cx="779400" cy="307800"/>
          </a:xfrm>
          <a:prstGeom prst="rect">
            <a:avLst/>
          </a:prstGeom>
          <a:solidFill>
            <a:srgbClr val="E07070"/>
          </a:solidFill>
          <a:ln w="12700" cap="flat" cmpd="sng">
            <a:solidFill>
              <a:srgbClr val="E0707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0"/>
          <p:cNvSpPr/>
          <p:nvPr/>
        </p:nvSpPr>
        <p:spPr>
          <a:xfrm>
            <a:off x="491163" y="4406102"/>
            <a:ext cx="1892808" cy="380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Mem. técnica – HU9/10</a:t>
            </a:r>
            <a:endParaRPr sz="1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0"/>
          <p:cNvSpPr/>
          <p:nvPr/>
        </p:nvSpPr>
        <p:spPr>
          <a:xfrm>
            <a:off x="2331720" y="4369526"/>
            <a:ext cx="6464808" cy="435646"/>
          </a:xfrm>
          <a:prstGeom prst="rect">
            <a:avLst/>
          </a:prstGeom>
          <a:solidFill>
            <a:srgbClr val="2C3E52"/>
          </a:solidFill>
          <a:ln w="9525" cap="flat" cmpd="sng">
            <a:solidFill>
              <a:srgbClr val="1724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0"/>
          <p:cNvSpPr/>
          <p:nvPr/>
        </p:nvSpPr>
        <p:spPr>
          <a:xfrm>
            <a:off x="7186125" y="4424400"/>
            <a:ext cx="1610400" cy="307800"/>
          </a:xfrm>
          <a:prstGeom prst="rect">
            <a:avLst/>
          </a:prstGeom>
          <a:solidFill>
            <a:srgbClr val="7B9EC0"/>
          </a:solidFill>
          <a:ln w="12700" cap="flat" cmpd="sng">
            <a:solidFill>
              <a:srgbClr val="7B9E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0"/>
          <p:cNvSpPr/>
          <p:nvPr/>
        </p:nvSpPr>
        <p:spPr>
          <a:xfrm>
            <a:off x="3840175" y="1389888"/>
            <a:ext cx="11100" cy="3433500"/>
          </a:xfrm>
          <a:prstGeom prst="rect">
            <a:avLst/>
          </a:prstGeom>
          <a:solidFill>
            <a:srgbClr val="E07070"/>
          </a:solidFill>
          <a:ln w="12700" cap="flat" cmpd="sng">
            <a:solidFill>
              <a:srgbClr val="E0707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2E8FA0"/>
                </a:solidFill>
              </a:rPr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1"/>
          <p:cNvSpPr/>
          <p:nvPr/>
        </p:nvSpPr>
        <p:spPr>
          <a:xfrm>
            <a:off x="347472" y="289992"/>
            <a:ext cx="1417320" cy="237744"/>
          </a:xfrm>
          <a:prstGeom prst="roundRect">
            <a:avLst>
              <a:gd name="adj" fmla="val 15385"/>
            </a:avLst>
          </a:prstGeom>
          <a:solidFill>
            <a:srgbClr val="4ABFCF"/>
          </a:solidFill>
          <a:ln w="12700" cap="flat" cmpd="sng">
            <a:solidFill>
              <a:srgbClr val="4AB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1"/>
          <p:cNvSpPr/>
          <p:nvPr/>
        </p:nvSpPr>
        <p:spPr>
          <a:xfrm>
            <a:off x="347472" y="289992"/>
            <a:ext cx="14173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E3D"/>
              </a:buClr>
              <a:buSzPts val="850"/>
              <a:buFont typeface="Calibri"/>
              <a:buNone/>
            </a:pPr>
            <a:r>
              <a:rPr lang="en-US" sz="850" b="1">
                <a:solidFill>
                  <a:srgbClr val="1E2E3D"/>
                </a:solidFill>
                <a:latin typeface="Calibri"/>
                <a:ea typeface="Calibri"/>
                <a:cs typeface="Calibri"/>
                <a:sym typeface="Calibri"/>
              </a:rPr>
              <a:t>GOBERNANZA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1"/>
          <p:cNvSpPr/>
          <p:nvPr/>
        </p:nvSpPr>
        <p:spPr>
          <a:xfrm>
            <a:off x="347472" y="694944"/>
            <a:ext cx="8449056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2100"/>
              <a:buFont typeface="Calibri"/>
              <a:buNone/>
            </a:pPr>
            <a:r>
              <a:rPr lang="en-US" sz="2100" b="1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Gobernanza de datos y ética en IA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1"/>
          <p:cNvSpPr/>
          <p:nvPr/>
        </p:nvSpPr>
        <p:spPr>
          <a:xfrm>
            <a:off x="347472" y="1389888"/>
            <a:ext cx="2724912" cy="1359517"/>
          </a:xfrm>
          <a:prstGeom prst="rect">
            <a:avLst/>
          </a:prstGeom>
          <a:solidFill>
            <a:srgbClr val="2C3E52"/>
          </a:solidFill>
          <a:ln w="9525" cap="flat" cmpd="sng">
            <a:solidFill>
              <a:srgbClr val="4AB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1"/>
          <p:cNvSpPr/>
          <p:nvPr/>
        </p:nvSpPr>
        <p:spPr>
          <a:xfrm>
            <a:off x="347472" y="1389888"/>
            <a:ext cx="41148" cy="1359517"/>
          </a:xfrm>
          <a:prstGeom prst="rect">
            <a:avLst/>
          </a:prstGeom>
          <a:solidFill>
            <a:srgbClr val="4ABFCF"/>
          </a:solidFill>
          <a:ln w="12700" cap="flat" cmpd="sng">
            <a:solidFill>
              <a:srgbClr val="4AB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1"/>
          <p:cNvSpPr/>
          <p:nvPr/>
        </p:nvSpPr>
        <p:spPr>
          <a:xfrm>
            <a:off x="484632" y="1546642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BFC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4ABFCF"/>
                </a:solidFill>
                <a:latin typeface="Calibri"/>
                <a:ea typeface="Calibri"/>
                <a:cs typeface="Calibri"/>
                <a:sym typeface="Calibri"/>
              </a:rPr>
              <a:t>GDPR (Unión Europea)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1"/>
          <p:cNvSpPr/>
          <p:nvPr/>
        </p:nvSpPr>
        <p:spPr>
          <a:xfrm>
            <a:off x="489204" y="1865376"/>
            <a:ext cx="2482596" cy="740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Datasets de instituciones europeas. El proyecto cumple sus principios: datos anónimos, fines académicos, sin posibilidad de identificación.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1"/>
          <p:cNvSpPr/>
          <p:nvPr/>
        </p:nvSpPr>
        <p:spPr>
          <a:xfrm>
            <a:off x="3200400" y="1389888"/>
            <a:ext cx="2724912" cy="1359517"/>
          </a:xfrm>
          <a:prstGeom prst="rect">
            <a:avLst/>
          </a:prstGeom>
          <a:solidFill>
            <a:srgbClr val="2C3E52"/>
          </a:solidFill>
          <a:ln w="9525" cap="flat" cmpd="sng">
            <a:solidFill>
              <a:srgbClr val="7B9E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1"/>
          <p:cNvSpPr/>
          <p:nvPr/>
        </p:nvSpPr>
        <p:spPr>
          <a:xfrm>
            <a:off x="3200400" y="1389888"/>
            <a:ext cx="41148" cy="1359517"/>
          </a:xfrm>
          <a:prstGeom prst="rect">
            <a:avLst/>
          </a:prstGeom>
          <a:solidFill>
            <a:srgbClr val="7B9EC0"/>
          </a:solidFill>
          <a:ln w="12700" cap="flat" cmpd="sng">
            <a:solidFill>
              <a:srgbClr val="7B9E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1"/>
          <p:cNvSpPr/>
          <p:nvPr/>
        </p:nvSpPr>
        <p:spPr>
          <a:xfrm>
            <a:off x="3350620" y="1546642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B9EC0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7B9EC0"/>
                </a:solidFill>
                <a:latin typeface="Calibri"/>
                <a:ea typeface="Calibri"/>
                <a:cs typeface="Calibri"/>
                <a:sym typeface="Calibri"/>
              </a:rPr>
              <a:t>Ley 25.326 (Argentina)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1"/>
          <p:cNvSpPr/>
          <p:nvPr/>
        </p:nvSpPr>
        <p:spPr>
          <a:xfrm>
            <a:off x="3344744" y="1828800"/>
            <a:ext cx="2436223" cy="797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Protección de datos personales. Los datos no permiten identificar personas físicas (encuadrado en los usos permitidos por la normativa).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1"/>
          <p:cNvSpPr/>
          <p:nvPr/>
        </p:nvSpPr>
        <p:spPr>
          <a:xfrm>
            <a:off x="6053328" y="1389888"/>
            <a:ext cx="2724912" cy="1359517"/>
          </a:xfrm>
          <a:prstGeom prst="rect">
            <a:avLst/>
          </a:prstGeom>
          <a:solidFill>
            <a:srgbClr val="2C3E52"/>
          </a:solidFill>
          <a:ln w="9525" cap="flat" cmpd="sng">
            <a:solidFill>
              <a:srgbClr val="D4A8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1"/>
          <p:cNvSpPr/>
          <p:nvPr/>
        </p:nvSpPr>
        <p:spPr>
          <a:xfrm>
            <a:off x="6053328" y="1389888"/>
            <a:ext cx="41148" cy="1359517"/>
          </a:xfrm>
          <a:prstGeom prst="rect">
            <a:avLst/>
          </a:prstGeom>
          <a:solidFill>
            <a:srgbClr val="D4A847"/>
          </a:solidFill>
          <a:ln w="12700" cap="flat" cmpd="sng">
            <a:solidFill>
              <a:srgbClr val="D4A8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1"/>
          <p:cNvSpPr/>
          <p:nvPr/>
        </p:nvSpPr>
        <p:spPr>
          <a:xfrm>
            <a:off x="6183954" y="1550559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4A847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D4A847"/>
                </a:solidFill>
                <a:latin typeface="Calibri"/>
                <a:ea typeface="Calibri"/>
                <a:cs typeface="Calibri"/>
                <a:sym typeface="Calibri"/>
              </a:rPr>
              <a:t>Propiedad intelectual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1"/>
          <p:cNvSpPr/>
          <p:nvPr/>
        </p:nvSpPr>
        <p:spPr>
          <a:xfrm>
            <a:off x="6172200" y="1828800"/>
            <a:ext cx="2482596" cy="734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Entregables de carácter académico y acceso abierto. Se respetan las licencias de los datasets para investigación sin fines comerciales.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1"/>
          <p:cNvSpPr/>
          <p:nvPr/>
        </p:nvSpPr>
        <p:spPr>
          <a:xfrm>
            <a:off x="347472" y="3170682"/>
            <a:ext cx="2724912" cy="1359517"/>
          </a:xfrm>
          <a:prstGeom prst="rect">
            <a:avLst/>
          </a:prstGeom>
          <a:solidFill>
            <a:srgbClr val="2C3E52"/>
          </a:solidFill>
          <a:ln w="9525" cap="flat" cmpd="sng">
            <a:solidFill>
              <a:srgbClr val="3DB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1"/>
          <p:cNvSpPr/>
          <p:nvPr/>
        </p:nvSpPr>
        <p:spPr>
          <a:xfrm>
            <a:off x="347472" y="3170682"/>
            <a:ext cx="41148" cy="1359517"/>
          </a:xfrm>
          <a:prstGeom prst="rect">
            <a:avLst/>
          </a:prstGeom>
          <a:solidFill>
            <a:srgbClr val="3DBFA0"/>
          </a:solidFill>
          <a:ln w="12700" cap="flat" cmpd="sng">
            <a:solidFill>
              <a:srgbClr val="3DB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1"/>
          <p:cNvSpPr/>
          <p:nvPr/>
        </p:nvSpPr>
        <p:spPr>
          <a:xfrm>
            <a:off x="484632" y="3295106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BFA0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3DBFA0"/>
                </a:solidFill>
                <a:latin typeface="Calibri"/>
                <a:ea typeface="Calibri"/>
                <a:cs typeface="Calibri"/>
                <a:sym typeface="Calibri"/>
              </a:rPr>
              <a:t>Beneficencia y no maleficencia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1"/>
          <p:cNvSpPr/>
          <p:nvPr/>
        </p:nvSpPr>
        <p:spPr>
          <a:xfrm>
            <a:off x="484632" y="3598164"/>
            <a:ext cx="2415322" cy="631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El sistema es herramienta de apoyo, no reemplaza el criterio clínico del profesional. Esta limitación está explícita en el alcance.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1"/>
          <p:cNvSpPr/>
          <p:nvPr/>
        </p:nvSpPr>
        <p:spPr>
          <a:xfrm>
            <a:off x="3200400" y="3170682"/>
            <a:ext cx="2724912" cy="1359517"/>
          </a:xfrm>
          <a:prstGeom prst="rect">
            <a:avLst/>
          </a:prstGeom>
          <a:solidFill>
            <a:srgbClr val="2C3E52"/>
          </a:solidFill>
          <a:ln w="9525" cap="flat" cmpd="sng">
            <a:solidFill>
              <a:srgbClr val="3DB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1"/>
          <p:cNvSpPr/>
          <p:nvPr/>
        </p:nvSpPr>
        <p:spPr>
          <a:xfrm>
            <a:off x="3200400" y="3170682"/>
            <a:ext cx="41148" cy="1359517"/>
          </a:xfrm>
          <a:prstGeom prst="rect">
            <a:avLst/>
          </a:prstGeom>
          <a:solidFill>
            <a:srgbClr val="3DBFA0"/>
          </a:solidFill>
          <a:ln w="12700" cap="flat" cmpd="sng">
            <a:solidFill>
              <a:srgbClr val="3DB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1"/>
          <p:cNvSpPr/>
          <p:nvPr/>
        </p:nvSpPr>
        <p:spPr>
          <a:xfrm>
            <a:off x="3363684" y="3301311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BFA0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3DBFA0"/>
                </a:solidFill>
                <a:latin typeface="Calibri"/>
                <a:ea typeface="Calibri"/>
                <a:cs typeface="Calibri"/>
                <a:sym typeface="Calibri"/>
              </a:rPr>
              <a:t>Transparencia y equidad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1"/>
          <p:cNvSpPr/>
          <p:nvPr/>
        </p:nvSpPr>
        <p:spPr>
          <a:xfrm>
            <a:off x="3363684" y="3593919"/>
            <a:ext cx="2370909" cy="1195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Proceso documentado y reproducible. Las limitaciones de diversidad poblacional de los datasets serán explicitadas en el informe.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1"/>
          <p:cNvSpPr/>
          <p:nvPr/>
        </p:nvSpPr>
        <p:spPr>
          <a:xfrm>
            <a:off x="6053328" y="3170682"/>
            <a:ext cx="2724912" cy="1359517"/>
          </a:xfrm>
          <a:prstGeom prst="rect">
            <a:avLst/>
          </a:prstGeom>
          <a:solidFill>
            <a:srgbClr val="2C3E52"/>
          </a:solidFill>
          <a:ln w="9525" cap="flat" cmpd="sng">
            <a:solidFill>
              <a:srgbClr val="E0707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1"/>
          <p:cNvSpPr/>
          <p:nvPr/>
        </p:nvSpPr>
        <p:spPr>
          <a:xfrm>
            <a:off x="6053328" y="3170682"/>
            <a:ext cx="41148" cy="1359517"/>
          </a:xfrm>
          <a:prstGeom prst="rect">
            <a:avLst/>
          </a:prstGeom>
          <a:solidFill>
            <a:srgbClr val="E07070"/>
          </a:solidFill>
          <a:ln w="12700" cap="flat" cmpd="sng">
            <a:solidFill>
              <a:srgbClr val="E0707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1"/>
          <p:cNvSpPr/>
          <p:nvPr/>
        </p:nvSpPr>
        <p:spPr>
          <a:xfrm>
            <a:off x="6217920" y="3301311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7070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E07070"/>
                </a:solidFill>
                <a:latin typeface="Calibri"/>
                <a:ea typeface="Calibri"/>
                <a:cs typeface="Calibri"/>
                <a:sym typeface="Calibri"/>
              </a:rPr>
              <a:t>Responsabilidad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1"/>
          <p:cNvSpPr/>
          <p:nvPr/>
        </p:nvSpPr>
        <p:spPr>
          <a:xfrm>
            <a:off x="6217920" y="3593919"/>
            <a:ext cx="2252690" cy="808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Los resultados se presentarán con rigor académico, sin exagerar capacidades ni minimizar limitaciones del sistema desarrollado.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2E8FA0"/>
                </a:solidFill>
              </a:rPr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2"/>
          <p:cNvSpPr/>
          <p:nvPr/>
        </p:nvSpPr>
        <p:spPr>
          <a:xfrm>
            <a:off x="347472" y="289992"/>
            <a:ext cx="1417320" cy="237744"/>
          </a:xfrm>
          <a:prstGeom prst="roundRect">
            <a:avLst>
              <a:gd name="adj" fmla="val 15385"/>
            </a:avLst>
          </a:prstGeom>
          <a:solidFill>
            <a:srgbClr val="4ABFCF"/>
          </a:solidFill>
          <a:ln w="12700" cap="flat" cmpd="sng">
            <a:solidFill>
              <a:srgbClr val="4AB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2"/>
          <p:cNvSpPr/>
          <p:nvPr/>
        </p:nvSpPr>
        <p:spPr>
          <a:xfrm>
            <a:off x="347472" y="289992"/>
            <a:ext cx="14173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E3D"/>
              </a:buClr>
              <a:buSzPts val="850"/>
              <a:buFont typeface="Calibri"/>
              <a:buNone/>
            </a:pPr>
            <a:r>
              <a:rPr lang="en-US" sz="850" b="1">
                <a:solidFill>
                  <a:srgbClr val="1E2E3D"/>
                </a:solidFill>
                <a:latin typeface="Calibri"/>
                <a:ea typeface="Calibri"/>
                <a:cs typeface="Calibri"/>
                <a:sym typeface="Calibri"/>
              </a:rPr>
              <a:t>RIESGOS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2"/>
          <p:cNvSpPr/>
          <p:nvPr/>
        </p:nvSpPr>
        <p:spPr>
          <a:xfrm>
            <a:off x="347472" y="548640"/>
            <a:ext cx="8449056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2100"/>
              <a:buFont typeface="Calibri"/>
              <a:buNone/>
            </a:pPr>
            <a:r>
              <a:rPr lang="en-US" sz="2100" b="1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Gestión de riesgos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2"/>
          <p:cNvSpPr/>
          <p:nvPr/>
        </p:nvSpPr>
        <p:spPr>
          <a:xfrm>
            <a:off x="347472" y="1042416"/>
            <a:ext cx="844905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8DA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E8DA0"/>
                </a:solidFill>
                <a:latin typeface="Calibri"/>
                <a:ea typeface="Calibri"/>
                <a:cs typeface="Calibri"/>
                <a:sym typeface="Calibri"/>
              </a:rPr>
              <a:t>RPN = Severidad × Ocurrencia  |  Criterio de actuación: RPN &gt; 13  |  (*) valores post-mitigación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2"/>
          <p:cNvSpPr/>
          <p:nvPr/>
        </p:nvSpPr>
        <p:spPr>
          <a:xfrm>
            <a:off x="347472" y="1389888"/>
            <a:ext cx="8449056" cy="274320"/>
          </a:xfrm>
          <a:prstGeom prst="rect">
            <a:avLst/>
          </a:prstGeom>
          <a:solidFill>
            <a:srgbClr val="2E8FA0"/>
          </a:solidFill>
          <a:ln w="12700" cap="flat" cmpd="sng">
            <a:solidFill>
              <a:srgbClr val="2E8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2"/>
          <p:cNvSpPr/>
          <p:nvPr/>
        </p:nvSpPr>
        <p:spPr>
          <a:xfrm>
            <a:off x="402336" y="1426464"/>
            <a:ext cx="27889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Riesgo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2"/>
          <p:cNvSpPr/>
          <p:nvPr/>
        </p:nvSpPr>
        <p:spPr>
          <a:xfrm>
            <a:off x="3227832" y="1426464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2"/>
          <p:cNvSpPr/>
          <p:nvPr/>
        </p:nvSpPr>
        <p:spPr>
          <a:xfrm>
            <a:off x="3648456" y="1426464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2"/>
          <p:cNvSpPr/>
          <p:nvPr/>
        </p:nvSpPr>
        <p:spPr>
          <a:xfrm>
            <a:off x="4069080" y="1426464"/>
            <a:ext cx="53035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RPN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2"/>
          <p:cNvSpPr/>
          <p:nvPr/>
        </p:nvSpPr>
        <p:spPr>
          <a:xfrm>
            <a:off x="4636008" y="1426464"/>
            <a:ext cx="53035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RPN*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2"/>
          <p:cNvSpPr/>
          <p:nvPr/>
        </p:nvSpPr>
        <p:spPr>
          <a:xfrm>
            <a:off x="5202936" y="1426464"/>
            <a:ext cx="339242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Mitigación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2"/>
          <p:cNvSpPr/>
          <p:nvPr/>
        </p:nvSpPr>
        <p:spPr>
          <a:xfrm>
            <a:off x="347472" y="1664208"/>
            <a:ext cx="8449056" cy="613562"/>
          </a:xfrm>
          <a:prstGeom prst="rect">
            <a:avLst/>
          </a:prstGeom>
          <a:solidFill>
            <a:srgbClr val="2C3E52"/>
          </a:solidFill>
          <a:ln w="12700" cap="flat" cmpd="sng">
            <a:solidFill>
              <a:srgbClr val="2C3E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2"/>
          <p:cNvSpPr/>
          <p:nvPr/>
        </p:nvSpPr>
        <p:spPr>
          <a:xfrm>
            <a:off x="347472" y="1664208"/>
            <a:ext cx="41148" cy="613562"/>
          </a:xfrm>
          <a:prstGeom prst="rect">
            <a:avLst/>
          </a:prstGeom>
          <a:solidFill>
            <a:srgbClr val="4ABFCF"/>
          </a:solidFill>
          <a:ln w="12700" cap="flat" cmpd="sng">
            <a:solidFill>
              <a:srgbClr val="4AB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2"/>
          <p:cNvSpPr/>
          <p:nvPr/>
        </p:nvSpPr>
        <p:spPr>
          <a:xfrm>
            <a:off x="487243" y="1700784"/>
            <a:ext cx="2372215" cy="54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Calidad insuficiente de grabaciones del dataset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2"/>
          <p:cNvSpPr/>
          <p:nvPr/>
        </p:nvSpPr>
        <p:spPr>
          <a:xfrm>
            <a:off x="3227832" y="1700784"/>
            <a:ext cx="384048" cy="54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2"/>
          <p:cNvSpPr/>
          <p:nvPr/>
        </p:nvSpPr>
        <p:spPr>
          <a:xfrm>
            <a:off x="3648456" y="1700784"/>
            <a:ext cx="384048" cy="54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2"/>
          <p:cNvSpPr/>
          <p:nvPr/>
        </p:nvSpPr>
        <p:spPr>
          <a:xfrm>
            <a:off x="4069080" y="1700784"/>
            <a:ext cx="530352" cy="54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2"/>
          <p:cNvSpPr/>
          <p:nvPr/>
        </p:nvSpPr>
        <p:spPr>
          <a:xfrm>
            <a:off x="4636008" y="1700784"/>
            <a:ext cx="530352" cy="54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2"/>
          <p:cNvSpPr/>
          <p:nvPr/>
        </p:nvSpPr>
        <p:spPr>
          <a:xfrm>
            <a:off x="5202936" y="1700784"/>
            <a:ext cx="3392424" cy="54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Preprocesamiento iterativo con validación visual por etapa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2"/>
          <p:cNvSpPr/>
          <p:nvPr/>
        </p:nvSpPr>
        <p:spPr>
          <a:xfrm>
            <a:off x="347472" y="2296058"/>
            <a:ext cx="8449056" cy="613562"/>
          </a:xfrm>
          <a:prstGeom prst="rect">
            <a:avLst/>
          </a:prstGeom>
          <a:solidFill>
            <a:srgbClr val="253649"/>
          </a:solidFill>
          <a:ln w="12700" cap="flat" cmpd="sng">
            <a:solidFill>
              <a:srgbClr val="2536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2"/>
          <p:cNvSpPr/>
          <p:nvPr/>
        </p:nvSpPr>
        <p:spPr>
          <a:xfrm>
            <a:off x="347472" y="2296058"/>
            <a:ext cx="41148" cy="613562"/>
          </a:xfrm>
          <a:prstGeom prst="rect">
            <a:avLst/>
          </a:prstGeom>
          <a:solidFill>
            <a:srgbClr val="E07070"/>
          </a:solidFill>
          <a:ln w="12700" cap="flat" cmpd="sng">
            <a:solidFill>
              <a:srgbClr val="E0707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2"/>
          <p:cNvSpPr/>
          <p:nvPr/>
        </p:nvSpPr>
        <p:spPr>
          <a:xfrm>
            <a:off x="487243" y="2332634"/>
            <a:ext cx="2788920" cy="54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Desempeño insuficiente del modelo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2"/>
          <p:cNvSpPr/>
          <p:nvPr/>
        </p:nvSpPr>
        <p:spPr>
          <a:xfrm>
            <a:off x="3227832" y="2332634"/>
            <a:ext cx="384048" cy="54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2"/>
          <p:cNvSpPr/>
          <p:nvPr/>
        </p:nvSpPr>
        <p:spPr>
          <a:xfrm>
            <a:off x="3648456" y="2332634"/>
            <a:ext cx="384048" cy="54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2"/>
          <p:cNvSpPr/>
          <p:nvPr/>
        </p:nvSpPr>
        <p:spPr>
          <a:xfrm>
            <a:off x="4069080" y="2332634"/>
            <a:ext cx="530352" cy="54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7070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E07070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2"/>
          <p:cNvSpPr/>
          <p:nvPr/>
        </p:nvSpPr>
        <p:spPr>
          <a:xfrm>
            <a:off x="4636008" y="2332634"/>
            <a:ext cx="530352" cy="54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BFA0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3DBFA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2"/>
          <p:cNvSpPr/>
          <p:nvPr/>
        </p:nvSpPr>
        <p:spPr>
          <a:xfrm>
            <a:off x="5202936" y="2332634"/>
            <a:ext cx="3392424" cy="54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Experimentación iterativa desde el inicio, ≥2 arquitecturas candidatas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2"/>
          <p:cNvSpPr/>
          <p:nvPr/>
        </p:nvSpPr>
        <p:spPr>
          <a:xfrm>
            <a:off x="347472" y="2927909"/>
            <a:ext cx="8449056" cy="613562"/>
          </a:xfrm>
          <a:prstGeom prst="rect">
            <a:avLst/>
          </a:prstGeom>
          <a:solidFill>
            <a:srgbClr val="2C3E52"/>
          </a:solidFill>
          <a:ln w="12700" cap="flat" cmpd="sng">
            <a:solidFill>
              <a:srgbClr val="2C3E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2"/>
          <p:cNvSpPr/>
          <p:nvPr/>
        </p:nvSpPr>
        <p:spPr>
          <a:xfrm>
            <a:off x="347472" y="2927909"/>
            <a:ext cx="41148" cy="613562"/>
          </a:xfrm>
          <a:prstGeom prst="rect">
            <a:avLst/>
          </a:prstGeom>
          <a:solidFill>
            <a:srgbClr val="E07070"/>
          </a:solidFill>
          <a:ln w="12700" cap="flat" cmpd="sng">
            <a:solidFill>
              <a:srgbClr val="E0707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2"/>
          <p:cNvSpPr/>
          <p:nvPr/>
        </p:nvSpPr>
        <p:spPr>
          <a:xfrm>
            <a:off x="487243" y="2964485"/>
            <a:ext cx="2788920" cy="54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Tiempo disponible inferior al planificado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2"/>
          <p:cNvSpPr/>
          <p:nvPr/>
        </p:nvSpPr>
        <p:spPr>
          <a:xfrm>
            <a:off x="3227832" y="2964485"/>
            <a:ext cx="384048" cy="54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2"/>
          <p:cNvSpPr/>
          <p:nvPr/>
        </p:nvSpPr>
        <p:spPr>
          <a:xfrm>
            <a:off x="3648456" y="2964485"/>
            <a:ext cx="384048" cy="54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2"/>
          <p:cNvSpPr/>
          <p:nvPr/>
        </p:nvSpPr>
        <p:spPr>
          <a:xfrm>
            <a:off x="4069080" y="2964485"/>
            <a:ext cx="530352" cy="54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7070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E07070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2"/>
          <p:cNvSpPr/>
          <p:nvPr/>
        </p:nvSpPr>
        <p:spPr>
          <a:xfrm>
            <a:off x="4636008" y="2964485"/>
            <a:ext cx="530352" cy="54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BFA0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3DBFA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2"/>
          <p:cNvSpPr/>
          <p:nvPr/>
        </p:nvSpPr>
        <p:spPr>
          <a:xfrm>
            <a:off x="5202936" y="2964485"/>
            <a:ext cx="3392424" cy="54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Colchón en último bimestre, revisión mensual de avance real vs planificado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2"/>
          <p:cNvSpPr/>
          <p:nvPr/>
        </p:nvSpPr>
        <p:spPr>
          <a:xfrm>
            <a:off x="347472" y="3559759"/>
            <a:ext cx="8449056" cy="613562"/>
          </a:xfrm>
          <a:prstGeom prst="rect">
            <a:avLst/>
          </a:prstGeom>
          <a:solidFill>
            <a:srgbClr val="253649"/>
          </a:solidFill>
          <a:ln w="12700" cap="flat" cmpd="sng">
            <a:solidFill>
              <a:srgbClr val="2536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2"/>
          <p:cNvSpPr/>
          <p:nvPr/>
        </p:nvSpPr>
        <p:spPr>
          <a:xfrm>
            <a:off x="347472" y="3559759"/>
            <a:ext cx="41148" cy="613562"/>
          </a:xfrm>
          <a:prstGeom prst="rect">
            <a:avLst/>
          </a:prstGeom>
          <a:solidFill>
            <a:srgbClr val="E07070"/>
          </a:solidFill>
          <a:ln w="12700" cap="flat" cmpd="sng">
            <a:solidFill>
              <a:srgbClr val="E0707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2"/>
          <p:cNvSpPr/>
          <p:nvPr/>
        </p:nvSpPr>
        <p:spPr>
          <a:xfrm>
            <a:off x="487243" y="3596335"/>
            <a:ext cx="2788920" cy="54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Desbalance severo de clases en los datasets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2"/>
          <p:cNvSpPr/>
          <p:nvPr/>
        </p:nvSpPr>
        <p:spPr>
          <a:xfrm>
            <a:off x="3227832" y="3596335"/>
            <a:ext cx="384048" cy="54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2"/>
          <p:cNvSpPr/>
          <p:nvPr/>
        </p:nvSpPr>
        <p:spPr>
          <a:xfrm>
            <a:off x="3648456" y="3596335"/>
            <a:ext cx="384048" cy="54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2"/>
          <p:cNvSpPr/>
          <p:nvPr/>
        </p:nvSpPr>
        <p:spPr>
          <a:xfrm>
            <a:off x="4069080" y="3596335"/>
            <a:ext cx="530352" cy="54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7070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E07070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2"/>
          <p:cNvSpPr/>
          <p:nvPr/>
        </p:nvSpPr>
        <p:spPr>
          <a:xfrm>
            <a:off x="4636008" y="3596335"/>
            <a:ext cx="530352" cy="54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BFA0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3DBFA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2"/>
          <p:cNvSpPr/>
          <p:nvPr/>
        </p:nvSpPr>
        <p:spPr>
          <a:xfrm>
            <a:off x="5202936" y="3596335"/>
            <a:ext cx="3392424" cy="54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Data augmentation, métricas sensibles al desbalance (F1 macro, AUC)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2"/>
          <p:cNvSpPr/>
          <p:nvPr/>
        </p:nvSpPr>
        <p:spPr>
          <a:xfrm>
            <a:off x="347472" y="4191610"/>
            <a:ext cx="8449056" cy="613562"/>
          </a:xfrm>
          <a:prstGeom prst="rect">
            <a:avLst/>
          </a:prstGeom>
          <a:solidFill>
            <a:srgbClr val="2C3E52"/>
          </a:solidFill>
          <a:ln w="12700" cap="flat" cmpd="sng">
            <a:solidFill>
              <a:srgbClr val="2C3E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2"/>
          <p:cNvSpPr/>
          <p:nvPr/>
        </p:nvSpPr>
        <p:spPr>
          <a:xfrm>
            <a:off x="347472" y="4191610"/>
            <a:ext cx="41148" cy="613562"/>
          </a:xfrm>
          <a:prstGeom prst="rect">
            <a:avLst/>
          </a:prstGeom>
          <a:solidFill>
            <a:srgbClr val="4ABFCF"/>
          </a:solidFill>
          <a:ln w="12700" cap="flat" cmpd="sng">
            <a:solidFill>
              <a:srgbClr val="4AB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2"/>
          <p:cNvSpPr/>
          <p:nvPr/>
        </p:nvSpPr>
        <p:spPr>
          <a:xfrm>
            <a:off x="487243" y="4228186"/>
            <a:ext cx="2788920" cy="54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Capacidad de hardware insuficiente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2"/>
          <p:cNvSpPr/>
          <p:nvPr/>
        </p:nvSpPr>
        <p:spPr>
          <a:xfrm>
            <a:off x="3227832" y="4228186"/>
            <a:ext cx="384048" cy="54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2"/>
          <p:cNvSpPr/>
          <p:nvPr/>
        </p:nvSpPr>
        <p:spPr>
          <a:xfrm>
            <a:off x="3648456" y="4228186"/>
            <a:ext cx="384048" cy="54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2"/>
          <p:cNvSpPr/>
          <p:nvPr/>
        </p:nvSpPr>
        <p:spPr>
          <a:xfrm>
            <a:off x="4069080" y="4228186"/>
            <a:ext cx="530352" cy="54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2"/>
          <p:cNvSpPr/>
          <p:nvPr/>
        </p:nvSpPr>
        <p:spPr>
          <a:xfrm>
            <a:off x="4636008" y="4228186"/>
            <a:ext cx="530352" cy="54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2"/>
          <p:cNvSpPr/>
          <p:nvPr/>
        </p:nvSpPr>
        <p:spPr>
          <a:xfrm>
            <a:off x="5202936" y="4228186"/>
            <a:ext cx="3392424" cy="54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Google Colab como alternativa con hardware dedicado (GPU)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2E8FA0"/>
                </a:solidFill>
              </a:rPr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13"/>
          <p:cNvSpPr/>
          <p:nvPr/>
        </p:nvSpPr>
        <p:spPr>
          <a:xfrm>
            <a:off x="347472" y="289992"/>
            <a:ext cx="1417320" cy="237744"/>
          </a:xfrm>
          <a:prstGeom prst="roundRect">
            <a:avLst>
              <a:gd name="adj" fmla="val 15385"/>
            </a:avLst>
          </a:prstGeom>
          <a:solidFill>
            <a:srgbClr val="4ABFCF"/>
          </a:solidFill>
          <a:ln w="12700" cap="flat" cmpd="sng">
            <a:solidFill>
              <a:srgbClr val="4AB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3"/>
          <p:cNvSpPr/>
          <p:nvPr/>
        </p:nvSpPr>
        <p:spPr>
          <a:xfrm>
            <a:off x="347472" y="289992"/>
            <a:ext cx="14173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E3D"/>
              </a:buClr>
              <a:buSzPts val="850"/>
              <a:buFont typeface="Calibri"/>
              <a:buNone/>
            </a:pPr>
            <a:r>
              <a:rPr lang="en-US" sz="850" b="1">
                <a:solidFill>
                  <a:srgbClr val="1E2E3D"/>
                </a:solidFill>
                <a:latin typeface="Calibri"/>
                <a:ea typeface="Calibri"/>
                <a:cs typeface="Calibri"/>
                <a:sym typeface="Calibri"/>
              </a:rPr>
              <a:t>SPRINT REVIEW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3"/>
          <p:cNvSpPr/>
          <p:nvPr/>
        </p:nvSpPr>
        <p:spPr>
          <a:xfrm>
            <a:off x="347472" y="693900"/>
            <a:ext cx="8449056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2100"/>
              <a:buFont typeface="Calibri"/>
              <a:buNone/>
            </a:pPr>
            <a:r>
              <a:rPr lang="en-US" sz="2100" b="1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Sprint Review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3"/>
          <p:cNvSpPr/>
          <p:nvPr/>
        </p:nvSpPr>
        <p:spPr>
          <a:xfrm>
            <a:off x="347472" y="1389888"/>
            <a:ext cx="4041648" cy="1625346"/>
          </a:xfrm>
          <a:prstGeom prst="rect">
            <a:avLst/>
          </a:prstGeom>
          <a:solidFill>
            <a:srgbClr val="2C3E52"/>
          </a:solidFill>
          <a:ln w="9525" cap="flat" cmpd="sng">
            <a:solidFill>
              <a:srgbClr val="4AB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3"/>
          <p:cNvSpPr/>
          <p:nvPr/>
        </p:nvSpPr>
        <p:spPr>
          <a:xfrm>
            <a:off x="347472" y="1389888"/>
            <a:ext cx="41148" cy="1625346"/>
          </a:xfrm>
          <a:prstGeom prst="rect">
            <a:avLst/>
          </a:prstGeom>
          <a:solidFill>
            <a:srgbClr val="4ABFCF"/>
          </a:solidFill>
          <a:ln w="12700" cap="flat" cmpd="sng">
            <a:solidFill>
              <a:srgbClr val="4AB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3"/>
          <p:cNvSpPr/>
          <p:nvPr/>
        </p:nvSpPr>
        <p:spPr>
          <a:xfrm>
            <a:off x="458505" y="1472184"/>
            <a:ext cx="3877056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BFCF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4ABFCF"/>
                </a:solidFill>
                <a:latin typeface="Calibri"/>
                <a:ea typeface="Calibri"/>
                <a:cs typeface="Calibri"/>
                <a:sym typeface="Calibri"/>
              </a:rPr>
              <a:t>HU2 – Visualización de señales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3"/>
          <p:cNvSpPr/>
          <p:nvPr/>
        </p:nvSpPr>
        <p:spPr>
          <a:xfrm>
            <a:off x="438912" y="1746504"/>
            <a:ext cx="3858768" cy="20117"/>
          </a:xfrm>
          <a:prstGeom prst="rect">
            <a:avLst/>
          </a:prstGeom>
          <a:solidFill>
            <a:srgbClr val="172433"/>
          </a:solidFill>
          <a:ln w="12700" cap="flat" cmpd="sng">
            <a:solidFill>
              <a:srgbClr val="1724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3"/>
          <p:cNvSpPr/>
          <p:nvPr/>
        </p:nvSpPr>
        <p:spPr>
          <a:xfrm>
            <a:off x="438912" y="1728742"/>
            <a:ext cx="3877056" cy="983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>
              <a:solidFill>
                <a:srgbClr val="B8CC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950"/>
              <a:buFont typeface="Calibri"/>
              <a:buChar char="•"/>
            </a:pPr>
            <a:r>
              <a:rPr lang="en-US" sz="95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Gráficos de forma de onda temporal de las clases representativas.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950"/>
              <a:buFont typeface="Calibri"/>
              <a:buChar char="•"/>
            </a:pPr>
            <a:r>
              <a:rPr lang="en-US" sz="95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Representaciones en frecuencia de cada clase comparadas visualmente.</a:t>
            </a:r>
            <a:endParaRPr/>
          </a:p>
          <a:p>
            <a:pPr marL="342900" marR="0" lvl="0" indent="-2825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950"/>
              <a:buFont typeface="Calibri"/>
              <a:buChar char="•"/>
            </a:pPr>
            <a:r>
              <a:rPr lang="en-US" sz="950">
                <a:solidFill>
                  <a:srgbClr val="A8D08C"/>
                </a:solidFill>
                <a:latin typeface="Calibri"/>
                <a:ea typeface="Calibri"/>
                <a:cs typeface="Calibri"/>
                <a:sym typeface="Calibri"/>
              </a:rPr>
              <a:t>El director verifica que las visualizaciones permitan distinguir entre clases.</a:t>
            </a:r>
            <a:endParaRPr sz="950">
              <a:solidFill>
                <a:srgbClr val="A8D08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3"/>
          <p:cNvSpPr/>
          <p:nvPr/>
        </p:nvSpPr>
        <p:spPr>
          <a:xfrm>
            <a:off x="420624" y="2795778"/>
            <a:ext cx="3895344" cy="201168"/>
          </a:xfrm>
          <a:prstGeom prst="rect">
            <a:avLst/>
          </a:prstGeom>
          <a:solidFill>
            <a:srgbClr val="253649"/>
          </a:solidFill>
          <a:ln w="12700" cap="flat" cmpd="sng">
            <a:solidFill>
              <a:srgbClr val="2536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3"/>
          <p:cNvSpPr/>
          <p:nvPr/>
        </p:nvSpPr>
        <p:spPr>
          <a:xfrm>
            <a:off x="457200" y="2814066"/>
            <a:ext cx="382219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7070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E07070"/>
                </a:solidFill>
                <a:latin typeface="Calibri"/>
                <a:ea typeface="Calibri"/>
                <a:cs typeface="Calibri"/>
                <a:sym typeface="Calibri"/>
              </a:rPr>
              <a:t>⚠  Riesgo: que no se identifique ninguna diferencia entre clases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3"/>
          <p:cNvSpPr/>
          <p:nvPr/>
        </p:nvSpPr>
        <p:spPr>
          <a:xfrm>
            <a:off x="347472" y="3198114"/>
            <a:ext cx="4041648" cy="1625346"/>
          </a:xfrm>
          <a:prstGeom prst="rect">
            <a:avLst/>
          </a:prstGeom>
          <a:solidFill>
            <a:srgbClr val="2C3E52"/>
          </a:solidFill>
          <a:ln w="9525" cap="flat" cmpd="sng">
            <a:solidFill>
              <a:srgbClr val="D4A8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3"/>
          <p:cNvSpPr/>
          <p:nvPr/>
        </p:nvSpPr>
        <p:spPr>
          <a:xfrm>
            <a:off x="347472" y="3198114"/>
            <a:ext cx="41148" cy="1625346"/>
          </a:xfrm>
          <a:prstGeom prst="rect">
            <a:avLst/>
          </a:prstGeom>
          <a:solidFill>
            <a:srgbClr val="D4A847"/>
          </a:solidFill>
          <a:ln w="12700" cap="flat" cmpd="sng">
            <a:solidFill>
              <a:srgbClr val="D4A8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3"/>
          <p:cNvSpPr/>
          <p:nvPr/>
        </p:nvSpPr>
        <p:spPr>
          <a:xfrm>
            <a:off x="458505" y="3280410"/>
            <a:ext cx="3877056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4A847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D4A847"/>
                </a:solidFill>
                <a:latin typeface="Calibri"/>
                <a:ea typeface="Calibri"/>
                <a:cs typeface="Calibri"/>
                <a:sym typeface="Calibri"/>
              </a:rPr>
              <a:t>HU4 – Extracción de features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3"/>
          <p:cNvSpPr/>
          <p:nvPr/>
        </p:nvSpPr>
        <p:spPr>
          <a:xfrm>
            <a:off x="438912" y="3554730"/>
            <a:ext cx="3858768" cy="20117"/>
          </a:xfrm>
          <a:prstGeom prst="rect">
            <a:avLst/>
          </a:prstGeom>
          <a:solidFill>
            <a:srgbClr val="172433"/>
          </a:solidFill>
          <a:ln w="12700" cap="flat" cmpd="sng">
            <a:solidFill>
              <a:srgbClr val="1724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3"/>
          <p:cNvSpPr/>
          <p:nvPr/>
        </p:nvSpPr>
        <p:spPr>
          <a:xfrm>
            <a:off x="438912" y="3618738"/>
            <a:ext cx="3877056" cy="966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950"/>
              <a:buFont typeface="Calibri"/>
              <a:buChar char="•"/>
            </a:pPr>
            <a:r>
              <a:rPr lang="en-US" sz="95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Espectrogramas Mel y vectores MFCC generados para todas las grabaciones.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950"/>
              <a:buFont typeface="Calibri"/>
              <a:buChar char="•"/>
            </a:pPr>
            <a:r>
              <a:rPr lang="en-US" sz="950">
                <a:solidFill>
                  <a:srgbClr val="A8D08C"/>
                </a:solidFill>
                <a:latin typeface="Calibri"/>
                <a:ea typeface="Calibri"/>
                <a:cs typeface="Calibri"/>
                <a:sym typeface="Calibri"/>
              </a:rPr>
              <a:t>Features almacenados en formato utilizable para el modelo.</a:t>
            </a:r>
            <a:endParaRPr sz="950">
              <a:solidFill>
                <a:srgbClr val="A8D08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950"/>
              <a:buFont typeface="Calibri"/>
              <a:buChar char="•"/>
            </a:pPr>
            <a:r>
              <a:rPr lang="en-US" sz="950">
                <a:solidFill>
                  <a:srgbClr val="A8D08C"/>
                </a:solidFill>
                <a:latin typeface="Calibri"/>
                <a:ea typeface="Calibri"/>
                <a:cs typeface="Calibri"/>
                <a:sym typeface="Calibri"/>
              </a:rPr>
              <a:t>Configuración de parámetros documentada.</a:t>
            </a:r>
            <a:endParaRPr sz="950">
              <a:solidFill>
                <a:srgbClr val="A8D08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3"/>
          <p:cNvSpPr/>
          <p:nvPr/>
        </p:nvSpPr>
        <p:spPr>
          <a:xfrm>
            <a:off x="420624" y="4604004"/>
            <a:ext cx="3895344" cy="201168"/>
          </a:xfrm>
          <a:prstGeom prst="rect">
            <a:avLst/>
          </a:prstGeom>
          <a:solidFill>
            <a:srgbClr val="253649"/>
          </a:solidFill>
          <a:ln w="12700" cap="flat" cmpd="sng">
            <a:solidFill>
              <a:srgbClr val="2536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3"/>
          <p:cNvSpPr/>
          <p:nvPr/>
        </p:nvSpPr>
        <p:spPr>
          <a:xfrm>
            <a:off x="457200" y="4622292"/>
            <a:ext cx="382219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7070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E07070"/>
                </a:solidFill>
                <a:latin typeface="Calibri"/>
                <a:ea typeface="Calibri"/>
                <a:cs typeface="Calibri"/>
                <a:sym typeface="Calibri"/>
              </a:rPr>
              <a:t>⚠  Riesgo: features incorrectos o insuficientes para el entrenamiento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3"/>
          <p:cNvSpPr/>
          <p:nvPr/>
        </p:nvSpPr>
        <p:spPr>
          <a:xfrm>
            <a:off x="4773168" y="1389888"/>
            <a:ext cx="4041648" cy="1625346"/>
          </a:xfrm>
          <a:prstGeom prst="rect">
            <a:avLst/>
          </a:prstGeom>
          <a:solidFill>
            <a:srgbClr val="2C3E52"/>
          </a:solidFill>
          <a:ln w="9525" cap="flat" cmpd="sng">
            <a:solidFill>
              <a:srgbClr val="3DB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3"/>
          <p:cNvSpPr/>
          <p:nvPr/>
        </p:nvSpPr>
        <p:spPr>
          <a:xfrm>
            <a:off x="4773168" y="1389888"/>
            <a:ext cx="41148" cy="1625346"/>
          </a:xfrm>
          <a:prstGeom prst="rect">
            <a:avLst/>
          </a:prstGeom>
          <a:solidFill>
            <a:srgbClr val="3DBFA0"/>
          </a:solidFill>
          <a:ln w="12700" cap="flat" cmpd="sng">
            <a:solidFill>
              <a:srgbClr val="3DB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3"/>
          <p:cNvSpPr/>
          <p:nvPr/>
        </p:nvSpPr>
        <p:spPr>
          <a:xfrm>
            <a:off x="4884201" y="1472184"/>
            <a:ext cx="3877056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BFA0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3DBFA0"/>
                </a:solidFill>
                <a:latin typeface="Calibri"/>
                <a:ea typeface="Calibri"/>
                <a:cs typeface="Calibri"/>
                <a:sym typeface="Calibri"/>
              </a:rPr>
              <a:t>HU5 – Diseño del modelo CNN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3"/>
          <p:cNvSpPr/>
          <p:nvPr/>
        </p:nvSpPr>
        <p:spPr>
          <a:xfrm>
            <a:off x="4864608" y="1746504"/>
            <a:ext cx="3858768" cy="20117"/>
          </a:xfrm>
          <a:prstGeom prst="rect">
            <a:avLst/>
          </a:prstGeom>
          <a:solidFill>
            <a:srgbClr val="172433"/>
          </a:solidFill>
          <a:ln w="12700" cap="flat" cmpd="sng">
            <a:solidFill>
              <a:srgbClr val="1724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3"/>
          <p:cNvSpPr/>
          <p:nvPr/>
        </p:nvSpPr>
        <p:spPr>
          <a:xfrm>
            <a:off x="4864608" y="1810512"/>
            <a:ext cx="3877056" cy="966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950"/>
              <a:buFont typeface="Calibri"/>
              <a:buChar char="•"/>
            </a:pPr>
            <a:r>
              <a:rPr lang="en-US" sz="95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Al menos dos arquitecturas candidatas implementadas y comparadas.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950"/>
              <a:buFont typeface="Calibri"/>
              <a:buChar char="•"/>
            </a:pPr>
            <a:r>
              <a:rPr lang="en-US" sz="950">
                <a:solidFill>
                  <a:srgbClr val="A8D08C"/>
                </a:solidFill>
                <a:latin typeface="Calibri"/>
                <a:ea typeface="Calibri"/>
                <a:cs typeface="Calibri"/>
                <a:sym typeface="Calibri"/>
              </a:rPr>
              <a:t>Arquitectura final definida, documentada y entrenada.</a:t>
            </a:r>
            <a:endParaRPr sz="950">
              <a:solidFill>
                <a:srgbClr val="A8D08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950"/>
              <a:buFont typeface="Calibri"/>
              <a:buChar char="•"/>
            </a:pPr>
            <a:r>
              <a:rPr lang="en-US" sz="950">
                <a:solidFill>
                  <a:srgbClr val="A8D08C"/>
                </a:solidFill>
                <a:latin typeface="Calibri"/>
                <a:ea typeface="Calibri"/>
                <a:cs typeface="Calibri"/>
                <a:sym typeface="Calibri"/>
              </a:rPr>
              <a:t>Modelo evaluado sobre conjunto de audios de prueba.</a:t>
            </a:r>
            <a:endParaRPr sz="950">
              <a:solidFill>
                <a:srgbClr val="A8D08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3"/>
          <p:cNvSpPr/>
          <p:nvPr/>
        </p:nvSpPr>
        <p:spPr>
          <a:xfrm>
            <a:off x="4846320" y="2795778"/>
            <a:ext cx="3895344" cy="201168"/>
          </a:xfrm>
          <a:prstGeom prst="rect">
            <a:avLst/>
          </a:prstGeom>
          <a:solidFill>
            <a:srgbClr val="253649"/>
          </a:solidFill>
          <a:ln w="12700" cap="flat" cmpd="sng">
            <a:solidFill>
              <a:srgbClr val="2536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3"/>
          <p:cNvSpPr/>
          <p:nvPr/>
        </p:nvSpPr>
        <p:spPr>
          <a:xfrm>
            <a:off x="4882896" y="2814066"/>
            <a:ext cx="382219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7070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E07070"/>
                </a:solidFill>
                <a:latin typeface="Calibri"/>
                <a:ea typeface="Calibri"/>
                <a:cs typeface="Calibri"/>
                <a:sym typeface="Calibri"/>
              </a:rPr>
              <a:t>⚠  Riesgo: requerimientos computacionales elevados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3"/>
          <p:cNvSpPr/>
          <p:nvPr/>
        </p:nvSpPr>
        <p:spPr>
          <a:xfrm>
            <a:off x="4773168" y="3198114"/>
            <a:ext cx="4041648" cy="1625346"/>
          </a:xfrm>
          <a:prstGeom prst="rect">
            <a:avLst/>
          </a:prstGeom>
          <a:solidFill>
            <a:srgbClr val="2C3E52"/>
          </a:solidFill>
          <a:ln w="9525" cap="flat" cmpd="sng">
            <a:solidFill>
              <a:srgbClr val="E0707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3"/>
          <p:cNvSpPr/>
          <p:nvPr/>
        </p:nvSpPr>
        <p:spPr>
          <a:xfrm>
            <a:off x="4773168" y="3198114"/>
            <a:ext cx="41148" cy="1625346"/>
          </a:xfrm>
          <a:prstGeom prst="rect">
            <a:avLst/>
          </a:prstGeom>
          <a:solidFill>
            <a:srgbClr val="E07070"/>
          </a:solidFill>
          <a:ln w="12700" cap="flat" cmpd="sng">
            <a:solidFill>
              <a:srgbClr val="E0707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3"/>
          <p:cNvSpPr/>
          <p:nvPr/>
        </p:nvSpPr>
        <p:spPr>
          <a:xfrm>
            <a:off x="4884201" y="3280410"/>
            <a:ext cx="3877056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7070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E07070"/>
                </a:solidFill>
                <a:latin typeface="Calibri"/>
                <a:ea typeface="Calibri"/>
                <a:cs typeface="Calibri"/>
                <a:sym typeface="Calibri"/>
              </a:rPr>
              <a:t>HU7 – Evaluación del modelo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3"/>
          <p:cNvSpPr/>
          <p:nvPr/>
        </p:nvSpPr>
        <p:spPr>
          <a:xfrm>
            <a:off x="4864608" y="3554730"/>
            <a:ext cx="3858768" cy="20117"/>
          </a:xfrm>
          <a:prstGeom prst="rect">
            <a:avLst/>
          </a:prstGeom>
          <a:solidFill>
            <a:srgbClr val="172433"/>
          </a:solidFill>
          <a:ln w="12700" cap="flat" cmpd="sng">
            <a:solidFill>
              <a:srgbClr val="1724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3"/>
          <p:cNvSpPr/>
          <p:nvPr/>
        </p:nvSpPr>
        <p:spPr>
          <a:xfrm>
            <a:off x="4864608" y="3618738"/>
            <a:ext cx="3877056" cy="966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950"/>
              <a:buFont typeface="Calibri"/>
              <a:buChar char="•"/>
            </a:pPr>
            <a:r>
              <a:rPr lang="en-US" sz="95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Accuracy, F1-score, matriz de confusión y ROC sobre conjunto de prueba.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950"/>
              <a:buFont typeface="Calibri"/>
              <a:buChar char="•"/>
            </a:pPr>
            <a:r>
              <a:rPr lang="en-US" sz="950">
                <a:solidFill>
                  <a:srgbClr val="A8D08C"/>
                </a:solidFill>
                <a:latin typeface="Calibri"/>
                <a:ea typeface="Calibri"/>
                <a:cs typeface="Calibri"/>
                <a:sym typeface="Calibri"/>
              </a:rPr>
              <a:t>Resultados interpretados en contexto clínico junto al equipo del CIBIO.</a:t>
            </a:r>
            <a:endParaRPr sz="950">
              <a:solidFill>
                <a:srgbClr val="A8D08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950"/>
              <a:buFont typeface="Calibri"/>
              <a:buChar char="•"/>
            </a:pPr>
            <a:r>
              <a:rPr lang="en-US" sz="950">
                <a:solidFill>
                  <a:srgbClr val="A8D08C"/>
                </a:solidFill>
                <a:latin typeface="Calibri"/>
                <a:ea typeface="Calibri"/>
                <a:cs typeface="Calibri"/>
                <a:sym typeface="Calibri"/>
              </a:rPr>
              <a:t>Métricas claras y sin ambigüedad en su interpretación.</a:t>
            </a:r>
            <a:endParaRPr sz="950">
              <a:solidFill>
                <a:srgbClr val="A8D08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3"/>
          <p:cNvSpPr/>
          <p:nvPr/>
        </p:nvSpPr>
        <p:spPr>
          <a:xfrm>
            <a:off x="4846320" y="4604004"/>
            <a:ext cx="3895344" cy="201168"/>
          </a:xfrm>
          <a:prstGeom prst="rect">
            <a:avLst/>
          </a:prstGeom>
          <a:solidFill>
            <a:srgbClr val="253649"/>
          </a:solidFill>
          <a:ln w="12700" cap="flat" cmpd="sng">
            <a:solidFill>
              <a:srgbClr val="2536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3"/>
          <p:cNvSpPr/>
          <p:nvPr/>
        </p:nvSpPr>
        <p:spPr>
          <a:xfrm>
            <a:off x="4882896" y="4622292"/>
            <a:ext cx="382219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7070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E07070"/>
                </a:solidFill>
                <a:latin typeface="Calibri"/>
                <a:ea typeface="Calibri"/>
                <a:cs typeface="Calibri"/>
                <a:sym typeface="Calibri"/>
              </a:rPr>
              <a:t>⚠  Riesgo: resultados insuficientes para alcanzar los requerimientos mínimos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2E8FA0"/>
                </a:solidFill>
              </a:rPr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4"/>
          <p:cNvSpPr/>
          <p:nvPr/>
        </p:nvSpPr>
        <p:spPr>
          <a:xfrm>
            <a:off x="347472" y="289992"/>
            <a:ext cx="1417320" cy="237744"/>
          </a:xfrm>
          <a:prstGeom prst="roundRect">
            <a:avLst>
              <a:gd name="adj" fmla="val 15385"/>
            </a:avLst>
          </a:prstGeom>
          <a:solidFill>
            <a:srgbClr val="4ABFCF"/>
          </a:solidFill>
          <a:ln w="12700" cap="flat" cmpd="sng">
            <a:solidFill>
              <a:srgbClr val="4AB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4"/>
          <p:cNvSpPr/>
          <p:nvPr/>
        </p:nvSpPr>
        <p:spPr>
          <a:xfrm>
            <a:off x="347472" y="289992"/>
            <a:ext cx="14173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E3D"/>
              </a:buClr>
              <a:buSzPts val="850"/>
              <a:buFont typeface="Calibri"/>
              <a:buNone/>
            </a:pPr>
            <a:r>
              <a:rPr lang="en-US" sz="850" b="1">
                <a:solidFill>
                  <a:srgbClr val="1E2E3D"/>
                </a:solidFill>
                <a:latin typeface="Calibri"/>
                <a:ea typeface="Calibri"/>
                <a:cs typeface="Calibri"/>
                <a:sym typeface="Calibri"/>
              </a:rPr>
              <a:t>RETROSPECTIVA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4"/>
          <p:cNvSpPr/>
          <p:nvPr/>
        </p:nvSpPr>
        <p:spPr>
          <a:xfrm>
            <a:off x="347472" y="687106"/>
            <a:ext cx="8449056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2100"/>
              <a:buFont typeface="Calibri"/>
              <a:buNone/>
            </a:pPr>
            <a:r>
              <a:rPr lang="en-US" sz="2100" b="1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Sprint Retrospective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4"/>
          <p:cNvSpPr/>
          <p:nvPr/>
        </p:nvSpPr>
        <p:spPr>
          <a:xfrm>
            <a:off x="347472" y="1389888"/>
            <a:ext cx="4041648" cy="1625346"/>
          </a:xfrm>
          <a:prstGeom prst="rect">
            <a:avLst/>
          </a:prstGeom>
          <a:solidFill>
            <a:srgbClr val="2C3E52"/>
          </a:solidFill>
          <a:ln w="9525" cap="flat" cmpd="sng">
            <a:solidFill>
              <a:srgbClr val="D4A8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4"/>
          <p:cNvSpPr/>
          <p:nvPr/>
        </p:nvSpPr>
        <p:spPr>
          <a:xfrm>
            <a:off x="347472" y="1389888"/>
            <a:ext cx="41148" cy="1625346"/>
          </a:xfrm>
          <a:prstGeom prst="rect">
            <a:avLst/>
          </a:prstGeom>
          <a:solidFill>
            <a:srgbClr val="D4A847"/>
          </a:solidFill>
          <a:ln w="12700" cap="flat" cmpd="sng">
            <a:solidFill>
              <a:srgbClr val="D4A8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4"/>
          <p:cNvSpPr/>
          <p:nvPr/>
        </p:nvSpPr>
        <p:spPr>
          <a:xfrm>
            <a:off x="465036" y="1472184"/>
            <a:ext cx="3877056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4A847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D4A847"/>
                </a:solidFill>
                <a:latin typeface="Calibri"/>
                <a:ea typeface="Calibri"/>
                <a:cs typeface="Calibri"/>
                <a:sym typeface="Calibri"/>
              </a:rPr>
              <a:t>Sprint técnico 4  ·  Preprocesamiento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4"/>
          <p:cNvSpPr/>
          <p:nvPr/>
        </p:nvSpPr>
        <p:spPr>
          <a:xfrm>
            <a:off x="438912" y="1746504"/>
            <a:ext cx="3858768" cy="20117"/>
          </a:xfrm>
          <a:prstGeom prst="rect">
            <a:avLst/>
          </a:prstGeom>
          <a:solidFill>
            <a:srgbClr val="172433"/>
          </a:solidFill>
          <a:ln w="12700" cap="flat" cmpd="sng">
            <a:solidFill>
              <a:srgbClr val="1724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4"/>
          <p:cNvSpPr/>
          <p:nvPr/>
        </p:nvSpPr>
        <p:spPr>
          <a:xfrm>
            <a:off x="438912" y="1810512"/>
            <a:ext cx="3877056" cy="352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BFA0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3DBFA0"/>
                </a:solidFill>
                <a:latin typeface="Calibri"/>
                <a:ea typeface="Calibri"/>
                <a:cs typeface="Calibri"/>
                <a:sym typeface="Calibri"/>
              </a:rPr>
              <a:t>✔ Más de: </a:t>
            </a:r>
            <a:r>
              <a:rPr lang="en-US" sz="950" b="1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r>
              <a:rPr lang="en-US" sz="95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alidar visualmente las señales luego de cada paso del preprocesamiento, sin tener el pipeline completo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4"/>
          <p:cNvSpPr/>
          <p:nvPr/>
        </p:nvSpPr>
        <p:spPr>
          <a:xfrm>
            <a:off x="438912" y="2199894"/>
            <a:ext cx="3877056" cy="352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7070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E07070"/>
                </a:solidFill>
                <a:latin typeface="Calibri"/>
                <a:ea typeface="Calibri"/>
                <a:cs typeface="Calibri"/>
                <a:sym typeface="Calibri"/>
              </a:rPr>
              <a:t>✘ Menos: </a:t>
            </a:r>
            <a:r>
              <a:rPr lang="en-US" sz="95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iterar indefinidamente sobre la elección de la técnica de eliminación de ruido sin establecer un criterio de corte claro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4"/>
          <p:cNvSpPr/>
          <p:nvPr/>
        </p:nvSpPr>
        <p:spPr>
          <a:xfrm>
            <a:off x="438912" y="2589276"/>
            <a:ext cx="3877056" cy="352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B9EC0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7B9EC0"/>
                </a:solidFill>
                <a:latin typeface="Calibri"/>
                <a:ea typeface="Calibri"/>
                <a:cs typeface="Calibri"/>
                <a:sym typeface="Calibri"/>
              </a:rPr>
              <a:t>↗ Mantener: </a:t>
            </a:r>
            <a:r>
              <a:rPr lang="en-US" sz="95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documentar de manera incremental cada paso del preprocesamiento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4"/>
          <p:cNvSpPr/>
          <p:nvPr/>
        </p:nvSpPr>
        <p:spPr>
          <a:xfrm>
            <a:off x="347472" y="3198114"/>
            <a:ext cx="4041648" cy="1625346"/>
          </a:xfrm>
          <a:prstGeom prst="rect">
            <a:avLst/>
          </a:prstGeom>
          <a:solidFill>
            <a:srgbClr val="2C3E52"/>
          </a:solidFill>
          <a:ln w="9525" cap="flat" cmpd="sng">
            <a:solidFill>
              <a:srgbClr val="3DB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4"/>
          <p:cNvSpPr/>
          <p:nvPr/>
        </p:nvSpPr>
        <p:spPr>
          <a:xfrm>
            <a:off x="347472" y="3198114"/>
            <a:ext cx="41148" cy="1625346"/>
          </a:xfrm>
          <a:prstGeom prst="rect">
            <a:avLst/>
          </a:prstGeom>
          <a:solidFill>
            <a:srgbClr val="3DBFA0"/>
          </a:solidFill>
          <a:ln w="12700" cap="flat" cmpd="sng">
            <a:solidFill>
              <a:srgbClr val="3DB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4"/>
          <p:cNvSpPr/>
          <p:nvPr/>
        </p:nvSpPr>
        <p:spPr>
          <a:xfrm>
            <a:off x="465036" y="3280410"/>
            <a:ext cx="3877056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BFA0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3DBFA0"/>
                </a:solidFill>
                <a:latin typeface="Calibri"/>
                <a:ea typeface="Calibri"/>
                <a:cs typeface="Calibri"/>
                <a:sym typeface="Calibri"/>
              </a:rPr>
              <a:t>Sprint técnico 8  ·  Modelado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4"/>
          <p:cNvSpPr/>
          <p:nvPr/>
        </p:nvSpPr>
        <p:spPr>
          <a:xfrm>
            <a:off x="438912" y="3554730"/>
            <a:ext cx="3858768" cy="20117"/>
          </a:xfrm>
          <a:prstGeom prst="rect">
            <a:avLst/>
          </a:prstGeom>
          <a:solidFill>
            <a:srgbClr val="172433"/>
          </a:solidFill>
          <a:ln w="12700" cap="flat" cmpd="sng">
            <a:solidFill>
              <a:srgbClr val="1724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4"/>
          <p:cNvSpPr/>
          <p:nvPr/>
        </p:nvSpPr>
        <p:spPr>
          <a:xfrm>
            <a:off x="438912" y="3618738"/>
            <a:ext cx="3877056" cy="352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BFA0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3DBFA0"/>
                </a:solidFill>
                <a:latin typeface="Calibri"/>
                <a:ea typeface="Calibri"/>
                <a:cs typeface="Calibri"/>
                <a:sym typeface="Calibri"/>
              </a:rPr>
              <a:t>✔ Más de: </a:t>
            </a:r>
            <a:r>
              <a:rPr lang="en-US" sz="95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registrar los resultados de cada experimento de forma estructurada para facilitar la comparación entre arquitecturas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4"/>
          <p:cNvSpPr/>
          <p:nvPr/>
        </p:nvSpPr>
        <p:spPr>
          <a:xfrm>
            <a:off x="438912" y="4008120"/>
            <a:ext cx="3877056" cy="352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7070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E07070"/>
                </a:solidFill>
                <a:latin typeface="Calibri"/>
                <a:ea typeface="Calibri"/>
                <a:cs typeface="Calibri"/>
                <a:sym typeface="Calibri"/>
              </a:rPr>
              <a:t>✘ Menos: </a:t>
            </a:r>
            <a:r>
              <a:rPr lang="en-US" sz="95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invertir tiempo excesivo en optimizar una arquitectura antes de compararla con otras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4"/>
          <p:cNvSpPr/>
          <p:nvPr/>
        </p:nvSpPr>
        <p:spPr>
          <a:xfrm>
            <a:off x="438912" y="4397502"/>
            <a:ext cx="3877056" cy="352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B9EC0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7B9EC0"/>
                </a:solidFill>
                <a:latin typeface="Calibri"/>
                <a:ea typeface="Calibri"/>
                <a:cs typeface="Calibri"/>
                <a:sym typeface="Calibri"/>
              </a:rPr>
              <a:t>↗ Mantener: </a:t>
            </a:r>
            <a:r>
              <a:rPr lang="en-US" sz="95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investigar arquitecturas en la literatura antes de diseñar una propia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4"/>
          <p:cNvSpPr/>
          <p:nvPr/>
        </p:nvSpPr>
        <p:spPr>
          <a:xfrm>
            <a:off x="4773168" y="1389888"/>
            <a:ext cx="4041648" cy="1625346"/>
          </a:xfrm>
          <a:prstGeom prst="rect">
            <a:avLst/>
          </a:prstGeom>
          <a:solidFill>
            <a:srgbClr val="2C3E52"/>
          </a:solidFill>
          <a:ln w="9525" cap="flat" cmpd="sng">
            <a:solidFill>
              <a:srgbClr val="E0707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4"/>
          <p:cNvSpPr/>
          <p:nvPr/>
        </p:nvSpPr>
        <p:spPr>
          <a:xfrm>
            <a:off x="4773168" y="1389888"/>
            <a:ext cx="41148" cy="1625346"/>
          </a:xfrm>
          <a:prstGeom prst="rect">
            <a:avLst/>
          </a:prstGeom>
          <a:solidFill>
            <a:srgbClr val="E07070"/>
          </a:solidFill>
          <a:ln w="12700" cap="flat" cmpd="sng">
            <a:solidFill>
              <a:srgbClr val="E0707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4"/>
          <p:cNvSpPr/>
          <p:nvPr/>
        </p:nvSpPr>
        <p:spPr>
          <a:xfrm>
            <a:off x="4890732" y="1472184"/>
            <a:ext cx="3877056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7070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E07070"/>
                </a:solidFill>
                <a:latin typeface="Calibri"/>
                <a:ea typeface="Calibri"/>
                <a:cs typeface="Calibri"/>
                <a:sym typeface="Calibri"/>
              </a:rPr>
              <a:t>Sprint técnico 10  ·  Evaluación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4"/>
          <p:cNvSpPr/>
          <p:nvPr/>
        </p:nvSpPr>
        <p:spPr>
          <a:xfrm>
            <a:off x="4864608" y="1746504"/>
            <a:ext cx="3858768" cy="20117"/>
          </a:xfrm>
          <a:prstGeom prst="rect">
            <a:avLst/>
          </a:prstGeom>
          <a:solidFill>
            <a:srgbClr val="172433"/>
          </a:solidFill>
          <a:ln w="12700" cap="flat" cmpd="sng">
            <a:solidFill>
              <a:srgbClr val="1724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4"/>
          <p:cNvSpPr/>
          <p:nvPr/>
        </p:nvSpPr>
        <p:spPr>
          <a:xfrm>
            <a:off x="4864608" y="1810512"/>
            <a:ext cx="3877056" cy="352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BFA0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3DBFA0"/>
                </a:solidFill>
                <a:latin typeface="Calibri"/>
                <a:ea typeface="Calibri"/>
                <a:cs typeface="Calibri"/>
                <a:sym typeface="Calibri"/>
              </a:rPr>
              <a:t>✔ Más de: </a:t>
            </a:r>
            <a:r>
              <a:rPr lang="en-US" sz="95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analizar errores del modelo para entender qué clases presentan mayor dificultad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4"/>
          <p:cNvSpPr/>
          <p:nvPr/>
        </p:nvSpPr>
        <p:spPr>
          <a:xfrm>
            <a:off x="4864608" y="2199894"/>
            <a:ext cx="3877056" cy="352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7070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E07070"/>
                </a:solidFill>
                <a:latin typeface="Calibri"/>
                <a:ea typeface="Calibri"/>
                <a:cs typeface="Calibri"/>
                <a:sym typeface="Calibri"/>
              </a:rPr>
              <a:t>✘ Menos: </a:t>
            </a:r>
            <a:r>
              <a:rPr lang="en-US" sz="95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ajustar hiperparámetros de forma aleatoria sin establecer un criterio de corte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4"/>
          <p:cNvSpPr/>
          <p:nvPr/>
        </p:nvSpPr>
        <p:spPr>
          <a:xfrm>
            <a:off x="4864608" y="2589276"/>
            <a:ext cx="3877056" cy="352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B9EC0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7B9EC0"/>
                </a:solidFill>
                <a:latin typeface="Calibri"/>
                <a:ea typeface="Calibri"/>
                <a:cs typeface="Calibri"/>
                <a:sym typeface="Calibri"/>
              </a:rPr>
              <a:t>↗ Mantener: </a:t>
            </a:r>
            <a:r>
              <a:rPr lang="en-US" sz="95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comparar entre enfoque integrado y por separado de forma sistemática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4"/>
          <p:cNvSpPr/>
          <p:nvPr/>
        </p:nvSpPr>
        <p:spPr>
          <a:xfrm>
            <a:off x="4773168" y="3198114"/>
            <a:ext cx="4041648" cy="1625346"/>
          </a:xfrm>
          <a:prstGeom prst="rect">
            <a:avLst/>
          </a:prstGeom>
          <a:solidFill>
            <a:srgbClr val="2C3E52"/>
          </a:solidFill>
          <a:ln w="9525" cap="flat" cmpd="sng">
            <a:solidFill>
              <a:srgbClr val="4AB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4"/>
          <p:cNvSpPr/>
          <p:nvPr/>
        </p:nvSpPr>
        <p:spPr>
          <a:xfrm>
            <a:off x="4773168" y="3198114"/>
            <a:ext cx="41148" cy="1625346"/>
          </a:xfrm>
          <a:prstGeom prst="rect">
            <a:avLst/>
          </a:prstGeom>
          <a:solidFill>
            <a:srgbClr val="4ABFCF"/>
          </a:solidFill>
          <a:ln w="12700" cap="flat" cmpd="sng">
            <a:solidFill>
              <a:srgbClr val="4AB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4"/>
          <p:cNvSpPr/>
          <p:nvPr/>
        </p:nvSpPr>
        <p:spPr>
          <a:xfrm>
            <a:off x="4890732" y="3280410"/>
            <a:ext cx="3877056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BFCF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4ABFCF"/>
                </a:solidFill>
                <a:latin typeface="Calibri"/>
                <a:ea typeface="Calibri"/>
                <a:cs typeface="Calibri"/>
                <a:sym typeface="Calibri"/>
              </a:rPr>
              <a:t>Sprint no técnico 1  ·  Planificación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4"/>
          <p:cNvSpPr/>
          <p:nvPr/>
        </p:nvSpPr>
        <p:spPr>
          <a:xfrm>
            <a:off x="4864608" y="3554730"/>
            <a:ext cx="3858768" cy="20117"/>
          </a:xfrm>
          <a:prstGeom prst="rect">
            <a:avLst/>
          </a:prstGeom>
          <a:solidFill>
            <a:srgbClr val="172433"/>
          </a:solidFill>
          <a:ln w="12700" cap="flat" cmpd="sng">
            <a:solidFill>
              <a:srgbClr val="1724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4"/>
          <p:cNvSpPr/>
          <p:nvPr/>
        </p:nvSpPr>
        <p:spPr>
          <a:xfrm>
            <a:off x="4864608" y="3618738"/>
            <a:ext cx="3877056" cy="352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BFA0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3DBFA0"/>
                </a:solidFill>
                <a:latin typeface="Calibri"/>
                <a:ea typeface="Calibri"/>
                <a:cs typeface="Calibri"/>
                <a:sym typeface="Calibri"/>
              </a:rPr>
              <a:t>✔ Más de: </a:t>
            </a:r>
            <a:r>
              <a:rPr lang="en-US" sz="95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consultar al director ante dudas sobre el alcance o criterios de evaluación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4"/>
          <p:cNvSpPr/>
          <p:nvPr/>
        </p:nvSpPr>
        <p:spPr>
          <a:xfrm>
            <a:off x="4864608" y="4008120"/>
            <a:ext cx="3877056" cy="352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7070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E07070"/>
                </a:solidFill>
                <a:latin typeface="Calibri"/>
                <a:ea typeface="Calibri"/>
                <a:cs typeface="Calibri"/>
                <a:sym typeface="Calibri"/>
              </a:rPr>
              <a:t>✘ Menos: </a:t>
            </a:r>
            <a:r>
              <a:rPr lang="en-US" sz="95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extender la etapa de planificación más allá de lo estrictamente necesario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4"/>
          <p:cNvSpPr/>
          <p:nvPr/>
        </p:nvSpPr>
        <p:spPr>
          <a:xfrm>
            <a:off x="4864608" y="4397502"/>
            <a:ext cx="3877056" cy="352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B9EC0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7B9EC0"/>
                </a:solidFill>
                <a:latin typeface="Calibri"/>
                <a:ea typeface="Calibri"/>
                <a:cs typeface="Calibri"/>
                <a:sym typeface="Calibri"/>
              </a:rPr>
              <a:t>↗ Mantener: </a:t>
            </a:r>
            <a:r>
              <a:rPr lang="en-US" sz="95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el registro de cambios del documento — actualizado en cada revisión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2E8FA0"/>
                </a:solidFill>
              </a:rPr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15"/>
          <p:cNvSpPr/>
          <p:nvPr/>
        </p:nvSpPr>
        <p:spPr>
          <a:xfrm>
            <a:off x="0" y="164592"/>
            <a:ext cx="9144000" cy="4924044"/>
          </a:xfrm>
          <a:prstGeom prst="rect">
            <a:avLst/>
          </a:prstGeom>
          <a:solidFill>
            <a:srgbClr val="253649"/>
          </a:solidFill>
          <a:ln w="12700" cap="flat" cmpd="sng">
            <a:solidFill>
              <a:srgbClr val="2536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5"/>
          <p:cNvSpPr/>
          <p:nvPr/>
        </p:nvSpPr>
        <p:spPr>
          <a:xfrm>
            <a:off x="0" y="164592"/>
            <a:ext cx="91440" cy="4924044"/>
          </a:xfrm>
          <a:prstGeom prst="rect">
            <a:avLst/>
          </a:prstGeom>
          <a:solidFill>
            <a:srgbClr val="4ABFCF"/>
          </a:solidFill>
          <a:ln w="12700" cap="flat" cmpd="sng">
            <a:solidFill>
              <a:srgbClr val="4AB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5"/>
          <p:cNvSpPr/>
          <p:nvPr/>
        </p:nvSpPr>
        <p:spPr>
          <a:xfrm>
            <a:off x="365760" y="1338942"/>
            <a:ext cx="8412480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F6FF"/>
              </a:buClr>
              <a:buSzPts val="4600"/>
              <a:buFont typeface="Calibri"/>
              <a:buNone/>
            </a:pPr>
            <a:r>
              <a:rPr lang="en-US" sz="4600" b="1" dirty="0">
                <a:solidFill>
                  <a:srgbClr val="F0F6FF"/>
                </a:solidFill>
                <a:latin typeface="Calibri"/>
                <a:ea typeface="Calibri"/>
                <a:cs typeface="Calibri"/>
                <a:sym typeface="Calibri"/>
              </a:rPr>
              <a:t>Gracias</a:t>
            </a:r>
            <a:endParaRPr sz="4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5"/>
          <p:cNvSpPr/>
          <p:nvPr/>
        </p:nvSpPr>
        <p:spPr>
          <a:xfrm>
            <a:off x="365760" y="2216766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BFCF"/>
              </a:buClr>
              <a:buSzPts val="1450"/>
              <a:buFont typeface="Calibri"/>
              <a:buNone/>
            </a:pPr>
            <a:r>
              <a:rPr lang="en-US" sz="1450" dirty="0" err="1">
                <a:solidFill>
                  <a:srgbClr val="4ABFCF"/>
                </a:solidFill>
                <a:latin typeface="Calibri"/>
                <a:ea typeface="Calibri"/>
                <a:cs typeface="Calibri"/>
                <a:sym typeface="Calibri"/>
              </a:rPr>
              <a:t>Detección</a:t>
            </a:r>
            <a:r>
              <a:rPr lang="en-US" sz="1450" dirty="0">
                <a:solidFill>
                  <a:srgbClr val="4ABFCF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450" dirty="0" err="1">
                <a:solidFill>
                  <a:srgbClr val="4ABFCF"/>
                </a:solidFill>
                <a:latin typeface="Calibri"/>
                <a:ea typeface="Calibri"/>
                <a:cs typeface="Calibri"/>
                <a:sym typeface="Calibri"/>
              </a:rPr>
              <a:t>patologías</a:t>
            </a:r>
            <a:r>
              <a:rPr lang="en-US" sz="1450" dirty="0">
                <a:solidFill>
                  <a:srgbClr val="4ABFC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50" dirty="0" err="1">
                <a:solidFill>
                  <a:srgbClr val="4ABFCF"/>
                </a:solidFill>
                <a:latin typeface="Calibri"/>
                <a:ea typeface="Calibri"/>
                <a:cs typeface="Calibri"/>
                <a:sym typeface="Calibri"/>
              </a:rPr>
              <a:t>cardiopulmonares</a:t>
            </a:r>
            <a:endParaRPr sz="14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BFCF"/>
              </a:buClr>
              <a:buSzPts val="1450"/>
              <a:buFont typeface="Calibri"/>
              <a:buNone/>
            </a:pPr>
            <a:r>
              <a:rPr lang="en-US" sz="1450" dirty="0" err="1">
                <a:solidFill>
                  <a:srgbClr val="4ABFCF"/>
                </a:solidFill>
                <a:latin typeface="Calibri"/>
                <a:ea typeface="Calibri"/>
                <a:cs typeface="Calibri"/>
                <a:sym typeface="Calibri"/>
              </a:rPr>
              <a:t>mediante</a:t>
            </a:r>
            <a:r>
              <a:rPr lang="en-US" sz="1450" dirty="0">
                <a:solidFill>
                  <a:srgbClr val="4ABFCF"/>
                </a:solidFill>
                <a:latin typeface="Calibri"/>
                <a:ea typeface="Calibri"/>
                <a:cs typeface="Calibri"/>
                <a:sym typeface="Calibri"/>
              </a:rPr>
              <a:t> redes </a:t>
            </a:r>
            <a:r>
              <a:rPr lang="en-US" sz="1450" dirty="0" err="1">
                <a:solidFill>
                  <a:srgbClr val="4ABFCF"/>
                </a:solidFill>
                <a:latin typeface="Calibri"/>
                <a:ea typeface="Calibri"/>
                <a:cs typeface="Calibri"/>
                <a:sym typeface="Calibri"/>
              </a:rPr>
              <a:t>neuronales</a:t>
            </a:r>
            <a:r>
              <a:rPr lang="en-US" sz="1450" dirty="0">
                <a:solidFill>
                  <a:srgbClr val="4ABFC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50" dirty="0" err="1">
                <a:solidFill>
                  <a:srgbClr val="4ABFCF"/>
                </a:solidFill>
                <a:latin typeface="Calibri"/>
                <a:ea typeface="Calibri"/>
                <a:cs typeface="Calibri"/>
                <a:sym typeface="Calibri"/>
              </a:rPr>
              <a:t>aplicadas</a:t>
            </a:r>
            <a:r>
              <a:rPr lang="en-US" sz="1450" dirty="0">
                <a:solidFill>
                  <a:srgbClr val="4ABFCF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US" sz="1450" dirty="0" err="1">
                <a:solidFill>
                  <a:srgbClr val="4ABFCF"/>
                </a:solidFill>
                <a:latin typeface="Calibri"/>
                <a:ea typeface="Calibri"/>
                <a:cs typeface="Calibri"/>
                <a:sym typeface="Calibri"/>
              </a:rPr>
              <a:t>señales</a:t>
            </a:r>
            <a:r>
              <a:rPr lang="en-US" sz="1450" dirty="0">
                <a:solidFill>
                  <a:srgbClr val="4ABFCF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450" dirty="0" err="1">
                <a:solidFill>
                  <a:srgbClr val="4ABFCF"/>
                </a:solidFill>
                <a:latin typeface="Calibri"/>
                <a:ea typeface="Calibri"/>
                <a:cs typeface="Calibri"/>
                <a:sym typeface="Calibri"/>
              </a:rPr>
              <a:t>auscultación</a:t>
            </a:r>
            <a:endParaRPr sz="14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5"/>
          <p:cNvSpPr/>
          <p:nvPr/>
        </p:nvSpPr>
        <p:spPr>
          <a:xfrm>
            <a:off x="347472" y="2828109"/>
            <a:ext cx="8449056" cy="20117"/>
          </a:xfrm>
          <a:prstGeom prst="rect">
            <a:avLst/>
          </a:prstGeom>
          <a:solidFill>
            <a:srgbClr val="172433"/>
          </a:solidFill>
          <a:ln w="12700" cap="flat" cmpd="sng">
            <a:solidFill>
              <a:srgbClr val="1724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5"/>
          <p:cNvSpPr/>
          <p:nvPr/>
        </p:nvSpPr>
        <p:spPr>
          <a:xfrm>
            <a:off x="365760" y="2919549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CCD8"/>
              </a:buClr>
              <a:buSzPts val="1050"/>
              <a:buFont typeface="Calibri"/>
              <a:buNone/>
            </a:pPr>
            <a:r>
              <a:rPr lang="en-US" sz="1050" dirty="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Ing. Santiago Federico Bettig  ·  Director: Dr. Ing. Leandro Javier </a:t>
            </a:r>
            <a:r>
              <a:rPr lang="en-US" sz="1050" dirty="0" err="1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Cymberknop</a:t>
            </a:r>
            <a:r>
              <a:rPr lang="en-US" sz="1050" dirty="0">
                <a:solidFill>
                  <a:srgbClr val="B8CCD8"/>
                </a:solidFill>
                <a:latin typeface="Calibri"/>
                <a:ea typeface="Calibri"/>
                <a:cs typeface="Calibri"/>
                <a:sym typeface="Calibri"/>
              </a:rPr>
              <a:t> (CIBIO – UTN FRBA)</a:t>
            </a:r>
            <a:endParaRPr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5"/>
          <p:cNvSpPr/>
          <p:nvPr/>
        </p:nvSpPr>
        <p:spPr>
          <a:xfrm>
            <a:off x="365760" y="3221301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E8DA0"/>
              </a:buClr>
              <a:buSzPts val="1000"/>
              <a:buFont typeface="Calibri"/>
              <a:buNone/>
            </a:pPr>
            <a:r>
              <a:rPr lang="en-US" sz="1000" dirty="0">
                <a:solidFill>
                  <a:srgbClr val="6E8DA0"/>
                </a:solidFill>
                <a:latin typeface="Calibri"/>
                <a:ea typeface="Calibri"/>
                <a:cs typeface="Calibri"/>
                <a:sym typeface="Calibri"/>
              </a:rPr>
              <a:t>Carrera de </a:t>
            </a:r>
            <a:r>
              <a:rPr lang="en-US" sz="1000" dirty="0" err="1">
                <a:solidFill>
                  <a:srgbClr val="6E8DA0"/>
                </a:solidFill>
                <a:latin typeface="Calibri"/>
                <a:ea typeface="Calibri"/>
                <a:cs typeface="Calibri"/>
                <a:sym typeface="Calibri"/>
              </a:rPr>
              <a:t>Especialización</a:t>
            </a:r>
            <a:r>
              <a:rPr lang="en-US" sz="1000" dirty="0">
                <a:solidFill>
                  <a:srgbClr val="6E8DA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dirty="0" err="1">
                <a:solidFill>
                  <a:srgbClr val="6E8DA0"/>
                </a:solidFill>
                <a:latin typeface="Calibri"/>
                <a:ea typeface="Calibri"/>
                <a:cs typeface="Calibri"/>
                <a:sym typeface="Calibri"/>
              </a:rPr>
              <a:t>en</a:t>
            </a:r>
            <a:r>
              <a:rPr lang="en-US" sz="1000" dirty="0">
                <a:solidFill>
                  <a:srgbClr val="6E8DA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dirty="0" err="1">
                <a:solidFill>
                  <a:srgbClr val="6E8DA0"/>
                </a:solidFill>
                <a:latin typeface="Calibri"/>
                <a:ea typeface="Calibri"/>
                <a:cs typeface="Calibri"/>
                <a:sym typeface="Calibri"/>
              </a:rPr>
              <a:t>Inteligencia</a:t>
            </a:r>
            <a:r>
              <a:rPr lang="en-US" sz="1000" dirty="0">
                <a:solidFill>
                  <a:srgbClr val="6E8DA0"/>
                </a:solidFill>
                <a:latin typeface="Calibri"/>
                <a:ea typeface="Calibri"/>
                <a:cs typeface="Calibri"/>
                <a:sym typeface="Calibri"/>
              </a:rPr>
              <a:t> Artificial  –  FIUBA  |  2026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2E8FA0"/>
                </a:solidFill>
              </a:rPr>
              <a:t>15</a:t>
            </a:fld>
            <a:endParaRPr>
              <a:solidFill>
                <a:srgbClr val="2E8FA0"/>
              </a:solidFill>
            </a:endParaRPr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FFED42AB-BCEF-D73B-7D74-24EDC6F10D78}"/>
              </a:ext>
            </a:extLst>
          </p:cNvPr>
          <p:cNvSpPr txBox="1"/>
          <p:nvPr/>
        </p:nvSpPr>
        <p:spPr>
          <a:xfrm>
            <a:off x="2400229" y="3845632"/>
            <a:ext cx="26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A0B8C8"/>
                </a:solidFill>
              </a:rPr>
              <a:t>✉</a:t>
            </a:r>
          </a:p>
        </p:txBody>
      </p:sp>
      <p:sp>
        <p:nvSpPr>
          <p:cNvPr id="3" name="TextBox 18">
            <a:extLst>
              <a:ext uri="{FF2B5EF4-FFF2-40B4-BE49-F238E27FC236}">
                <a16:creationId xmlns:a16="http://schemas.microsoft.com/office/drawing/2014/main" id="{112737DB-0ACA-ACD5-AB8B-42C92E93E342}"/>
              </a:ext>
            </a:extLst>
          </p:cNvPr>
          <p:cNvSpPr txBox="1"/>
          <p:nvPr/>
        </p:nvSpPr>
        <p:spPr>
          <a:xfrm>
            <a:off x="2644663" y="3845632"/>
            <a:ext cx="191430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Clr>
                <a:srgbClr val="B8CCD8"/>
              </a:buClr>
              <a:buSzPts val="1050"/>
            </a:pPr>
            <a:r>
              <a:rPr sz="1200" dirty="0" err="1">
                <a:solidFill>
                  <a:srgbClr val="B8CCD8"/>
                </a:solidFill>
                <a:latin typeface="Calibri"/>
                <a:ea typeface="Calibri"/>
                <a:cs typeface="Calibri"/>
              </a:rPr>
              <a:t>santiago</a:t>
            </a:r>
            <a:r>
              <a:rPr lang="es-AR" sz="1200" dirty="0">
                <a:solidFill>
                  <a:srgbClr val="B8CCD8"/>
                </a:solidFill>
                <a:latin typeface="Calibri"/>
                <a:ea typeface="Calibri"/>
                <a:cs typeface="Calibri"/>
              </a:rPr>
              <a:t>f</a:t>
            </a:r>
            <a:r>
              <a:rPr sz="1100" dirty="0" err="1">
                <a:solidFill>
                  <a:srgbClr val="B8CCD8"/>
                </a:solidFill>
                <a:latin typeface="Calibri"/>
                <a:ea typeface="Calibri"/>
                <a:cs typeface="Calibri"/>
              </a:rPr>
              <a:t>bettig</a:t>
            </a:r>
            <a:r>
              <a:rPr sz="1200" dirty="0">
                <a:solidFill>
                  <a:srgbClr val="B8CCD8"/>
                </a:solidFill>
                <a:latin typeface="Calibri"/>
                <a:ea typeface="Calibri"/>
                <a:cs typeface="Calibri"/>
              </a:rPr>
              <a:t>@</a:t>
            </a:r>
            <a:r>
              <a:rPr lang="es-AR" sz="1200" dirty="0">
                <a:solidFill>
                  <a:srgbClr val="B8CCD8"/>
                </a:solidFill>
                <a:latin typeface="Calibri"/>
                <a:ea typeface="Calibri"/>
                <a:cs typeface="Calibri"/>
              </a:rPr>
              <a:t>gmail.com</a:t>
            </a:r>
            <a:endParaRPr sz="1200" dirty="0">
              <a:solidFill>
                <a:srgbClr val="B8CCD8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4" name="Picture 19" descr="linkedin_logo.png">
            <a:extLst>
              <a:ext uri="{FF2B5EF4-FFF2-40B4-BE49-F238E27FC236}">
                <a16:creationId xmlns:a16="http://schemas.microsoft.com/office/drawing/2014/main" id="{F39854CA-2FF3-4D2E-1FD9-A2B64CAA4B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6007" y="3880007"/>
            <a:ext cx="228600" cy="228600"/>
          </a:xfrm>
          <a:prstGeom prst="rect">
            <a:avLst/>
          </a:prstGeom>
        </p:spPr>
      </p:pic>
      <p:sp>
        <p:nvSpPr>
          <p:cNvPr id="5" name="TextBox 20">
            <a:extLst>
              <a:ext uri="{FF2B5EF4-FFF2-40B4-BE49-F238E27FC236}">
                <a16:creationId xmlns:a16="http://schemas.microsoft.com/office/drawing/2014/main" id="{FCF7645E-F6C3-7FC4-B089-2DB0C3D377AC}"/>
              </a:ext>
            </a:extLst>
          </p:cNvPr>
          <p:cNvSpPr txBox="1"/>
          <p:nvPr/>
        </p:nvSpPr>
        <p:spPr>
          <a:xfrm>
            <a:off x="5310232" y="3855807"/>
            <a:ext cx="104547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s-AR" sz="1100" dirty="0">
                <a:solidFill>
                  <a:srgbClr val="B8CCD8"/>
                </a:solidFill>
                <a:latin typeface="Calibri"/>
                <a:ea typeface="Calibri"/>
                <a:cs typeface="Calibri"/>
                <a:hlinkClick r:id="rId4"/>
              </a:rPr>
              <a:t>Santiago Bettig</a:t>
            </a:r>
            <a:endParaRPr sz="1100" dirty="0">
              <a:solidFill>
                <a:srgbClr val="B8CCD8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1864</Words>
  <Application>Microsoft Office PowerPoint</Application>
  <PresentationFormat>Presentación en pantalla (16:9)</PresentationFormat>
  <Paragraphs>362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Ing. Santiago Federico Bettig</dc:creator>
  <cp:lastModifiedBy>Santiago Bettig</cp:lastModifiedBy>
  <cp:revision>3</cp:revision>
  <dcterms:created xsi:type="dcterms:W3CDTF">2026-06-06T21:38:28Z</dcterms:created>
  <dcterms:modified xsi:type="dcterms:W3CDTF">2026-06-08T22:40:33Z</dcterms:modified>
</cp:coreProperties>
</file>