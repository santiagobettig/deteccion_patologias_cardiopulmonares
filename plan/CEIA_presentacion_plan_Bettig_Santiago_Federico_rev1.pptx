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7070"/>
    <a:srgbClr val="AA7272"/>
    <a:srgbClr val="4544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4190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1E2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E8FA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56032" cy="164592"/>
          </a:xfrm>
          <a:prstGeom prst="rect">
            <a:avLst/>
          </a:prstGeom>
          <a:solidFill>
            <a:srgbClr val="3DBFA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" name="Shap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72433"/>
          </a:solidFill>
          <a:ln/>
        </p:spPr>
        <p:txBody>
          <a:bodyPr/>
          <a:lstStyle/>
          <a:p>
            <a:endParaRPr lang="es-A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30" y="219456"/>
            <a:ext cx="9144000" cy="4924044"/>
          </a:xfrm>
          <a:prstGeom prst="rect">
            <a:avLst/>
          </a:prstGeom>
          <a:solidFill>
            <a:srgbClr val="253649"/>
          </a:solidFill>
          <a:ln w="12700">
            <a:solidFill>
              <a:srgbClr val="253649"/>
            </a:solidFill>
            <a:prstDash val="solid"/>
          </a:ln>
        </p:spPr>
        <p:txBody>
          <a:bodyPr/>
          <a:lstStyle/>
          <a:p>
            <a:endParaRPr lang="es-AR" dirty="0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91440" cy="4924044"/>
          </a:xfrm>
          <a:prstGeom prst="rect">
            <a:avLst/>
          </a:prstGeom>
          <a:solidFill>
            <a:srgbClr val="4ABFCF"/>
          </a:solidFill>
          <a:ln w="12700">
            <a:solidFill>
              <a:srgbClr val="4ABFC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414745" y="1626263"/>
            <a:ext cx="8412480" cy="10803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</a:t>
            </a:r>
            <a:r>
              <a:rPr lang="en-US" sz="2400" b="1" u="sng" dirty="0" err="1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patologías</a:t>
            </a:r>
            <a:r>
              <a:rPr lang="en-US" sz="24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cardiopulmonares</a:t>
            </a:r>
            <a:r>
              <a:rPr lang="en-US" sz="24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mediante</a:t>
            </a:r>
            <a:r>
              <a:rPr lang="en-US" sz="24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redes </a:t>
            </a:r>
            <a:r>
              <a:rPr lang="en-US" sz="2400" b="1" dirty="0" err="1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neuronales</a:t>
            </a:r>
            <a:r>
              <a:rPr lang="en-US" sz="24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aplicadas</a:t>
            </a:r>
            <a:r>
              <a:rPr lang="en-US" sz="24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2400" b="1" dirty="0" err="1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señales</a:t>
            </a:r>
            <a:r>
              <a:rPr lang="en-US" sz="24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2400" b="1" dirty="0" err="1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auscultación</a:t>
            </a:r>
            <a:endParaRPr lang="en-US" sz="2400" b="1" dirty="0">
              <a:solidFill>
                <a:srgbClr val="F0F6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175564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331028" y="2886897"/>
            <a:ext cx="2560320" cy="36576"/>
          </a:xfrm>
          <a:prstGeom prst="rect">
            <a:avLst/>
          </a:prstGeom>
          <a:solidFill>
            <a:srgbClr val="3DBFA0"/>
          </a:solidFill>
          <a:ln w="12700">
            <a:solidFill>
              <a:srgbClr val="3DBFA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404948" y="3244817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Santiago Federico Bettig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04948" y="3665441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Director: Dr. Ing. Leandro Javier Cymberknop  |  CIBIO – UTN FRBA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04948" y="3976337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Carrera de Especialización en Inteligencia Artificial  –  FIUBA  |  2026</a:t>
            </a:r>
            <a:endParaRPr lang="en-US" sz="11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0DB4D16-E04E-4288-7B41-4654BC29F8EA}"/>
              </a:ext>
            </a:extLst>
          </p:cNvPr>
          <p:cNvSpPr txBox="1"/>
          <p:nvPr/>
        </p:nvSpPr>
        <p:spPr>
          <a:xfrm>
            <a:off x="1530206" y="675531"/>
            <a:ext cx="2832787" cy="707886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AR" sz="20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del plan de proyecto final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96D4D1F6-E500-E156-4F52-246EB1DB25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6743" y="491059"/>
            <a:ext cx="2793597" cy="10705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89992"/>
            <a:ext cx="1417320" cy="237744"/>
          </a:xfrm>
          <a:prstGeom prst="roundRect">
            <a:avLst>
              <a:gd name="adj" fmla="val 15385"/>
            </a:avLst>
          </a:prstGeom>
          <a:solidFill>
            <a:srgbClr val="4ABFCF"/>
          </a:solidFill>
          <a:ln w="12700">
            <a:solidFill>
              <a:srgbClr val="4ABFC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347472" y="28999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47472" y="711708"/>
            <a:ext cx="8449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 err="1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r>
              <a:rPr lang="en-US" sz="2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Proyecto y </a:t>
            </a:r>
            <a:r>
              <a:rPr lang="en-US" sz="2100" b="1" dirty="0" err="1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r>
              <a:rPr lang="en-US" sz="2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se atiende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47472" y="1450301"/>
            <a:ext cx="2651760" cy="914400"/>
          </a:xfrm>
          <a:prstGeom prst="rect">
            <a:avLst/>
          </a:prstGeom>
          <a:solidFill>
            <a:srgbClr val="2C3E52"/>
          </a:solidFill>
          <a:ln w="7620">
            <a:solidFill>
              <a:srgbClr val="E07070"/>
            </a:solidFill>
            <a:prstDash val="solid"/>
          </a:ln>
        </p:spPr>
        <p:txBody>
          <a:bodyPr/>
          <a:lstStyle/>
          <a:p>
            <a:endParaRPr lang="es-AR" dirty="0"/>
          </a:p>
        </p:txBody>
      </p:sp>
      <p:sp>
        <p:nvSpPr>
          <p:cNvPr id="6" name="Shape 4"/>
          <p:cNvSpPr/>
          <p:nvPr/>
        </p:nvSpPr>
        <p:spPr>
          <a:xfrm>
            <a:off x="347472" y="1450301"/>
            <a:ext cx="41148" cy="914400"/>
          </a:xfrm>
          <a:prstGeom prst="rect">
            <a:avLst/>
          </a:prstGeom>
          <a:solidFill>
            <a:srgbClr val="E07070"/>
          </a:solidFill>
          <a:ln w="12700">
            <a:solidFill>
              <a:srgbClr val="E0707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429768" y="1564601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38912" y="1884641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muertes</a:t>
            </a:r>
            <a:r>
              <a:rPr lang="en-US" sz="12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/año por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enfermedades</a:t>
            </a:r>
            <a:r>
              <a:rPr lang="en-US" sz="12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cardíacas (OMS)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91256" y="1450301"/>
            <a:ext cx="2651760" cy="914400"/>
          </a:xfrm>
          <a:prstGeom prst="rect">
            <a:avLst/>
          </a:prstGeom>
          <a:solidFill>
            <a:srgbClr val="2C3E52"/>
          </a:solidFill>
          <a:ln w="7620">
            <a:solidFill>
              <a:srgbClr val="D4A847"/>
            </a:solidFill>
            <a:prstDash val="solid"/>
          </a:ln>
        </p:spPr>
        <p:txBody>
          <a:bodyPr/>
          <a:lstStyle/>
          <a:p>
            <a:endParaRPr lang="es-AR" dirty="0"/>
          </a:p>
        </p:txBody>
      </p:sp>
      <p:sp>
        <p:nvSpPr>
          <p:cNvPr id="10" name="Shape 8"/>
          <p:cNvSpPr/>
          <p:nvPr/>
        </p:nvSpPr>
        <p:spPr>
          <a:xfrm>
            <a:off x="3191256" y="1450301"/>
            <a:ext cx="41148" cy="914400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3282696" y="1496021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500M+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282696" y="1884641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</a:t>
            </a:r>
            <a:r>
              <a:rPr lang="en-US" sz="120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afectadas</a:t>
            </a:r>
            <a:endParaRPr lang="en-US" sz="1200" dirty="0">
              <a:solidFill>
                <a:srgbClr val="B8CCD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20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2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enfermedades</a:t>
            </a:r>
            <a:r>
              <a:rPr lang="en-US" sz="12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respiratorias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450301"/>
            <a:ext cx="2651760" cy="914400"/>
          </a:xfrm>
          <a:prstGeom prst="rect">
            <a:avLst/>
          </a:prstGeom>
          <a:solidFill>
            <a:srgbClr val="2C3E52"/>
          </a:solidFill>
          <a:ln w="7620">
            <a:solidFill>
              <a:srgbClr val="4ABFC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Shape 12"/>
          <p:cNvSpPr/>
          <p:nvPr/>
        </p:nvSpPr>
        <p:spPr>
          <a:xfrm>
            <a:off x="6035040" y="1450301"/>
            <a:ext cx="41148" cy="914400"/>
          </a:xfrm>
          <a:prstGeom prst="rect">
            <a:avLst/>
          </a:prstGeom>
          <a:solidFill>
            <a:srgbClr val="4ABFCF"/>
          </a:solidFill>
          <a:ln w="12700">
            <a:solidFill>
              <a:srgbClr val="4ABFC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Text 13"/>
          <p:cNvSpPr/>
          <p:nvPr/>
        </p:nvSpPr>
        <p:spPr>
          <a:xfrm>
            <a:off x="6126480" y="1496021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A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1ª causa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137910" y="1907501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mortalidad global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nivel mundial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47472" y="2602445"/>
            <a:ext cx="2651760" cy="930870"/>
          </a:xfrm>
          <a:prstGeom prst="rect">
            <a:avLst/>
          </a:prstGeom>
          <a:solidFill>
            <a:srgbClr val="2C3E52"/>
          </a:solidFill>
          <a:ln w="7620">
            <a:solidFill>
              <a:srgbClr val="4ABFCF"/>
            </a:solidFill>
            <a:prstDash val="solid"/>
          </a:ln>
        </p:spPr>
        <p:txBody>
          <a:bodyPr/>
          <a:lstStyle/>
          <a:p>
            <a:endParaRPr lang="es-AR" dirty="0"/>
          </a:p>
        </p:txBody>
      </p:sp>
      <p:sp>
        <p:nvSpPr>
          <p:cNvPr id="18" name="Shape 16"/>
          <p:cNvSpPr/>
          <p:nvPr/>
        </p:nvSpPr>
        <p:spPr>
          <a:xfrm>
            <a:off x="347472" y="2602445"/>
            <a:ext cx="41148" cy="930870"/>
          </a:xfrm>
          <a:prstGeom prst="rect">
            <a:avLst/>
          </a:prstGeom>
          <a:solidFill>
            <a:srgbClr val="4ABFCF"/>
          </a:solidFill>
          <a:ln w="12700">
            <a:solidFill>
              <a:srgbClr val="4ABFC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9" name="Text 17"/>
          <p:cNvSpPr/>
          <p:nvPr/>
        </p:nvSpPr>
        <p:spPr>
          <a:xfrm>
            <a:off x="458505" y="2693885"/>
            <a:ext cx="2487168" cy="18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Limitación de la auscultación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49361" y="2932391"/>
            <a:ext cx="2487168" cy="593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auscultación es no invasiva y de bajo costo, pero su precisión depende de la experiencia del profesional.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191256" y="2602445"/>
            <a:ext cx="2651760" cy="930870"/>
          </a:xfrm>
          <a:prstGeom prst="rect">
            <a:avLst/>
          </a:prstGeom>
          <a:solidFill>
            <a:srgbClr val="2C3E52"/>
          </a:solidFill>
          <a:ln w="7620">
            <a:solidFill>
              <a:srgbClr val="4ABFC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2" name="Shape 20"/>
          <p:cNvSpPr/>
          <p:nvPr/>
        </p:nvSpPr>
        <p:spPr>
          <a:xfrm>
            <a:off x="3191256" y="2602445"/>
            <a:ext cx="41148" cy="930870"/>
          </a:xfrm>
          <a:prstGeom prst="rect">
            <a:avLst/>
          </a:prstGeom>
          <a:solidFill>
            <a:srgbClr val="4ABFCF"/>
          </a:solidFill>
          <a:ln w="12700">
            <a:solidFill>
              <a:srgbClr val="4ABFC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3" name="Text 21"/>
          <p:cNvSpPr/>
          <p:nvPr/>
        </p:nvSpPr>
        <p:spPr>
          <a:xfrm>
            <a:off x="3308820" y="2693885"/>
            <a:ext cx="2487168" cy="18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 de acceso en Latinoamérica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08820" y="2927714"/>
            <a:ext cx="2487168" cy="593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médico general interpreta sonidos cardiopulmonares sin el criterio de un cardiólogo o neumólogo.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35040" y="2611589"/>
            <a:ext cx="2651760" cy="930870"/>
          </a:xfrm>
          <a:prstGeom prst="rect">
            <a:avLst/>
          </a:prstGeom>
          <a:solidFill>
            <a:srgbClr val="2C3E52"/>
          </a:solidFill>
          <a:ln w="7620">
            <a:solidFill>
              <a:srgbClr val="3DBFA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6" name="Shape 24"/>
          <p:cNvSpPr/>
          <p:nvPr/>
        </p:nvSpPr>
        <p:spPr>
          <a:xfrm>
            <a:off x="6035039" y="2611589"/>
            <a:ext cx="45719" cy="914400"/>
          </a:xfrm>
          <a:prstGeom prst="rect">
            <a:avLst/>
          </a:prstGeom>
          <a:solidFill>
            <a:srgbClr val="3DBFA0"/>
          </a:solidFill>
          <a:ln w="12700">
            <a:solidFill>
              <a:srgbClr val="3DBFA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7" name="Text 25"/>
          <p:cNvSpPr/>
          <p:nvPr/>
        </p:nvSpPr>
        <p:spPr>
          <a:xfrm>
            <a:off x="6159135" y="2662311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</a:t>
            </a:r>
            <a:r>
              <a:rPr lang="en-US" sz="1100" b="1" dirty="0" err="1">
                <a:solidFill>
                  <a:srgbClr val="3D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r>
              <a:rPr lang="en-US" sz="1100" b="1" dirty="0">
                <a:solidFill>
                  <a:srgbClr val="3D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3D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temprano</a:t>
            </a:r>
            <a:r>
              <a:rPr lang="en-US" sz="1100" b="1" dirty="0">
                <a:solidFill>
                  <a:srgbClr val="3D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fundamental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57503" y="2937529"/>
            <a:ext cx="2487168" cy="467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</a:t>
            </a:r>
            <a:r>
              <a:rPr lang="en-US" sz="110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enfermedades</a:t>
            </a:r>
            <a:r>
              <a:rPr lang="en-US" sz="11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cardiovasculares y respiratorias el diagnóstico temprano mejora el pronóstico y reduce costos.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89992"/>
            <a:ext cx="1417320" cy="237744"/>
          </a:xfrm>
          <a:prstGeom prst="roundRect">
            <a:avLst>
              <a:gd name="adj" fmla="val 15385"/>
            </a:avLst>
          </a:prstGeom>
          <a:solidFill>
            <a:srgbClr val="4ABFCF"/>
          </a:solidFill>
          <a:ln w="12700">
            <a:solidFill>
              <a:srgbClr val="4ABFC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347472" y="28999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47472" y="581295"/>
            <a:ext cx="8449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del arte y propuesta de valor diferencial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47471" y="1144129"/>
            <a:ext cx="4992253" cy="1883605"/>
          </a:xfrm>
          <a:prstGeom prst="rect">
            <a:avLst/>
          </a:prstGeom>
          <a:solidFill>
            <a:srgbClr val="2C3E52"/>
          </a:solidFill>
          <a:ln w="6350">
            <a:solidFill>
              <a:srgbClr val="6E8DA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457199" y="1235568"/>
            <a:ext cx="4766359" cy="2250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del arte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199" y="1528176"/>
            <a:ext cx="4721181" cy="45719"/>
          </a:xfrm>
          <a:prstGeom prst="rect">
            <a:avLst/>
          </a:prstGeom>
          <a:solidFill>
            <a:srgbClr val="172433"/>
          </a:solidFill>
          <a:ln w="12700">
            <a:solidFill>
              <a:srgbClr val="17243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435064" y="1536195"/>
            <a:ext cx="4810257" cy="15020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</a:t>
            </a:r>
            <a:r>
              <a:rPr lang="en-US" sz="120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convolucionales</a:t>
            </a:r>
            <a:r>
              <a:rPr lang="en-US" sz="12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</a:t>
            </a:r>
            <a:r>
              <a:rPr lang="en-US" sz="12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representaciones</a:t>
            </a:r>
            <a:r>
              <a:rPr lang="en-US" sz="12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MEL y </a:t>
            </a:r>
            <a:r>
              <a:rPr lang="en-US" sz="120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vectores</a:t>
            </a:r>
            <a:r>
              <a:rPr lang="en-US" sz="12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MFCC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Arquitecturas híbridas con mecanismos de </a:t>
            </a:r>
            <a:r>
              <a:rPr lang="en-US" sz="120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</a:t>
            </a:r>
            <a:r>
              <a:rPr lang="en-US" sz="12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2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mejoran</a:t>
            </a:r>
            <a:r>
              <a:rPr lang="en-US" sz="12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precision.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aceleró el interés en </a:t>
            </a:r>
            <a:r>
              <a:rPr lang="en-US" sz="120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r>
              <a:rPr lang="en-US" sz="12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automatizado</a:t>
            </a:r>
            <a:r>
              <a:rPr lang="en-US" sz="12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sistemas tratan sonidos cardíacos y pulmonares </a:t>
            </a:r>
            <a:r>
              <a:rPr lang="en-US" sz="1200" dirty="0" err="1">
                <a:solidFill>
                  <a:srgbClr val="E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200" dirty="0">
                <a:solidFill>
                  <a:srgbClr val="E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E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separado</a:t>
            </a:r>
            <a:r>
              <a:rPr lang="en-US" sz="1200" dirty="0">
                <a:solidFill>
                  <a:srgbClr val="E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refleja la práctica clínica real </a:t>
            </a:r>
            <a:r>
              <a:rPr lang="en-US" sz="1200" dirty="0" err="1">
                <a:solidFill>
                  <a:srgbClr val="E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integrada</a:t>
            </a:r>
            <a:r>
              <a:rPr lang="en-US" sz="1200" dirty="0">
                <a:solidFill>
                  <a:srgbClr val="E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  <a:p>
            <a:pPr marL="342900" indent="-342900">
              <a:buChar char="•"/>
            </a:pPr>
            <a:r>
              <a:rPr lang="en-US" sz="1200" dirty="0">
                <a:solidFill>
                  <a:srgbClr val="E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Ausencia de validación </a:t>
            </a:r>
            <a:r>
              <a:rPr lang="en-US" sz="1200" dirty="0" err="1">
                <a:solidFill>
                  <a:srgbClr val="E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integrada</a:t>
            </a:r>
            <a:r>
              <a:rPr lang="en-US" sz="1200" dirty="0">
                <a:solidFill>
                  <a:srgbClr val="E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E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cardíaco-pulmonar</a:t>
            </a:r>
            <a:r>
              <a:rPr lang="en-US" sz="1200" dirty="0">
                <a:solidFill>
                  <a:srgbClr val="E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</p:txBody>
      </p:sp>
      <p:sp>
        <p:nvSpPr>
          <p:cNvPr id="10" name="Shape 8"/>
          <p:cNvSpPr/>
          <p:nvPr/>
        </p:nvSpPr>
        <p:spPr>
          <a:xfrm>
            <a:off x="347472" y="3207902"/>
            <a:ext cx="4992252" cy="1540395"/>
          </a:xfrm>
          <a:prstGeom prst="rect">
            <a:avLst/>
          </a:prstGeom>
          <a:solidFill>
            <a:srgbClr val="2C3E52"/>
          </a:solidFill>
          <a:ln w="10160">
            <a:solidFill>
              <a:srgbClr val="3DBFA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Shape 9"/>
          <p:cNvSpPr/>
          <p:nvPr/>
        </p:nvSpPr>
        <p:spPr>
          <a:xfrm>
            <a:off x="347472" y="3207902"/>
            <a:ext cx="51564" cy="1540395"/>
          </a:xfrm>
          <a:prstGeom prst="rect">
            <a:avLst/>
          </a:prstGeom>
          <a:solidFill>
            <a:srgbClr val="3DBFA0"/>
          </a:solidFill>
          <a:ln w="12700">
            <a:solidFill>
              <a:srgbClr val="3DBFA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465037" y="3351509"/>
            <a:ext cx="4858532" cy="171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D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valor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65036" y="3591950"/>
            <a:ext cx="4713409" cy="47789"/>
          </a:xfrm>
          <a:prstGeom prst="rect">
            <a:avLst/>
          </a:prstGeom>
          <a:solidFill>
            <a:srgbClr val="172433"/>
          </a:solidFill>
          <a:ln w="12700">
            <a:solidFill>
              <a:srgbClr val="17243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/>
          <p:nvPr/>
        </p:nvSpPr>
        <p:spPr>
          <a:xfrm>
            <a:off x="450341" y="3591951"/>
            <a:ext cx="4835615" cy="1198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unificado: cardíacos + pulmonares en un único modelo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fiel a la práctica clínica real del médico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Segunda opinión objetiva y reproducible para el médico general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de </a:t>
            </a:r>
            <a:r>
              <a:rPr lang="en-US" sz="12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apoyo</a:t>
            </a:r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 reemplaza el criterio clínico</a:t>
            </a:r>
            <a:endParaRPr lang="en-US" sz="1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de carácter académico y acceso abierto (CIBIO)</a:t>
            </a:r>
            <a:endParaRPr lang="en-US" sz="1000" dirty="0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F19CA1D0-39CE-7376-5C2F-BB272F6C4D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5763" y="2273345"/>
            <a:ext cx="3492668" cy="136639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89992"/>
            <a:ext cx="1417320" cy="237744"/>
          </a:xfrm>
          <a:prstGeom prst="roundRect">
            <a:avLst>
              <a:gd name="adj" fmla="val 15385"/>
            </a:avLst>
          </a:prstGeom>
          <a:solidFill>
            <a:srgbClr val="4ABFCF"/>
          </a:solidFill>
          <a:ln w="12700">
            <a:solidFill>
              <a:srgbClr val="4ABFC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347472" y="28999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INTERESADOS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47472" y="692331"/>
            <a:ext cx="8449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 y análisis de los interesados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47472" y="1389888"/>
            <a:ext cx="4041648" cy="1616202"/>
          </a:xfrm>
          <a:prstGeom prst="rect">
            <a:avLst/>
          </a:prstGeom>
          <a:solidFill>
            <a:srgbClr val="2C3E52"/>
          </a:solidFill>
          <a:ln w="7620">
            <a:solidFill>
              <a:srgbClr val="D4A84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Shape 4"/>
          <p:cNvSpPr/>
          <p:nvPr/>
        </p:nvSpPr>
        <p:spPr>
          <a:xfrm>
            <a:off x="347472" y="1389888"/>
            <a:ext cx="41148" cy="1616202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465036" y="1463040"/>
            <a:ext cx="3877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65036" y="1682496"/>
            <a:ext cx="3877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Ing. Leandro Javier Cymberknop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5036" y="1975104"/>
            <a:ext cx="3877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CIBIO – UTN FRBA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5036" y="2194560"/>
            <a:ext cx="3858768" cy="20117"/>
          </a:xfrm>
          <a:prstGeom prst="rect">
            <a:avLst/>
          </a:prstGeom>
          <a:solidFill>
            <a:srgbClr val="172433"/>
          </a:solidFill>
          <a:ln w="12700">
            <a:solidFill>
              <a:srgbClr val="17243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465036" y="2258568"/>
            <a:ext cx="3877056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Investigador Categoría A en UTN FRBA. Director del grupo CIBIO. Docente de ASyS. Experto en IA médica.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7472" y="3207258"/>
            <a:ext cx="4041648" cy="1616202"/>
          </a:xfrm>
          <a:prstGeom prst="rect">
            <a:avLst/>
          </a:prstGeom>
          <a:solidFill>
            <a:srgbClr val="2C3E52"/>
          </a:solidFill>
          <a:ln w="7620">
            <a:solidFill>
              <a:srgbClr val="4ABFC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Shape 11"/>
          <p:cNvSpPr/>
          <p:nvPr/>
        </p:nvSpPr>
        <p:spPr>
          <a:xfrm>
            <a:off x="347472" y="3207258"/>
            <a:ext cx="41148" cy="1616202"/>
          </a:xfrm>
          <a:prstGeom prst="rect">
            <a:avLst/>
          </a:prstGeom>
          <a:solidFill>
            <a:srgbClr val="4ABFCF"/>
          </a:solidFill>
          <a:ln w="12700">
            <a:solidFill>
              <a:srgbClr val="4ABFC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/>
          <p:nvPr/>
        </p:nvSpPr>
        <p:spPr>
          <a:xfrm>
            <a:off x="465036" y="3280410"/>
            <a:ext cx="3877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A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65036" y="3499866"/>
            <a:ext cx="3877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Santiago Federico Bettig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5036" y="3792474"/>
            <a:ext cx="3877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FIUBA – CEIA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5036" y="4011930"/>
            <a:ext cx="3858768" cy="20117"/>
          </a:xfrm>
          <a:prstGeom prst="rect">
            <a:avLst/>
          </a:prstGeom>
          <a:solidFill>
            <a:srgbClr val="172433"/>
          </a:solidFill>
          <a:ln w="12700">
            <a:solidFill>
              <a:srgbClr val="17243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8" name="Text 16"/>
          <p:cNvSpPr/>
          <p:nvPr/>
        </p:nvSpPr>
        <p:spPr>
          <a:xfrm>
            <a:off x="465036" y="4075938"/>
            <a:ext cx="3877056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Desarrollador de firmware (+5 años), experiencia en DSP y proyectos médicos. Cursa la </a:t>
            </a:r>
            <a:r>
              <a:rPr lang="en-US" sz="105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Especialización</a:t>
            </a:r>
            <a:r>
              <a:rPr lang="en-US" sz="10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0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</a:t>
            </a:r>
            <a:r>
              <a:rPr lang="en-US" sz="10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Artificial.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73168" y="1389888"/>
            <a:ext cx="4041648" cy="1616202"/>
          </a:xfrm>
          <a:prstGeom prst="rect">
            <a:avLst/>
          </a:prstGeom>
          <a:solidFill>
            <a:srgbClr val="2C3E52"/>
          </a:solidFill>
          <a:ln w="7620">
            <a:solidFill>
              <a:srgbClr val="3DBFA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0" name="Shape 18"/>
          <p:cNvSpPr/>
          <p:nvPr/>
        </p:nvSpPr>
        <p:spPr>
          <a:xfrm>
            <a:off x="4773168" y="1389888"/>
            <a:ext cx="41148" cy="1616202"/>
          </a:xfrm>
          <a:prstGeom prst="rect">
            <a:avLst/>
          </a:prstGeom>
          <a:solidFill>
            <a:srgbClr val="3DBFA0"/>
          </a:solidFill>
          <a:ln w="12700">
            <a:solidFill>
              <a:srgbClr val="3DBFA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1" name="Text 19"/>
          <p:cNvSpPr/>
          <p:nvPr/>
        </p:nvSpPr>
        <p:spPr>
          <a:xfrm>
            <a:off x="4890732" y="1463040"/>
            <a:ext cx="3877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D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ORIENTADOR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890732" y="1682496"/>
            <a:ext cx="3877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de investigación CIBIO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90732" y="1975104"/>
            <a:ext cx="3877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UTN FRBA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90732" y="2194560"/>
            <a:ext cx="3858768" cy="20117"/>
          </a:xfrm>
          <a:prstGeom prst="rect">
            <a:avLst/>
          </a:prstGeom>
          <a:solidFill>
            <a:srgbClr val="172433"/>
          </a:solidFill>
          <a:ln w="12700">
            <a:solidFill>
              <a:srgbClr val="17243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5" name="Text 23"/>
          <p:cNvSpPr/>
          <p:nvPr/>
        </p:nvSpPr>
        <p:spPr>
          <a:xfrm>
            <a:off x="4890732" y="2258568"/>
            <a:ext cx="3877056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Investigadores del CIBIO capaces de asistir al responsable en el desarrollo técnico del proyecto.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73168" y="3207258"/>
            <a:ext cx="4041648" cy="1616202"/>
          </a:xfrm>
          <a:prstGeom prst="rect">
            <a:avLst/>
          </a:prstGeom>
          <a:solidFill>
            <a:srgbClr val="2C3E52"/>
          </a:solidFill>
          <a:ln w="7620">
            <a:solidFill>
              <a:srgbClr val="7B9EC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7" name="Shape 25"/>
          <p:cNvSpPr/>
          <p:nvPr/>
        </p:nvSpPr>
        <p:spPr>
          <a:xfrm>
            <a:off x="4773168" y="3207258"/>
            <a:ext cx="41148" cy="1616202"/>
          </a:xfrm>
          <a:prstGeom prst="rect">
            <a:avLst/>
          </a:prstGeom>
          <a:solidFill>
            <a:srgbClr val="7B9EC0"/>
          </a:solidFill>
          <a:ln w="12700">
            <a:solidFill>
              <a:srgbClr val="7B9EC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8" name="Text 26"/>
          <p:cNvSpPr/>
          <p:nvPr/>
        </p:nvSpPr>
        <p:spPr>
          <a:xfrm>
            <a:off x="4890732" y="3280410"/>
            <a:ext cx="3877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FINAL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890732" y="3499866"/>
            <a:ext cx="3877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Médicos generalistas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90732" y="3792474"/>
            <a:ext cx="3877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salud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90732" y="4011930"/>
            <a:ext cx="3858768" cy="20117"/>
          </a:xfrm>
          <a:prstGeom prst="rect">
            <a:avLst/>
          </a:prstGeom>
          <a:solidFill>
            <a:srgbClr val="172433"/>
          </a:solidFill>
          <a:ln w="12700">
            <a:solidFill>
              <a:srgbClr val="17243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2" name="Text 30"/>
          <p:cNvSpPr/>
          <p:nvPr/>
        </p:nvSpPr>
        <p:spPr>
          <a:xfrm>
            <a:off x="4890732" y="4075938"/>
            <a:ext cx="3877056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Médicos generales, especialistas e instituciones de salud. Usuarios potenciales del sistema de apoyo.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89992"/>
            <a:ext cx="1417320" cy="237744"/>
          </a:xfrm>
          <a:prstGeom prst="roundRect">
            <a:avLst>
              <a:gd name="adj" fmla="val 15385"/>
            </a:avLst>
          </a:prstGeom>
          <a:solidFill>
            <a:srgbClr val="4ABFCF"/>
          </a:solidFill>
          <a:ln w="12700">
            <a:solidFill>
              <a:srgbClr val="4ABFC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347472" y="28999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47472" y="548640"/>
            <a:ext cx="8449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Propósito, alcance y supuestos del proyecto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47472" y="2322903"/>
            <a:ext cx="4041648" cy="1719072"/>
          </a:xfrm>
          <a:prstGeom prst="rect">
            <a:avLst/>
          </a:prstGeom>
          <a:solidFill>
            <a:srgbClr val="2C3E52"/>
          </a:solidFill>
          <a:ln w="7620">
            <a:solidFill>
              <a:srgbClr val="4ABFC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Shape 4"/>
          <p:cNvSpPr/>
          <p:nvPr/>
        </p:nvSpPr>
        <p:spPr>
          <a:xfrm>
            <a:off x="347472" y="2322903"/>
            <a:ext cx="41148" cy="1719072"/>
          </a:xfrm>
          <a:prstGeom prst="rect">
            <a:avLst/>
          </a:prstGeom>
          <a:solidFill>
            <a:srgbClr val="4ABFCF"/>
          </a:solidFill>
          <a:ln w="12700">
            <a:solidFill>
              <a:srgbClr val="4ABFC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438912" y="2414343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El proyecto incluye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" y="2706951"/>
            <a:ext cx="3877056" cy="20117"/>
          </a:xfrm>
          <a:prstGeom prst="rect">
            <a:avLst/>
          </a:prstGeom>
          <a:solidFill>
            <a:srgbClr val="172433"/>
          </a:solidFill>
          <a:ln w="12700">
            <a:solidFill>
              <a:srgbClr val="17243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438912" y="2780103"/>
            <a:ext cx="387705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Recopilación</a:t>
            </a:r>
            <a:r>
              <a:rPr lang="en-US" sz="11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10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procesamiento</a:t>
            </a:r>
            <a:r>
              <a:rPr lang="en-US" sz="11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datasets </a:t>
            </a:r>
            <a:r>
              <a:rPr lang="en-US" sz="110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Extracción</a:t>
            </a:r>
            <a:r>
              <a:rPr lang="en-US" sz="11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features: </a:t>
            </a:r>
            <a:r>
              <a:rPr lang="en-US" sz="110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espectrogramas</a:t>
            </a:r>
            <a:r>
              <a:rPr lang="en-US" sz="11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Mel + MFCC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</a:t>
            </a:r>
            <a:r>
              <a:rPr lang="en-US" sz="11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entrenamiento y validación de </a:t>
            </a:r>
            <a:r>
              <a:rPr lang="en-US" sz="110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</a:t>
            </a:r>
            <a:r>
              <a:rPr lang="en-US" sz="11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0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73168" y="2322903"/>
            <a:ext cx="4041648" cy="1719072"/>
          </a:xfrm>
          <a:prstGeom prst="rect">
            <a:avLst/>
          </a:prstGeom>
          <a:solidFill>
            <a:srgbClr val="2C3E52"/>
          </a:solidFill>
          <a:ln w="7620">
            <a:solidFill>
              <a:srgbClr val="E0707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Shape 9"/>
          <p:cNvSpPr/>
          <p:nvPr/>
        </p:nvSpPr>
        <p:spPr>
          <a:xfrm>
            <a:off x="4773168" y="2322903"/>
            <a:ext cx="41148" cy="1719072"/>
          </a:xfrm>
          <a:prstGeom prst="rect">
            <a:avLst/>
          </a:prstGeom>
          <a:solidFill>
            <a:srgbClr val="E07070"/>
          </a:solidFill>
          <a:ln w="12700">
            <a:solidFill>
              <a:srgbClr val="E0707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4864608" y="2414343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El proyecto no incluye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64608" y="2706951"/>
            <a:ext cx="3877056" cy="20117"/>
          </a:xfrm>
          <a:prstGeom prst="rect">
            <a:avLst/>
          </a:prstGeom>
          <a:solidFill>
            <a:srgbClr val="172433"/>
          </a:solidFill>
          <a:ln w="12700">
            <a:solidFill>
              <a:srgbClr val="17243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/>
          <p:nvPr/>
        </p:nvSpPr>
        <p:spPr>
          <a:xfrm>
            <a:off x="4864608" y="2780103"/>
            <a:ext cx="387705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 hardware o integración con estetoscopio físico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clínica con pacientes reales ni aprobación regulatoria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en producción o entorno médico real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 err="1">
                <a:solidFill>
                  <a:srgbClr val="E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r>
              <a:rPr lang="en-US" sz="1100" dirty="0">
                <a:solidFill>
                  <a:srgbClr val="E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definitive: </a:t>
            </a:r>
            <a:r>
              <a:rPr lang="en-US" sz="1100" dirty="0" err="1">
                <a:solidFill>
                  <a:srgbClr val="E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1100" dirty="0">
                <a:solidFill>
                  <a:srgbClr val="E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E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r>
              <a:rPr lang="en-US" sz="1100" dirty="0">
                <a:solidFill>
                  <a:srgbClr val="E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solo </a:t>
            </a:r>
            <a:r>
              <a:rPr lang="en-US" sz="1100" dirty="0" err="1">
                <a:solidFill>
                  <a:srgbClr val="E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</a:t>
            </a:r>
            <a:r>
              <a:rPr lang="en-US" sz="1100" dirty="0">
                <a:solidFill>
                  <a:srgbClr val="E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00" dirty="0" err="1">
                <a:solidFill>
                  <a:srgbClr val="E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apoyo</a:t>
            </a:r>
            <a:endParaRPr lang="en-US" sz="1100" dirty="0">
              <a:solidFill>
                <a:srgbClr val="E07070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47472" y="4169991"/>
            <a:ext cx="8449056" cy="347472"/>
          </a:xfrm>
          <a:prstGeom prst="rect">
            <a:avLst/>
          </a:prstGeom>
          <a:solidFill>
            <a:srgbClr val="253649"/>
          </a:solidFill>
          <a:ln w="5080">
            <a:solidFill>
              <a:srgbClr val="17243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/>
          <p:nvPr/>
        </p:nvSpPr>
        <p:spPr>
          <a:xfrm>
            <a:off x="457200" y="4197423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E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Supuestos: tiempo extralaboral suficiente · datasets accesibles · hardware adecuado · orientación del director del TF y del grupo CIBIO</a:t>
            </a:r>
            <a:endParaRPr lang="en-US" sz="1000" dirty="0"/>
          </a:p>
        </p:txBody>
      </p:sp>
      <p:sp>
        <p:nvSpPr>
          <p:cNvPr id="17" name="Shape 23">
            <a:extLst>
              <a:ext uri="{FF2B5EF4-FFF2-40B4-BE49-F238E27FC236}">
                <a16:creationId xmlns:a16="http://schemas.microsoft.com/office/drawing/2014/main" id="{0FB73ACB-E47B-8A20-9F9E-2A89CAE02946}"/>
              </a:ext>
            </a:extLst>
          </p:cNvPr>
          <p:cNvSpPr/>
          <p:nvPr/>
        </p:nvSpPr>
        <p:spPr>
          <a:xfrm>
            <a:off x="1868646" y="1186551"/>
            <a:ext cx="5127243" cy="936389"/>
          </a:xfrm>
          <a:prstGeom prst="rect">
            <a:avLst/>
          </a:prstGeom>
          <a:solidFill>
            <a:srgbClr val="2C3E52"/>
          </a:solidFill>
          <a:ln w="7620">
            <a:solidFill>
              <a:srgbClr val="3DBFA0"/>
            </a:solidFill>
            <a:prstDash val="solid"/>
          </a:ln>
        </p:spPr>
        <p:txBody>
          <a:bodyPr/>
          <a:lstStyle/>
          <a:p>
            <a:endParaRPr lang="es-AR" dirty="0"/>
          </a:p>
        </p:txBody>
      </p:sp>
      <p:sp>
        <p:nvSpPr>
          <p:cNvPr id="18" name="Shape 24">
            <a:extLst>
              <a:ext uri="{FF2B5EF4-FFF2-40B4-BE49-F238E27FC236}">
                <a16:creationId xmlns:a16="http://schemas.microsoft.com/office/drawing/2014/main" id="{AA6306CB-FA7A-BBBB-D21C-546C8E645587}"/>
              </a:ext>
            </a:extLst>
          </p:cNvPr>
          <p:cNvSpPr/>
          <p:nvPr/>
        </p:nvSpPr>
        <p:spPr>
          <a:xfrm>
            <a:off x="1874157" y="1199613"/>
            <a:ext cx="46745" cy="920447"/>
          </a:xfrm>
          <a:prstGeom prst="rect">
            <a:avLst/>
          </a:prstGeom>
          <a:solidFill>
            <a:srgbClr val="3DBFA0"/>
          </a:solidFill>
          <a:ln w="12700">
            <a:solidFill>
              <a:srgbClr val="3DBFA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D07D9222-D040-5787-9C33-770A515CB30B}"/>
              </a:ext>
            </a:extLst>
          </p:cNvPr>
          <p:cNvSpPr txBox="1"/>
          <p:nvPr/>
        </p:nvSpPr>
        <p:spPr>
          <a:xfrm>
            <a:off x="2006586" y="1503002"/>
            <a:ext cx="503853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0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una herramienta de apoyo al diagnóstico médico basada en inteligencia artificial, capaz de analizar y clasificar sonidos cardíacos y pulmonares obtenidos </a:t>
            </a:r>
            <a:r>
              <a:rPr lang="es-AR" sz="10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mediante un estetoscopio digital.</a:t>
            </a:r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DBED13CA-0433-6587-8270-F3782A6D6032}"/>
              </a:ext>
            </a:extLst>
          </p:cNvPr>
          <p:cNvSpPr/>
          <p:nvPr/>
        </p:nvSpPr>
        <p:spPr>
          <a:xfrm>
            <a:off x="2033567" y="1210509"/>
            <a:ext cx="5014757" cy="248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3D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Propósito</a:t>
            </a:r>
            <a:endParaRPr lang="en-US" sz="1100" dirty="0"/>
          </a:p>
        </p:txBody>
      </p:sp>
      <p:sp>
        <p:nvSpPr>
          <p:cNvPr id="23" name="Shape 6">
            <a:extLst>
              <a:ext uri="{FF2B5EF4-FFF2-40B4-BE49-F238E27FC236}">
                <a16:creationId xmlns:a16="http://schemas.microsoft.com/office/drawing/2014/main" id="{24CA74AD-38A4-A42B-2632-D48A8643B79A}"/>
              </a:ext>
            </a:extLst>
          </p:cNvPr>
          <p:cNvSpPr/>
          <p:nvPr/>
        </p:nvSpPr>
        <p:spPr>
          <a:xfrm>
            <a:off x="2033564" y="1466780"/>
            <a:ext cx="4799098" cy="25807"/>
          </a:xfrm>
          <a:prstGeom prst="rect">
            <a:avLst/>
          </a:prstGeom>
          <a:solidFill>
            <a:srgbClr val="172433"/>
          </a:solidFill>
          <a:ln w="12700">
            <a:solidFill>
              <a:srgbClr val="17243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83461"/>
            <a:ext cx="1417320" cy="237744"/>
          </a:xfrm>
          <a:prstGeom prst="roundRect">
            <a:avLst>
              <a:gd name="adj" fmla="val 15385"/>
            </a:avLst>
          </a:prstGeom>
          <a:solidFill>
            <a:srgbClr val="4ABFCF"/>
          </a:solidFill>
          <a:ln w="12700">
            <a:solidFill>
              <a:srgbClr val="4ABFC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347472" y="283461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47472" y="548640"/>
            <a:ext cx="8449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Backlog  —  10 Historias de Usuario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47472" y="1042416"/>
            <a:ext cx="8449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Points (Fibonacci): SP = Dificultad + Complejidad + Incertidumbre → redondeado al </a:t>
            </a:r>
            <a:r>
              <a:rPr lang="en-US" sz="1000" dirty="0" err="1">
                <a:solidFill>
                  <a:srgbClr val="6E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</a:t>
            </a:r>
            <a:r>
              <a:rPr lang="en-US" sz="1000" dirty="0">
                <a:solidFill>
                  <a:srgbClr val="6E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valor de la </a:t>
            </a:r>
            <a:r>
              <a:rPr lang="en-US" sz="1000" dirty="0" err="1">
                <a:solidFill>
                  <a:srgbClr val="6E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47472" y="1389888"/>
            <a:ext cx="8449056" cy="274320"/>
          </a:xfrm>
          <a:prstGeom prst="rect">
            <a:avLst/>
          </a:prstGeom>
          <a:solidFill>
            <a:srgbClr val="2E8FA0"/>
          </a:solidFill>
          <a:ln w="12700">
            <a:solidFill>
              <a:srgbClr val="2E8FA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402336" y="142646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097280" y="1426464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Épica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395728" y="142646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724144" y="142646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309360" y="1426464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 SP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47472" y="1664208"/>
            <a:ext cx="8449056" cy="297637"/>
          </a:xfrm>
          <a:prstGeom prst="rect">
            <a:avLst/>
          </a:prstGeom>
          <a:solidFill>
            <a:srgbClr val="2C3E52"/>
          </a:solidFill>
          <a:ln w="12700">
            <a:solidFill>
              <a:srgbClr val="2C3E5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402336" y="1691640"/>
            <a:ext cx="658368" cy="242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" y="1691640"/>
            <a:ext cx="1261872" cy="242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Exploración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395728" y="1691640"/>
            <a:ext cx="3291840" cy="242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distribución de datos para identificar desbalances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724144" y="1691640"/>
            <a:ext cx="548640" cy="242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309360" y="1728216"/>
            <a:ext cx="2084832" cy="151333"/>
          </a:xfrm>
          <a:prstGeom prst="rect">
            <a:avLst/>
          </a:prstGeom>
          <a:solidFill>
            <a:srgbClr val="253649"/>
          </a:solidFill>
          <a:ln w="12700">
            <a:solidFill>
              <a:srgbClr val="25364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8" name="Shape 16"/>
          <p:cNvSpPr/>
          <p:nvPr/>
        </p:nvSpPr>
        <p:spPr>
          <a:xfrm>
            <a:off x="6309360" y="1728216"/>
            <a:ext cx="1290610" cy="151333"/>
          </a:xfrm>
          <a:prstGeom prst="rect">
            <a:avLst/>
          </a:prstGeom>
          <a:solidFill>
            <a:srgbClr val="4ABFCF"/>
          </a:solidFill>
          <a:ln w="12700">
            <a:solidFill>
              <a:srgbClr val="4ABFC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9" name="Shape 17"/>
          <p:cNvSpPr/>
          <p:nvPr/>
        </p:nvSpPr>
        <p:spPr>
          <a:xfrm>
            <a:off x="347472" y="1980133"/>
            <a:ext cx="8449056" cy="297637"/>
          </a:xfrm>
          <a:prstGeom prst="rect">
            <a:avLst/>
          </a:prstGeom>
          <a:solidFill>
            <a:srgbClr val="253649"/>
          </a:solidFill>
          <a:ln w="12700">
            <a:solidFill>
              <a:srgbClr val="25364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0" name="Text 18"/>
          <p:cNvSpPr/>
          <p:nvPr/>
        </p:nvSpPr>
        <p:spPr>
          <a:xfrm>
            <a:off x="402336" y="2007565"/>
            <a:ext cx="658368" cy="242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97280" y="2007565"/>
            <a:ext cx="1261872" cy="242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Exploración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395728" y="2007565"/>
            <a:ext cx="3291840" cy="242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Visualizar señales de audio representativas de cada patología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724144" y="2007565"/>
            <a:ext cx="548640" cy="242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309360" y="2044141"/>
            <a:ext cx="2084832" cy="151333"/>
          </a:xfrm>
          <a:prstGeom prst="rect">
            <a:avLst/>
          </a:prstGeom>
          <a:solidFill>
            <a:srgbClr val="253649"/>
          </a:solidFill>
          <a:ln w="12700">
            <a:solidFill>
              <a:srgbClr val="25364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5" name="Shape 23"/>
          <p:cNvSpPr/>
          <p:nvPr/>
        </p:nvSpPr>
        <p:spPr>
          <a:xfrm>
            <a:off x="6309360" y="2044141"/>
            <a:ext cx="496389" cy="151333"/>
          </a:xfrm>
          <a:prstGeom prst="rect">
            <a:avLst/>
          </a:prstGeom>
          <a:solidFill>
            <a:srgbClr val="4ABFCF"/>
          </a:solidFill>
          <a:ln w="12700">
            <a:solidFill>
              <a:srgbClr val="4ABFC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6" name="Shape 24"/>
          <p:cNvSpPr/>
          <p:nvPr/>
        </p:nvSpPr>
        <p:spPr>
          <a:xfrm>
            <a:off x="347472" y="2296058"/>
            <a:ext cx="8449056" cy="297637"/>
          </a:xfrm>
          <a:prstGeom prst="rect">
            <a:avLst/>
          </a:prstGeom>
          <a:solidFill>
            <a:srgbClr val="2C3E52"/>
          </a:solidFill>
          <a:ln w="12700">
            <a:solidFill>
              <a:srgbClr val="2C3E5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7" name="Text 25"/>
          <p:cNvSpPr/>
          <p:nvPr/>
        </p:nvSpPr>
        <p:spPr>
          <a:xfrm>
            <a:off x="402336" y="2323490"/>
            <a:ext cx="658368" cy="242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97280" y="2323490"/>
            <a:ext cx="1261872" cy="242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Preprocesamiento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395728" y="2323490"/>
            <a:ext cx="3291840" cy="242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Normalizar y limpiar señales de audio (remuestreo, ruido, amplitud)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724144" y="2323490"/>
            <a:ext cx="548640" cy="242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309360" y="2360066"/>
            <a:ext cx="2084832" cy="151333"/>
          </a:xfrm>
          <a:prstGeom prst="rect">
            <a:avLst/>
          </a:prstGeom>
          <a:solidFill>
            <a:srgbClr val="253649"/>
          </a:solidFill>
          <a:ln w="12700">
            <a:solidFill>
              <a:srgbClr val="25364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2" name="Shape 30"/>
          <p:cNvSpPr/>
          <p:nvPr/>
        </p:nvSpPr>
        <p:spPr>
          <a:xfrm>
            <a:off x="6309360" y="2360066"/>
            <a:ext cx="2084832" cy="151333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3" name="Shape 31"/>
          <p:cNvSpPr/>
          <p:nvPr/>
        </p:nvSpPr>
        <p:spPr>
          <a:xfrm>
            <a:off x="347472" y="2611984"/>
            <a:ext cx="8449056" cy="297637"/>
          </a:xfrm>
          <a:prstGeom prst="rect">
            <a:avLst/>
          </a:prstGeom>
          <a:solidFill>
            <a:srgbClr val="253649"/>
          </a:solidFill>
          <a:ln w="12700">
            <a:solidFill>
              <a:srgbClr val="25364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4" name="Text 32"/>
          <p:cNvSpPr/>
          <p:nvPr/>
        </p:nvSpPr>
        <p:spPr>
          <a:xfrm>
            <a:off x="402336" y="2639416"/>
            <a:ext cx="658368" cy="242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HU4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97280" y="2639416"/>
            <a:ext cx="1261872" cy="242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Preprocesamiento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395728" y="2639416"/>
            <a:ext cx="3291840" cy="242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Extraer features: espectrogramas Mel y coeficientes MFCC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724144" y="2639416"/>
            <a:ext cx="548640" cy="242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309360" y="2675992"/>
            <a:ext cx="2084832" cy="151333"/>
          </a:xfrm>
          <a:prstGeom prst="rect">
            <a:avLst/>
          </a:prstGeom>
          <a:solidFill>
            <a:srgbClr val="253649"/>
          </a:solidFill>
          <a:ln w="12700">
            <a:solidFill>
              <a:srgbClr val="25364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9" name="Shape 37"/>
          <p:cNvSpPr/>
          <p:nvPr/>
        </p:nvSpPr>
        <p:spPr>
          <a:xfrm>
            <a:off x="6309360" y="2675992"/>
            <a:ext cx="2084832" cy="151333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0" name="Shape 38"/>
          <p:cNvSpPr/>
          <p:nvPr/>
        </p:nvSpPr>
        <p:spPr>
          <a:xfrm>
            <a:off x="347472" y="2927909"/>
            <a:ext cx="8449056" cy="297637"/>
          </a:xfrm>
          <a:prstGeom prst="rect">
            <a:avLst/>
          </a:prstGeom>
          <a:solidFill>
            <a:srgbClr val="2C3E52"/>
          </a:solidFill>
          <a:ln w="12700">
            <a:solidFill>
              <a:srgbClr val="2C3E5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1" name="Text 39"/>
          <p:cNvSpPr/>
          <p:nvPr/>
        </p:nvSpPr>
        <p:spPr>
          <a:xfrm>
            <a:off x="402336" y="2955341"/>
            <a:ext cx="658368" cy="242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HU5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097280" y="2955341"/>
            <a:ext cx="1261872" cy="242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395728" y="2955341"/>
            <a:ext cx="3291840" cy="242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y entrenar modelo CNN para clasificación cardiopulmonar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724144" y="2955341"/>
            <a:ext cx="548640" cy="242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309360" y="2991917"/>
            <a:ext cx="2084832" cy="151333"/>
          </a:xfrm>
          <a:prstGeom prst="rect">
            <a:avLst/>
          </a:prstGeom>
          <a:solidFill>
            <a:srgbClr val="253649"/>
          </a:solidFill>
          <a:ln w="12700">
            <a:solidFill>
              <a:srgbClr val="25364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6" name="Shape 44"/>
          <p:cNvSpPr/>
          <p:nvPr/>
        </p:nvSpPr>
        <p:spPr>
          <a:xfrm>
            <a:off x="6309360" y="2991917"/>
            <a:ext cx="2084832" cy="151333"/>
          </a:xfrm>
          <a:prstGeom prst="rect">
            <a:avLst/>
          </a:prstGeom>
          <a:solidFill>
            <a:srgbClr val="3DBFA0"/>
          </a:solidFill>
          <a:ln w="12700">
            <a:solidFill>
              <a:srgbClr val="3DBFA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7" name="Shape 45"/>
          <p:cNvSpPr/>
          <p:nvPr/>
        </p:nvSpPr>
        <p:spPr>
          <a:xfrm>
            <a:off x="347472" y="3243834"/>
            <a:ext cx="8449056" cy="297637"/>
          </a:xfrm>
          <a:prstGeom prst="rect">
            <a:avLst/>
          </a:prstGeom>
          <a:solidFill>
            <a:srgbClr val="253649"/>
          </a:solidFill>
          <a:ln w="12700">
            <a:solidFill>
              <a:srgbClr val="25364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8" name="Text 46"/>
          <p:cNvSpPr/>
          <p:nvPr/>
        </p:nvSpPr>
        <p:spPr>
          <a:xfrm>
            <a:off x="402336" y="3271266"/>
            <a:ext cx="658368" cy="242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HU6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097280" y="3271266"/>
            <a:ext cx="1261872" cy="242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2395728" y="3271266"/>
            <a:ext cx="3291840" cy="242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rendimiento: enfoque integrado vs. modelos separados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724144" y="3271266"/>
            <a:ext cx="548640" cy="242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309360" y="3307842"/>
            <a:ext cx="2084832" cy="151333"/>
          </a:xfrm>
          <a:prstGeom prst="rect">
            <a:avLst/>
          </a:prstGeom>
          <a:solidFill>
            <a:srgbClr val="253649"/>
          </a:solidFill>
          <a:ln w="12700">
            <a:solidFill>
              <a:srgbClr val="25364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3" name="Shape 51"/>
          <p:cNvSpPr/>
          <p:nvPr/>
        </p:nvSpPr>
        <p:spPr>
          <a:xfrm>
            <a:off x="6309360" y="3307842"/>
            <a:ext cx="2084832" cy="151333"/>
          </a:xfrm>
          <a:prstGeom prst="rect">
            <a:avLst/>
          </a:prstGeom>
          <a:solidFill>
            <a:srgbClr val="3DBFA0"/>
          </a:solidFill>
          <a:ln w="12700">
            <a:solidFill>
              <a:srgbClr val="3DBFA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4" name="Shape 52"/>
          <p:cNvSpPr/>
          <p:nvPr/>
        </p:nvSpPr>
        <p:spPr>
          <a:xfrm>
            <a:off x="347472" y="3559759"/>
            <a:ext cx="8449056" cy="297637"/>
          </a:xfrm>
          <a:prstGeom prst="rect">
            <a:avLst/>
          </a:prstGeom>
          <a:solidFill>
            <a:srgbClr val="2C3E52"/>
          </a:solidFill>
          <a:ln w="12700">
            <a:solidFill>
              <a:srgbClr val="2C3E5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5" name="Text 53"/>
          <p:cNvSpPr/>
          <p:nvPr/>
        </p:nvSpPr>
        <p:spPr>
          <a:xfrm>
            <a:off x="402336" y="3587191"/>
            <a:ext cx="658368" cy="242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HU7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1097280" y="3587191"/>
            <a:ext cx="1261872" cy="242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2395728" y="3587191"/>
            <a:ext cx="3291840" cy="242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modelo con métricas estándar (accuracy, F1, ROC, conf. matrix)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724144" y="3587191"/>
            <a:ext cx="548640" cy="242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309360" y="3623767"/>
            <a:ext cx="2084832" cy="151333"/>
          </a:xfrm>
          <a:prstGeom prst="rect">
            <a:avLst/>
          </a:prstGeom>
          <a:solidFill>
            <a:srgbClr val="253649"/>
          </a:solidFill>
          <a:ln w="12700">
            <a:solidFill>
              <a:srgbClr val="25364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0" name="Shape 58"/>
          <p:cNvSpPr/>
          <p:nvPr/>
        </p:nvSpPr>
        <p:spPr>
          <a:xfrm>
            <a:off x="6309360" y="3623767"/>
            <a:ext cx="794222" cy="151333"/>
          </a:xfrm>
          <a:prstGeom prst="rect">
            <a:avLst/>
          </a:prstGeom>
          <a:solidFill>
            <a:srgbClr val="E07070"/>
          </a:solidFill>
          <a:ln w="12700">
            <a:solidFill>
              <a:srgbClr val="E0707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1" name="Shape 59"/>
          <p:cNvSpPr/>
          <p:nvPr/>
        </p:nvSpPr>
        <p:spPr>
          <a:xfrm>
            <a:off x="347472" y="3875684"/>
            <a:ext cx="8449056" cy="297637"/>
          </a:xfrm>
          <a:prstGeom prst="rect">
            <a:avLst/>
          </a:prstGeom>
          <a:solidFill>
            <a:srgbClr val="253649"/>
          </a:solidFill>
          <a:ln w="12700">
            <a:solidFill>
              <a:srgbClr val="25364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2" name="Text 60"/>
          <p:cNvSpPr/>
          <p:nvPr/>
        </p:nvSpPr>
        <p:spPr>
          <a:xfrm>
            <a:off x="402336" y="3903116"/>
            <a:ext cx="658368" cy="242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HU8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1097280" y="3903116"/>
            <a:ext cx="1261872" cy="242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2395728" y="3903116"/>
            <a:ext cx="3291840" cy="242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resultados del modelo comparados con el estado del arte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724144" y="3903116"/>
            <a:ext cx="548640" cy="242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309360" y="3939692"/>
            <a:ext cx="2084832" cy="151333"/>
          </a:xfrm>
          <a:prstGeom prst="rect">
            <a:avLst/>
          </a:prstGeom>
          <a:solidFill>
            <a:srgbClr val="253649"/>
          </a:solidFill>
          <a:ln w="12700">
            <a:solidFill>
              <a:srgbClr val="25364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7" name="Shape 65"/>
          <p:cNvSpPr/>
          <p:nvPr/>
        </p:nvSpPr>
        <p:spPr>
          <a:xfrm>
            <a:off x="6309360" y="3939692"/>
            <a:ext cx="794222" cy="151333"/>
          </a:xfrm>
          <a:prstGeom prst="rect">
            <a:avLst/>
          </a:prstGeom>
          <a:solidFill>
            <a:srgbClr val="E07070"/>
          </a:solidFill>
          <a:ln w="12700">
            <a:solidFill>
              <a:srgbClr val="E0707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8" name="Shape 66"/>
          <p:cNvSpPr/>
          <p:nvPr/>
        </p:nvSpPr>
        <p:spPr>
          <a:xfrm>
            <a:off x="347472" y="4191610"/>
            <a:ext cx="8449056" cy="297637"/>
          </a:xfrm>
          <a:prstGeom prst="rect">
            <a:avLst/>
          </a:prstGeom>
          <a:solidFill>
            <a:srgbClr val="2C3E52"/>
          </a:solidFill>
          <a:ln w="12700">
            <a:solidFill>
              <a:srgbClr val="2C3E5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9" name="Text 67"/>
          <p:cNvSpPr/>
          <p:nvPr/>
        </p:nvSpPr>
        <p:spPr>
          <a:xfrm>
            <a:off x="402336" y="4219042"/>
            <a:ext cx="658368" cy="242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HU9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1097280" y="4219042"/>
            <a:ext cx="1261872" cy="242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2395728" y="4219042"/>
            <a:ext cx="3291840" cy="242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proceso y resultados: informe final reproducible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5724144" y="4219042"/>
            <a:ext cx="548640" cy="242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6309360" y="4255618"/>
            <a:ext cx="2084832" cy="151333"/>
          </a:xfrm>
          <a:prstGeom prst="rect">
            <a:avLst/>
          </a:prstGeom>
          <a:solidFill>
            <a:srgbClr val="253649"/>
          </a:solidFill>
          <a:ln w="12700">
            <a:solidFill>
              <a:srgbClr val="25364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4" name="Shape 72"/>
          <p:cNvSpPr/>
          <p:nvPr/>
        </p:nvSpPr>
        <p:spPr>
          <a:xfrm>
            <a:off x="6309360" y="4255618"/>
            <a:ext cx="794222" cy="151333"/>
          </a:xfrm>
          <a:prstGeom prst="rect">
            <a:avLst/>
          </a:prstGeom>
          <a:solidFill>
            <a:srgbClr val="7B9EC0"/>
          </a:solidFill>
          <a:ln w="12700">
            <a:solidFill>
              <a:srgbClr val="7B9EC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5" name="Shape 73"/>
          <p:cNvSpPr/>
          <p:nvPr/>
        </p:nvSpPr>
        <p:spPr>
          <a:xfrm>
            <a:off x="347472" y="4507535"/>
            <a:ext cx="8449056" cy="297637"/>
          </a:xfrm>
          <a:prstGeom prst="rect">
            <a:avLst/>
          </a:prstGeom>
          <a:solidFill>
            <a:srgbClr val="253649"/>
          </a:solidFill>
          <a:ln w="12700">
            <a:solidFill>
              <a:srgbClr val="25364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6" name="Text 74"/>
          <p:cNvSpPr/>
          <p:nvPr/>
        </p:nvSpPr>
        <p:spPr>
          <a:xfrm>
            <a:off x="402336" y="4534967"/>
            <a:ext cx="658368" cy="242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HU10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1097280" y="4534967"/>
            <a:ext cx="1261872" cy="242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2395728" y="4534967"/>
            <a:ext cx="3291840" cy="242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Redactar informe final formal para evaluación y defensa del TF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5724144" y="4534967"/>
            <a:ext cx="548640" cy="242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6309360" y="4571543"/>
            <a:ext cx="2084832" cy="151333"/>
          </a:xfrm>
          <a:prstGeom prst="rect">
            <a:avLst/>
          </a:prstGeom>
          <a:solidFill>
            <a:srgbClr val="253649"/>
          </a:solidFill>
          <a:ln w="12700">
            <a:solidFill>
              <a:srgbClr val="25364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1" name="Shape 79"/>
          <p:cNvSpPr/>
          <p:nvPr/>
        </p:nvSpPr>
        <p:spPr>
          <a:xfrm>
            <a:off x="6309360" y="4571543"/>
            <a:ext cx="1290610" cy="151333"/>
          </a:xfrm>
          <a:prstGeom prst="rect">
            <a:avLst/>
          </a:prstGeom>
          <a:solidFill>
            <a:srgbClr val="7B9EC0"/>
          </a:solidFill>
          <a:ln w="12700">
            <a:solidFill>
              <a:srgbClr val="7B9EC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89992"/>
            <a:ext cx="1417320" cy="237744"/>
          </a:xfrm>
          <a:prstGeom prst="roundRect">
            <a:avLst>
              <a:gd name="adj" fmla="val 15385"/>
            </a:avLst>
          </a:prstGeom>
          <a:solidFill>
            <a:srgbClr val="4ABFCF"/>
          </a:solidFill>
          <a:ln w="12700">
            <a:solidFill>
              <a:srgbClr val="4ABFC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347472" y="28999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47472" y="721068"/>
            <a:ext cx="8449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de aceptación por épica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47472" y="1389888"/>
            <a:ext cx="2724912" cy="1652778"/>
          </a:xfrm>
          <a:prstGeom prst="rect">
            <a:avLst/>
          </a:prstGeom>
          <a:solidFill>
            <a:srgbClr val="2C3E52"/>
          </a:solidFill>
          <a:ln w="7620">
            <a:solidFill>
              <a:srgbClr val="4ABFC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Shape 4"/>
          <p:cNvSpPr/>
          <p:nvPr/>
        </p:nvSpPr>
        <p:spPr>
          <a:xfrm>
            <a:off x="347472" y="1389888"/>
            <a:ext cx="41148" cy="1652778"/>
          </a:xfrm>
          <a:prstGeom prst="rect">
            <a:avLst/>
          </a:prstGeom>
          <a:solidFill>
            <a:srgbClr val="4ABFCF"/>
          </a:solidFill>
          <a:ln w="12700">
            <a:solidFill>
              <a:srgbClr val="4ABFC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438912" y="1472184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Épica 1 – Exploración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8912" y="1746504"/>
            <a:ext cx="2542032" cy="20117"/>
          </a:xfrm>
          <a:prstGeom prst="rect">
            <a:avLst/>
          </a:prstGeom>
          <a:solidFill>
            <a:srgbClr val="172433"/>
          </a:solidFill>
          <a:ln w="12700">
            <a:solidFill>
              <a:srgbClr val="17243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438912" y="1810512"/>
            <a:ext cx="2560320" cy="11590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</a:t>
            </a:r>
            <a:r>
              <a:rPr lang="en-US" sz="10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</a:t>
            </a:r>
            <a:r>
              <a:rPr lang="en-US" sz="10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distribución de cada </a:t>
            </a:r>
            <a:r>
              <a:rPr lang="en-US" sz="100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</a:t>
            </a:r>
            <a:r>
              <a:rPr lang="en-US" sz="10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00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documentarlos</a:t>
            </a:r>
            <a:r>
              <a:rPr lang="en-US" sz="10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Señales graficadas en dominio temporal y frecuencial </a:t>
            </a:r>
            <a:r>
              <a:rPr lang="en-US" sz="100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0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</a:t>
            </a:r>
            <a:r>
              <a:rPr lang="en-US" sz="10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de balanceo propuesta y </a:t>
            </a:r>
            <a:r>
              <a:rPr lang="en-US" sz="100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documentada</a:t>
            </a:r>
            <a:r>
              <a:rPr lang="en-US" sz="10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" y="3170682"/>
            <a:ext cx="2724912" cy="1652778"/>
          </a:xfrm>
          <a:prstGeom prst="rect">
            <a:avLst/>
          </a:prstGeom>
          <a:solidFill>
            <a:srgbClr val="2C3E52"/>
          </a:solidFill>
          <a:ln w="7620">
            <a:solidFill>
              <a:srgbClr val="D4A84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Shape 9"/>
          <p:cNvSpPr/>
          <p:nvPr/>
        </p:nvSpPr>
        <p:spPr>
          <a:xfrm>
            <a:off x="347472" y="3170682"/>
            <a:ext cx="41148" cy="1652778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438912" y="325297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Épica 2 – Preprocesamiento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8912" y="3527298"/>
            <a:ext cx="2542032" cy="20117"/>
          </a:xfrm>
          <a:prstGeom prst="rect">
            <a:avLst/>
          </a:prstGeom>
          <a:solidFill>
            <a:srgbClr val="172433"/>
          </a:solidFill>
          <a:ln w="12700">
            <a:solidFill>
              <a:srgbClr val="17243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/>
          <p:nvPr/>
        </p:nvSpPr>
        <p:spPr>
          <a:xfrm>
            <a:off x="438912" y="3591306"/>
            <a:ext cx="2560320" cy="11590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Grabaciones remuestreadas a </a:t>
            </a:r>
            <a:r>
              <a:rPr lang="en-US" sz="100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frecuencia</a:t>
            </a:r>
            <a:r>
              <a:rPr lang="en-US" sz="10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común</a:t>
            </a:r>
            <a:r>
              <a:rPr lang="en-US" sz="10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Espectrogramas Mel y vectores MFCC generados y </a:t>
            </a:r>
            <a:r>
              <a:rPr lang="en-US" sz="100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almacenados</a:t>
            </a:r>
            <a:r>
              <a:rPr lang="en-US" sz="10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 de </a:t>
            </a:r>
            <a:r>
              <a:rPr lang="en-US" sz="100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</a:t>
            </a:r>
            <a:r>
              <a:rPr lang="en-US" sz="10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documentados</a:t>
            </a:r>
            <a:r>
              <a:rPr lang="en-US" sz="10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1389888"/>
            <a:ext cx="2724912" cy="1652778"/>
          </a:xfrm>
          <a:prstGeom prst="rect">
            <a:avLst/>
          </a:prstGeom>
          <a:solidFill>
            <a:srgbClr val="2C3E52"/>
          </a:solidFill>
          <a:ln w="7620">
            <a:solidFill>
              <a:srgbClr val="3DBFA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Shape 14"/>
          <p:cNvSpPr/>
          <p:nvPr/>
        </p:nvSpPr>
        <p:spPr>
          <a:xfrm>
            <a:off x="3200400" y="1389888"/>
            <a:ext cx="41148" cy="1652778"/>
          </a:xfrm>
          <a:prstGeom prst="rect">
            <a:avLst/>
          </a:prstGeom>
          <a:solidFill>
            <a:srgbClr val="3DBFA0"/>
          </a:solidFill>
          <a:ln w="12700">
            <a:solidFill>
              <a:srgbClr val="3DBFA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/>
          <p:nvPr/>
        </p:nvSpPr>
        <p:spPr>
          <a:xfrm>
            <a:off x="3291840" y="1472184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Épica 3 – Modelado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91840" y="1746504"/>
            <a:ext cx="2542032" cy="20117"/>
          </a:xfrm>
          <a:prstGeom prst="rect">
            <a:avLst/>
          </a:prstGeom>
          <a:solidFill>
            <a:srgbClr val="172433"/>
          </a:solidFill>
          <a:ln w="12700">
            <a:solidFill>
              <a:srgbClr val="17243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9" name="Text 17"/>
          <p:cNvSpPr/>
          <p:nvPr/>
        </p:nvSpPr>
        <p:spPr>
          <a:xfrm>
            <a:off x="3291840" y="1810512"/>
            <a:ext cx="2560320" cy="11590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Investigación</a:t>
            </a:r>
            <a:r>
              <a:rPr lang="en-US" sz="10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</a:t>
            </a:r>
            <a:r>
              <a:rPr lang="en-US" sz="10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arquitecturas</a:t>
            </a:r>
            <a:r>
              <a:rPr lang="en-US" sz="10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aplicables</a:t>
            </a:r>
            <a:r>
              <a:rPr lang="en-US" sz="10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Entrenamiento</a:t>
            </a:r>
            <a:r>
              <a:rPr lang="en-US" sz="10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00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r>
              <a:rPr lang="en-US" sz="10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y </a:t>
            </a:r>
            <a:r>
              <a:rPr lang="en-US" sz="100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convergencia</a:t>
            </a:r>
            <a:r>
              <a:rPr lang="en-US" sz="10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00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</a:t>
            </a:r>
            <a:r>
              <a:rPr lang="en-US" sz="10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r>
              <a:rPr lang="en-US" sz="10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</a:t>
            </a:r>
            <a:r>
              <a:rPr lang="en-US" sz="10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00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r>
              <a:rPr lang="en-US" sz="10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conclusions del </a:t>
            </a:r>
            <a:r>
              <a:rPr lang="en-US" sz="100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</a:t>
            </a:r>
            <a:r>
              <a:rPr lang="en-US" sz="10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3170682"/>
            <a:ext cx="2724912" cy="1652778"/>
          </a:xfrm>
          <a:prstGeom prst="rect">
            <a:avLst/>
          </a:prstGeom>
          <a:solidFill>
            <a:srgbClr val="2C3E52"/>
          </a:solidFill>
          <a:ln w="7620">
            <a:solidFill>
              <a:srgbClr val="E0707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1" name="Shape 19"/>
          <p:cNvSpPr/>
          <p:nvPr/>
        </p:nvSpPr>
        <p:spPr>
          <a:xfrm>
            <a:off x="3200400" y="3170682"/>
            <a:ext cx="41148" cy="1652778"/>
          </a:xfrm>
          <a:prstGeom prst="rect">
            <a:avLst/>
          </a:prstGeom>
          <a:solidFill>
            <a:srgbClr val="E07070"/>
          </a:solidFill>
          <a:ln w="12700">
            <a:solidFill>
              <a:srgbClr val="E0707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2" name="Text 20"/>
          <p:cNvSpPr/>
          <p:nvPr/>
        </p:nvSpPr>
        <p:spPr>
          <a:xfrm>
            <a:off x="3291840" y="325297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Épica 4 – Evaluación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91840" y="3527298"/>
            <a:ext cx="2542032" cy="20117"/>
          </a:xfrm>
          <a:prstGeom prst="rect">
            <a:avLst/>
          </a:prstGeom>
          <a:solidFill>
            <a:srgbClr val="172433"/>
          </a:solidFill>
          <a:ln w="12700">
            <a:solidFill>
              <a:srgbClr val="17243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4" name="Text 22"/>
          <p:cNvSpPr/>
          <p:nvPr/>
        </p:nvSpPr>
        <p:spPr>
          <a:xfrm>
            <a:off x="3291840" y="3591306"/>
            <a:ext cx="2560320" cy="11590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F1-score, matriz de confusión y ROC </a:t>
            </a:r>
            <a:r>
              <a:rPr lang="en-US" sz="100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reportados</a:t>
            </a:r>
            <a:r>
              <a:rPr lang="en-US" sz="10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comparativa con trabajos relevantes de la literature.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 de resultados en </a:t>
            </a:r>
            <a:r>
              <a:rPr lang="en-US" sz="100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r>
              <a:rPr lang="en-US" sz="10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clínico</a:t>
            </a:r>
            <a:r>
              <a:rPr lang="en-US" sz="9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53328" y="2336944"/>
            <a:ext cx="2651760" cy="1516598"/>
          </a:xfrm>
          <a:prstGeom prst="rect">
            <a:avLst/>
          </a:prstGeom>
          <a:solidFill>
            <a:srgbClr val="2C3E52"/>
          </a:solidFill>
          <a:ln w="7620">
            <a:solidFill>
              <a:srgbClr val="7B9EC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6" name="Shape 24"/>
          <p:cNvSpPr/>
          <p:nvPr/>
        </p:nvSpPr>
        <p:spPr>
          <a:xfrm>
            <a:off x="6053327" y="2336944"/>
            <a:ext cx="45719" cy="1516598"/>
          </a:xfrm>
          <a:prstGeom prst="rect">
            <a:avLst/>
          </a:prstGeom>
          <a:solidFill>
            <a:srgbClr val="7B9EC0"/>
          </a:solidFill>
          <a:ln w="12700">
            <a:solidFill>
              <a:srgbClr val="7B9EC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7" name="Text 25"/>
          <p:cNvSpPr/>
          <p:nvPr/>
        </p:nvSpPr>
        <p:spPr>
          <a:xfrm>
            <a:off x="6157830" y="2464961"/>
            <a:ext cx="2491587" cy="109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Épica 5 – Documentación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44768" y="2693560"/>
            <a:ext cx="2473790" cy="45719"/>
          </a:xfrm>
          <a:prstGeom prst="rect">
            <a:avLst/>
          </a:prstGeom>
          <a:solidFill>
            <a:srgbClr val="172433"/>
          </a:solidFill>
          <a:ln w="12700">
            <a:solidFill>
              <a:srgbClr val="17243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9" name="Text 27"/>
          <p:cNvSpPr/>
          <p:nvPr/>
        </p:nvSpPr>
        <p:spPr>
          <a:xfrm>
            <a:off x="6144768" y="2757569"/>
            <a:ext cx="2491587" cy="10437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final con todas las etapas del pipeline.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comentado para </a:t>
            </a:r>
            <a:r>
              <a:rPr lang="en-US" sz="100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desarrollos</a:t>
            </a:r>
            <a:r>
              <a:rPr lang="en-US" sz="10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complementarios</a:t>
            </a:r>
            <a:r>
              <a:rPr lang="en-US" sz="10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aprueba el informe previo a la defensa del TF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89992"/>
            <a:ext cx="1417320" cy="237744"/>
          </a:xfrm>
          <a:prstGeom prst="roundRect">
            <a:avLst>
              <a:gd name="adj" fmla="val 15385"/>
            </a:avLst>
          </a:prstGeom>
          <a:solidFill>
            <a:srgbClr val="4ABFCF"/>
          </a:solidFill>
          <a:ln w="12700">
            <a:solidFill>
              <a:srgbClr val="4ABFC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347472" y="28999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CRISP-DM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47472" y="548640"/>
            <a:ext cx="8449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CRISP-DM  +  Agile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31520" y="1084223"/>
            <a:ext cx="822960" cy="822960"/>
          </a:xfrm>
          <a:prstGeom prst="ellipse">
            <a:avLst/>
          </a:prstGeom>
          <a:solidFill>
            <a:srgbClr val="4ABFCF"/>
          </a:solidFill>
          <a:ln w="12700">
            <a:solidFill>
              <a:srgbClr val="4ABFC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731520" y="1084223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901952" y="1486559"/>
            <a:ext cx="219456" cy="18288"/>
          </a:xfrm>
          <a:prstGeom prst="rect">
            <a:avLst/>
          </a:prstGeom>
          <a:solidFill>
            <a:srgbClr val="6E8DA0"/>
          </a:solidFill>
          <a:ln w="12700">
            <a:solidFill>
              <a:srgbClr val="6E8DA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Shape 6"/>
          <p:cNvSpPr/>
          <p:nvPr/>
        </p:nvSpPr>
        <p:spPr>
          <a:xfrm>
            <a:off x="347472" y="2101815"/>
            <a:ext cx="1591056" cy="2372868"/>
          </a:xfrm>
          <a:prstGeom prst="rect">
            <a:avLst/>
          </a:prstGeom>
          <a:solidFill>
            <a:srgbClr val="2C3E52"/>
          </a:solidFill>
          <a:ln w="7620">
            <a:solidFill>
              <a:srgbClr val="4ABFC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Shape 7"/>
          <p:cNvSpPr/>
          <p:nvPr/>
        </p:nvSpPr>
        <p:spPr>
          <a:xfrm>
            <a:off x="347472" y="2092672"/>
            <a:ext cx="1591056" cy="45719"/>
          </a:xfrm>
          <a:prstGeom prst="rect">
            <a:avLst/>
          </a:prstGeom>
          <a:solidFill>
            <a:srgbClr val="4ABFCF"/>
          </a:solidFill>
          <a:ln w="12700">
            <a:solidFill>
              <a:srgbClr val="4ABFC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402336" y="2174967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Comprensión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4A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negocio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20624" y="2760183"/>
            <a:ext cx="1444752" cy="1641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152400">
              <a:buChar char="•"/>
            </a:pPr>
            <a:r>
              <a:rPr lang="es-AR" sz="1050" dirty="0">
                <a:solidFill>
                  <a:srgbClr val="FFFFFF"/>
                </a:solidFill>
              </a:rPr>
              <a:t>Entender problema y definir objetivo.</a:t>
            </a:r>
          </a:p>
          <a:p>
            <a:pPr marL="203200" indent="-152400">
              <a:buChar char="•"/>
            </a:pPr>
            <a:r>
              <a:rPr lang="es-AR" sz="1050" dirty="0">
                <a:solidFill>
                  <a:srgbClr val="FFFFFF"/>
                </a:solidFill>
              </a:rPr>
              <a:t>Revisar literatura: auscultación + IA.</a:t>
            </a:r>
          </a:p>
          <a:p>
            <a:pPr marL="203200" indent="-152400">
              <a:buChar char="•"/>
            </a:pPr>
            <a:r>
              <a:rPr lang="es-AR" sz="1050" dirty="0">
                <a:solidFill>
                  <a:srgbClr val="FFFFFF"/>
                </a:solidFill>
              </a:rPr>
              <a:t>Establecer métricas de evaluación.</a:t>
            </a:r>
          </a:p>
          <a:p>
            <a:pPr marL="203200" indent="-152400">
              <a:buChar char="•"/>
            </a:pPr>
            <a:r>
              <a:rPr lang="es-AR" sz="1050" dirty="0">
                <a:solidFill>
                  <a:srgbClr val="FFFFFF"/>
                </a:solidFill>
              </a:rPr>
              <a:t>Delimitar alcance y supuestos.</a:t>
            </a:r>
          </a:p>
        </p:txBody>
      </p:sp>
      <p:sp>
        <p:nvSpPr>
          <p:cNvPr id="12" name="Shape 10"/>
          <p:cNvSpPr/>
          <p:nvPr/>
        </p:nvSpPr>
        <p:spPr>
          <a:xfrm>
            <a:off x="2468880" y="1084223"/>
            <a:ext cx="822960" cy="822960"/>
          </a:xfrm>
          <a:prstGeom prst="ellipse">
            <a:avLst/>
          </a:prstGeom>
          <a:solidFill>
            <a:srgbClr val="7B9EC0"/>
          </a:solidFill>
          <a:ln w="12700">
            <a:solidFill>
              <a:srgbClr val="7B9EC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2468880" y="1084223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39312" y="1486559"/>
            <a:ext cx="219456" cy="18288"/>
          </a:xfrm>
          <a:prstGeom prst="rect">
            <a:avLst/>
          </a:prstGeom>
          <a:solidFill>
            <a:srgbClr val="6E8DA0"/>
          </a:solidFill>
          <a:ln w="12700">
            <a:solidFill>
              <a:srgbClr val="6E8DA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Shape 13"/>
          <p:cNvSpPr/>
          <p:nvPr/>
        </p:nvSpPr>
        <p:spPr>
          <a:xfrm>
            <a:off x="2084832" y="2101815"/>
            <a:ext cx="1591056" cy="2372868"/>
          </a:xfrm>
          <a:prstGeom prst="rect">
            <a:avLst/>
          </a:prstGeom>
          <a:solidFill>
            <a:srgbClr val="2C3E52"/>
          </a:solidFill>
          <a:ln w="7620">
            <a:solidFill>
              <a:srgbClr val="7B9EC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Shape 14"/>
          <p:cNvSpPr/>
          <p:nvPr/>
        </p:nvSpPr>
        <p:spPr>
          <a:xfrm>
            <a:off x="2084832" y="2092672"/>
            <a:ext cx="1591056" cy="45719"/>
          </a:xfrm>
          <a:prstGeom prst="rect">
            <a:avLst/>
          </a:prstGeom>
          <a:solidFill>
            <a:srgbClr val="7B9EC0"/>
          </a:solidFill>
          <a:ln w="12700">
            <a:solidFill>
              <a:srgbClr val="7B9EC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/>
          <p:nvPr/>
        </p:nvSpPr>
        <p:spPr>
          <a:xfrm>
            <a:off x="2139696" y="2174967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Comprensión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7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datos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157984" y="2760183"/>
            <a:ext cx="1444752" cy="1641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152400">
              <a:buChar char="•"/>
            </a:pPr>
            <a:r>
              <a:rPr lang="es-AR" sz="1050" dirty="0">
                <a:solidFill>
                  <a:srgbClr val="FFFFFF"/>
                </a:solidFill>
              </a:rPr>
              <a:t>EDA: distribución de clases y desbalances.</a:t>
            </a:r>
          </a:p>
          <a:p>
            <a:pPr marL="203200" indent="-152400">
              <a:buChar char="•"/>
            </a:pPr>
            <a:r>
              <a:rPr lang="es-AR" sz="1050" dirty="0">
                <a:solidFill>
                  <a:srgbClr val="FFFFFF"/>
                </a:solidFill>
              </a:rPr>
              <a:t>Detectar problemas de calidad de audio.</a:t>
            </a:r>
          </a:p>
          <a:p>
            <a:pPr marL="203200" indent="-152400">
              <a:buChar char="•"/>
            </a:pPr>
            <a:r>
              <a:rPr lang="es-AR" sz="1050" dirty="0">
                <a:solidFill>
                  <a:srgbClr val="FFFFFF"/>
                </a:solidFill>
              </a:rPr>
              <a:t>Visualizar señales en tiempo y frecuencia.</a:t>
            </a:r>
          </a:p>
        </p:txBody>
      </p:sp>
      <p:sp>
        <p:nvSpPr>
          <p:cNvPr id="19" name="Shape 17"/>
          <p:cNvSpPr/>
          <p:nvPr/>
        </p:nvSpPr>
        <p:spPr>
          <a:xfrm>
            <a:off x="4206240" y="1084223"/>
            <a:ext cx="822960" cy="822960"/>
          </a:xfrm>
          <a:prstGeom prst="ellipse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0" name="Text 18"/>
          <p:cNvSpPr/>
          <p:nvPr/>
        </p:nvSpPr>
        <p:spPr>
          <a:xfrm>
            <a:off x="4206240" y="1084223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5376672" y="1486559"/>
            <a:ext cx="219456" cy="18288"/>
          </a:xfrm>
          <a:prstGeom prst="rect">
            <a:avLst/>
          </a:prstGeom>
          <a:solidFill>
            <a:srgbClr val="6E8DA0"/>
          </a:solidFill>
          <a:ln w="12700">
            <a:solidFill>
              <a:srgbClr val="6E8DA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2" name="Shape 20"/>
          <p:cNvSpPr/>
          <p:nvPr/>
        </p:nvSpPr>
        <p:spPr>
          <a:xfrm>
            <a:off x="3822192" y="2101815"/>
            <a:ext cx="1591056" cy="2372868"/>
          </a:xfrm>
          <a:prstGeom prst="rect">
            <a:avLst/>
          </a:prstGeom>
          <a:solidFill>
            <a:srgbClr val="2C3E52"/>
          </a:solidFill>
          <a:ln w="7620">
            <a:solidFill>
              <a:srgbClr val="D4A84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3" name="Shape 21"/>
          <p:cNvSpPr/>
          <p:nvPr/>
        </p:nvSpPr>
        <p:spPr>
          <a:xfrm>
            <a:off x="3822192" y="2092672"/>
            <a:ext cx="1591056" cy="45719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4" name="Text 22"/>
          <p:cNvSpPr/>
          <p:nvPr/>
        </p:nvSpPr>
        <p:spPr>
          <a:xfrm>
            <a:off x="3877056" y="2174967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datos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895344" y="2760183"/>
            <a:ext cx="1444752" cy="1641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152400">
              <a:buChar char="•"/>
            </a:pPr>
            <a:r>
              <a:rPr lang="es-AR" sz="1050" dirty="0">
                <a:solidFill>
                  <a:srgbClr val="FFFFFF"/>
                </a:solidFill>
              </a:rPr>
              <a:t>Normalizar y limpiar señales de audio.</a:t>
            </a:r>
          </a:p>
          <a:p>
            <a:pPr marL="203200" indent="-152400">
              <a:buChar char="•"/>
            </a:pPr>
            <a:r>
              <a:rPr lang="es-AR" sz="1050" dirty="0">
                <a:solidFill>
                  <a:srgbClr val="FFFFFF"/>
                </a:solidFill>
              </a:rPr>
              <a:t>Extraer </a:t>
            </a:r>
            <a:r>
              <a:rPr lang="es-AR" sz="1050" dirty="0" err="1">
                <a:solidFill>
                  <a:srgbClr val="FFFFFF"/>
                </a:solidFill>
              </a:rPr>
              <a:t>features</a:t>
            </a:r>
            <a:endParaRPr lang="es-AR" sz="1050" dirty="0">
              <a:solidFill>
                <a:srgbClr val="FFFFFF"/>
              </a:solidFill>
            </a:endParaRPr>
          </a:p>
          <a:p>
            <a:pPr marL="203200" indent="-152400">
              <a:buChar char="•"/>
            </a:pPr>
            <a:r>
              <a:rPr lang="es-AR" sz="1050" dirty="0">
                <a:solidFill>
                  <a:srgbClr val="FFFFFF"/>
                </a:solidFill>
              </a:rPr>
              <a:t>Dividir en train / val / test.</a:t>
            </a:r>
          </a:p>
          <a:p>
            <a:pPr marL="203200" indent="-152400">
              <a:buChar char="•"/>
            </a:pPr>
            <a:r>
              <a:rPr lang="es-AR" sz="1050" dirty="0">
                <a:solidFill>
                  <a:srgbClr val="FFFFFF"/>
                </a:solidFill>
              </a:rPr>
              <a:t>Data </a:t>
            </a:r>
            <a:r>
              <a:rPr lang="es-AR" sz="1050" dirty="0" err="1">
                <a:solidFill>
                  <a:srgbClr val="FFFFFF"/>
                </a:solidFill>
              </a:rPr>
              <a:t>augmentation</a:t>
            </a:r>
            <a:r>
              <a:rPr lang="es-AR" sz="1050" dirty="0">
                <a:solidFill>
                  <a:srgbClr val="FFFFFF"/>
                </a:solidFill>
              </a:rPr>
              <a:t> si es necesario.</a:t>
            </a:r>
          </a:p>
        </p:txBody>
      </p:sp>
      <p:sp>
        <p:nvSpPr>
          <p:cNvPr id="26" name="Shape 24"/>
          <p:cNvSpPr/>
          <p:nvPr/>
        </p:nvSpPr>
        <p:spPr>
          <a:xfrm>
            <a:off x="5943600" y="1084223"/>
            <a:ext cx="822960" cy="822960"/>
          </a:xfrm>
          <a:prstGeom prst="ellipse">
            <a:avLst/>
          </a:prstGeom>
          <a:solidFill>
            <a:srgbClr val="3DBFA0"/>
          </a:solidFill>
          <a:ln w="12700">
            <a:solidFill>
              <a:srgbClr val="3DBFA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7" name="Text 25"/>
          <p:cNvSpPr/>
          <p:nvPr/>
        </p:nvSpPr>
        <p:spPr>
          <a:xfrm>
            <a:off x="5943600" y="1084223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8" name="Shape 26"/>
          <p:cNvSpPr/>
          <p:nvPr/>
        </p:nvSpPr>
        <p:spPr>
          <a:xfrm>
            <a:off x="7114032" y="1486559"/>
            <a:ext cx="219456" cy="18288"/>
          </a:xfrm>
          <a:prstGeom prst="rect">
            <a:avLst/>
          </a:prstGeom>
          <a:solidFill>
            <a:srgbClr val="6E8DA0"/>
          </a:solidFill>
          <a:ln w="12700">
            <a:solidFill>
              <a:srgbClr val="6E8DA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9" name="Shape 27"/>
          <p:cNvSpPr/>
          <p:nvPr/>
        </p:nvSpPr>
        <p:spPr>
          <a:xfrm>
            <a:off x="5559552" y="2101815"/>
            <a:ext cx="1591056" cy="2372868"/>
          </a:xfrm>
          <a:prstGeom prst="rect">
            <a:avLst/>
          </a:prstGeom>
          <a:solidFill>
            <a:srgbClr val="2C3E52"/>
          </a:solidFill>
          <a:ln w="7620">
            <a:solidFill>
              <a:srgbClr val="3DBFA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0" name="Shape 28"/>
          <p:cNvSpPr/>
          <p:nvPr/>
        </p:nvSpPr>
        <p:spPr>
          <a:xfrm>
            <a:off x="5559552" y="2092672"/>
            <a:ext cx="1591056" cy="45719"/>
          </a:xfrm>
          <a:prstGeom prst="rect">
            <a:avLst/>
          </a:prstGeom>
          <a:solidFill>
            <a:srgbClr val="3DBFA0"/>
          </a:solidFill>
          <a:ln w="12700">
            <a:solidFill>
              <a:srgbClr val="3DBFA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1" name="Text 29"/>
          <p:cNvSpPr/>
          <p:nvPr/>
        </p:nvSpPr>
        <p:spPr>
          <a:xfrm>
            <a:off x="5614416" y="2174967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D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32704" y="2571750"/>
            <a:ext cx="1444752" cy="1829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152400">
              <a:buChar char="•"/>
            </a:pPr>
            <a:r>
              <a:rPr lang="es-AR" sz="1050" dirty="0">
                <a:solidFill>
                  <a:srgbClr val="FFFFFF"/>
                </a:solidFill>
              </a:rPr>
              <a:t>Investigar arquitecturas para audio médico.</a:t>
            </a:r>
          </a:p>
          <a:p>
            <a:pPr marL="203200" indent="-152400">
              <a:buChar char="•"/>
            </a:pPr>
            <a:r>
              <a:rPr lang="es-AR" sz="1050" dirty="0">
                <a:solidFill>
                  <a:srgbClr val="FFFFFF"/>
                </a:solidFill>
              </a:rPr>
              <a:t>Implementar y comparar arquitecturas.</a:t>
            </a:r>
          </a:p>
          <a:p>
            <a:pPr marL="203200" indent="-152400">
              <a:buChar char="•"/>
            </a:pPr>
            <a:r>
              <a:rPr lang="es-AR" sz="1050" dirty="0">
                <a:solidFill>
                  <a:srgbClr val="FFFFFF"/>
                </a:solidFill>
              </a:rPr>
              <a:t>Entrenar y ajustar </a:t>
            </a:r>
            <a:r>
              <a:rPr lang="es-AR" sz="1050" dirty="0" err="1">
                <a:solidFill>
                  <a:srgbClr val="FFFFFF"/>
                </a:solidFill>
              </a:rPr>
              <a:t>hiperparámetros</a:t>
            </a:r>
            <a:r>
              <a:rPr lang="es-AR" sz="1050" dirty="0">
                <a:solidFill>
                  <a:srgbClr val="FFFFFF"/>
                </a:solidFill>
              </a:rPr>
              <a:t>.</a:t>
            </a:r>
          </a:p>
          <a:p>
            <a:pPr marL="203200" indent="-152400">
              <a:buChar char="•"/>
            </a:pPr>
            <a:r>
              <a:rPr lang="es-AR" sz="1050" dirty="0">
                <a:solidFill>
                  <a:srgbClr val="FFFFFF"/>
                </a:solidFill>
              </a:rPr>
              <a:t>Comparar enfoque integrado vs. separado.</a:t>
            </a:r>
          </a:p>
        </p:txBody>
      </p:sp>
      <p:sp>
        <p:nvSpPr>
          <p:cNvPr id="33" name="Shape 31"/>
          <p:cNvSpPr/>
          <p:nvPr/>
        </p:nvSpPr>
        <p:spPr>
          <a:xfrm>
            <a:off x="7680960" y="1084223"/>
            <a:ext cx="822960" cy="822960"/>
          </a:xfrm>
          <a:prstGeom prst="ellipse">
            <a:avLst/>
          </a:prstGeom>
          <a:solidFill>
            <a:srgbClr val="E07070"/>
          </a:solidFill>
          <a:ln w="12700">
            <a:solidFill>
              <a:srgbClr val="E0707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4" name="Text 32"/>
          <p:cNvSpPr/>
          <p:nvPr/>
        </p:nvSpPr>
        <p:spPr>
          <a:xfrm>
            <a:off x="7680960" y="1084223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35" name="Shape 33"/>
          <p:cNvSpPr/>
          <p:nvPr/>
        </p:nvSpPr>
        <p:spPr>
          <a:xfrm>
            <a:off x="7296912" y="2101815"/>
            <a:ext cx="1591056" cy="2372868"/>
          </a:xfrm>
          <a:prstGeom prst="rect">
            <a:avLst/>
          </a:prstGeom>
          <a:solidFill>
            <a:srgbClr val="2C3E52"/>
          </a:solidFill>
          <a:ln w="7620">
            <a:solidFill>
              <a:srgbClr val="E0707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6" name="Shape 34"/>
          <p:cNvSpPr/>
          <p:nvPr/>
        </p:nvSpPr>
        <p:spPr>
          <a:xfrm>
            <a:off x="7296912" y="2092672"/>
            <a:ext cx="1591056" cy="45719"/>
          </a:xfrm>
          <a:prstGeom prst="rect">
            <a:avLst/>
          </a:prstGeom>
          <a:solidFill>
            <a:srgbClr val="E07070"/>
          </a:solidFill>
          <a:ln w="12700">
            <a:solidFill>
              <a:srgbClr val="E0707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7" name="Text 35"/>
          <p:cNvSpPr/>
          <p:nvPr/>
        </p:nvSpPr>
        <p:spPr>
          <a:xfrm>
            <a:off x="7351776" y="2174967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E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modelo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370064" y="2760183"/>
            <a:ext cx="1444752" cy="1641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152400">
              <a:buChar char="•"/>
            </a:pPr>
            <a:r>
              <a:rPr lang="es-AR" sz="1050" dirty="0">
                <a:solidFill>
                  <a:srgbClr val="FFFFFF"/>
                </a:solidFill>
              </a:rPr>
              <a:t>Calcular accuracy, F1-score, ROC y conf. Matrix.</a:t>
            </a:r>
          </a:p>
          <a:p>
            <a:pPr marL="203200" indent="-152400">
              <a:buChar char="•"/>
            </a:pPr>
            <a:r>
              <a:rPr lang="es-AR" sz="1050" dirty="0">
                <a:solidFill>
                  <a:srgbClr val="FFFFFF"/>
                </a:solidFill>
              </a:rPr>
              <a:t>Analizar errores por tipo de patología.</a:t>
            </a:r>
          </a:p>
          <a:p>
            <a:pPr marL="203200" indent="-152400">
              <a:buChar char="•"/>
            </a:pPr>
            <a:r>
              <a:rPr lang="es-AR" sz="1050" dirty="0">
                <a:solidFill>
                  <a:srgbClr val="FFFFFF"/>
                </a:solidFill>
              </a:rPr>
              <a:t>Validar resultados con el CIBIO.</a:t>
            </a:r>
          </a:p>
          <a:p>
            <a:pPr marL="203200" indent="-152400">
              <a:buChar char="•"/>
            </a:pPr>
            <a:r>
              <a:rPr lang="es-AR" sz="1050" dirty="0">
                <a:solidFill>
                  <a:srgbClr val="FFFFFF"/>
                </a:solidFill>
              </a:rPr>
              <a:t>Optimizar modelo con resultados preliminares.</a:t>
            </a:r>
          </a:p>
        </p:txBody>
      </p:sp>
      <p:sp>
        <p:nvSpPr>
          <p:cNvPr id="39" name="Shape 37"/>
          <p:cNvSpPr/>
          <p:nvPr/>
        </p:nvSpPr>
        <p:spPr>
          <a:xfrm>
            <a:off x="347472" y="4604004"/>
            <a:ext cx="8449056" cy="219456"/>
          </a:xfrm>
          <a:prstGeom prst="rect">
            <a:avLst/>
          </a:prstGeom>
          <a:solidFill>
            <a:srgbClr val="253649"/>
          </a:solidFill>
          <a:ln w="5080">
            <a:solidFill>
              <a:srgbClr val="17243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0" name="Text 38"/>
          <p:cNvSpPr/>
          <p:nvPr/>
        </p:nvSpPr>
        <p:spPr>
          <a:xfrm>
            <a:off x="438912" y="4631436"/>
            <a:ext cx="8266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E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Agile  |  16 sprints de 2 semanas  |  10 hs/semana  |  Sprint 0 – Sprint 15  |  Abril – Diciembre 2026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89992"/>
            <a:ext cx="1417320" cy="237744"/>
          </a:xfrm>
          <a:prstGeom prst="roundRect">
            <a:avLst>
              <a:gd name="adj" fmla="val 15385"/>
            </a:avLst>
          </a:prstGeom>
          <a:solidFill>
            <a:srgbClr val="4ABFCF"/>
          </a:solidFill>
          <a:ln w="12700">
            <a:solidFill>
              <a:srgbClr val="4ABFC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347472" y="28999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47472" y="548640"/>
            <a:ext cx="8449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 de Sprints  —  Resumen por fase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47472" y="1389888"/>
            <a:ext cx="8449056" cy="274320"/>
          </a:xfrm>
          <a:prstGeom prst="rect">
            <a:avLst/>
          </a:prstGeom>
          <a:solidFill>
            <a:srgbClr val="2E8FA0"/>
          </a:solidFill>
          <a:ln w="12700">
            <a:solidFill>
              <a:srgbClr val="2E8FA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402336" y="1426464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609344" y="1426464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547872" y="142646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407408" y="1426464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02336" y="1664208"/>
            <a:ext cx="8394192" cy="433034"/>
          </a:xfrm>
          <a:prstGeom prst="rect">
            <a:avLst/>
          </a:prstGeom>
          <a:solidFill>
            <a:srgbClr val="2C3E52"/>
          </a:solidFill>
          <a:ln w="12700">
            <a:solidFill>
              <a:srgbClr val="2C3E5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Shape 9"/>
          <p:cNvSpPr/>
          <p:nvPr/>
        </p:nvSpPr>
        <p:spPr>
          <a:xfrm>
            <a:off x="347472" y="1664208"/>
            <a:ext cx="41148" cy="433034"/>
          </a:xfrm>
          <a:prstGeom prst="rect">
            <a:avLst/>
          </a:prstGeom>
          <a:solidFill>
            <a:srgbClr val="4ABFCF"/>
          </a:solidFill>
          <a:ln w="12700">
            <a:solidFill>
              <a:srgbClr val="4ABFC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470916" y="1685109"/>
            <a:ext cx="1170432" cy="378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0–2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609344" y="1691640"/>
            <a:ext cx="1901952" cy="378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 + EDA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547872" y="1691640"/>
            <a:ext cx="822960" cy="378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HU1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407408" y="1691640"/>
            <a:ext cx="4480560" cy="378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Redacción del plan de </a:t>
            </a:r>
            <a:r>
              <a:rPr lang="en-US" sz="95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</a:t>
            </a:r>
            <a:r>
              <a:rPr lang="en-US" sz="9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r>
              <a:rPr lang="en-US" sz="95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Investigación</a:t>
            </a:r>
            <a:r>
              <a:rPr lang="en-US" sz="9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estado del </a:t>
            </a:r>
            <a:r>
              <a:rPr lang="en-US" sz="95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</a:t>
            </a:r>
            <a:r>
              <a:rPr lang="en-US" sz="9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Carga de datasets y análisis de calidad de grabaciones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47472" y="2115530"/>
            <a:ext cx="8449056" cy="433034"/>
          </a:xfrm>
          <a:prstGeom prst="rect">
            <a:avLst/>
          </a:prstGeom>
          <a:solidFill>
            <a:srgbClr val="253649"/>
          </a:solidFill>
          <a:ln w="12700">
            <a:solidFill>
              <a:srgbClr val="25364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7" name="Shape 15"/>
          <p:cNvSpPr/>
          <p:nvPr/>
        </p:nvSpPr>
        <p:spPr>
          <a:xfrm>
            <a:off x="347472" y="2115530"/>
            <a:ext cx="41148" cy="433034"/>
          </a:xfrm>
          <a:prstGeom prst="rect">
            <a:avLst/>
          </a:prstGeom>
          <a:solidFill>
            <a:srgbClr val="4ABFCF"/>
          </a:solidFill>
          <a:ln w="12700">
            <a:solidFill>
              <a:srgbClr val="4ABFC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8" name="Text 16"/>
          <p:cNvSpPr/>
          <p:nvPr/>
        </p:nvSpPr>
        <p:spPr>
          <a:xfrm>
            <a:off x="474180" y="2142962"/>
            <a:ext cx="1170432" cy="378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609344" y="2142962"/>
            <a:ext cx="1901952" cy="378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547872" y="2142962"/>
            <a:ext cx="822960" cy="378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HU2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407408" y="2142962"/>
            <a:ext cx="4480560" cy="378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Formas de onda temporales y representaciones frecuenciales por clase para orientar el preprocesamiento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47472" y="2566851"/>
            <a:ext cx="8449056" cy="433034"/>
          </a:xfrm>
          <a:prstGeom prst="rect">
            <a:avLst/>
          </a:prstGeom>
          <a:solidFill>
            <a:srgbClr val="2C3E52"/>
          </a:solidFill>
          <a:ln w="12700">
            <a:solidFill>
              <a:srgbClr val="2C3E5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3" name="Shape 21"/>
          <p:cNvSpPr/>
          <p:nvPr/>
        </p:nvSpPr>
        <p:spPr>
          <a:xfrm>
            <a:off x="347472" y="2566851"/>
            <a:ext cx="41148" cy="433034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4" name="Text 22"/>
          <p:cNvSpPr/>
          <p:nvPr/>
        </p:nvSpPr>
        <p:spPr>
          <a:xfrm>
            <a:off x="474180" y="2594283"/>
            <a:ext cx="1170432" cy="378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4–5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609344" y="2594283"/>
            <a:ext cx="1901952" cy="378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Preprocesamiento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547872" y="2594283"/>
            <a:ext cx="822960" cy="378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HU3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407408" y="2594283"/>
            <a:ext cx="4480560" cy="378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Eliminación de </a:t>
            </a:r>
            <a:r>
              <a:rPr lang="en-US" sz="95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ruido</a:t>
            </a:r>
            <a:r>
              <a:rPr lang="en-US" sz="9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r>
              <a:rPr lang="en-US" sz="95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Remuestreo</a:t>
            </a:r>
            <a:r>
              <a:rPr lang="en-US" sz="9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95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frecuencia</a:t>
            </a:r>
            <a:r>
              <a:rPr lang="en-US" sz="9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común</a:t>
            </a:r>
            <a:r>
              <a:rPr lang="en-US" sz="9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r>
              <a:rPr lang="en-US" sz="95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Normalización</a:t>
            </a:r>
            <a:r>
              <a:rPr lang="en-US" sz="9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95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</a:t>
            </a:r>
            <a:r>
              <a:rPr lang="en-US" sz="9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r>
              <a:rPr lang="en-US" sz="95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</a:t>
            </a:r>
            <a:r>
              <a:rPr lang="en-US" sz="9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visual pre/post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47472" y="3018173"/>
            <a:ext cx="8449056" cy="433034"/>
          </a:xfrm>
          <a:prstGeom prst="rect">
            <a:avLst/>
          </a:prstGeom>
          <a:solidFill>
            <a:srgbClr val="253649"/>
          </a:solidFill>
          <a:ln w="12700">
            <a:solidFill>
              <a:srgbClr val="25364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9" name="Shape 27"/>
          <p:cNvSpPr/>
          <p:nvPr/>
        </p:nvSpPr>
        <p:spPr>
          <a:xfrm>
            <a:off x="347472" y="3018173"/>
            <a:ext cx="41148" cy="433034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0" name="Text 28"/>
          <p:cNvSpPr/>
          <p:nvPr/>
        </p:nvSpPr>
        <p:spPr>
          <a:xfrm>
            <a:off x="474180" y="3045605"/>
            <a:ext cx="1170432" cy="378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6–7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609344" y="3045605"/>
            <a:ext cx="1901952" cy="378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Extracción de features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547872" y="3045605"/>
            <a:ext cx="822960" cy="378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HU4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407408" y="3045605"/>
            <a:ext cx="4480560" cy="378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Mel + MFCC - </a:t>
            </a:r>
            <a:r>
              <a:rPr lang="en-US" sz="95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Experimentación</a:t>
            </a:r>
            <a:r>
              <a:rPr lang="en-US" sz="9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parámetros (ventana, </a:t>
            </a:r>
            <a:r>
              <a:rPr lang="en-US" sz="95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coeficientes</a:t>
            </a:r>
            <a:r>
              <a:rPr lang="en-US" sz="9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-  </a:t>
            </a:r>
            <a:r>
              <a:rPr lang="en-US" sz="95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Almacenamiento</a:t>
            </a:r>
            <a:r>
              <a:rPr lang="en-US" sz="9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documentación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47472" y="3469495"/>
            <a:ext cx="8449056" cy="433034"/>
          </a:xfrm>
          <a:prstGeom prst="rect">
            <a:avLst/>
          </a:prstGeom>
          <a:solidFill>
            <a:srgbClr val="2C3E52"/>
          </a:solidFill>
          <a:ln w="12700">
            <a:solidFill>
              <a:srgbClr val="2C3E5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5" name="Shape 33"/>
          <p:cNvSpPr/>
          <p:nvPr/>
        </p:nvSpPr>
        <p:spPr>
          <a:xfrm>
            <a:off x="347472" y="3469495"/>
            <a:ext cx="41148" cy="433034"/>
          </a:xfrm>
          <a:prstGeom prst="rect">
            <a:avLst/>
          </a:prstGeom>
          <a:solidFill>
            <a:srgbClr val="3DBFA0"/>
          </a:solidFill>
          <a:ln w="12700">
            <a:solidFill>
              <a:srgbClr val="3DBFA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6" name="Text 34"/>
          <p:cNvSpPr/>
          <p:nvPr/>
        </p:nvSpPr>
        <p:spPr>
          <a:xfrm>
            <a:off x="474180" y="3496927"/>
            <a:ext cx="1170432" cy="378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8–9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609344" y="3496927"/>
            <a:ext cx="1901952" cy="378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547872" y="3496927"/>
            <a:ext cx="822960" cy="378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HU5–HU6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407408" y="3496927"/>
            <a:ext cx="4480560" cy="378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Investigación y selección de </a:t>
            </a:r>
            <a:r>
              <a:rPr lang="en-US" sz="95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arquitecturas</a:t>
            </a:r>
            <a:r>
              <a:rPr lang="en-US" sz="9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95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Entrenamiento</a:t>
            </a:r>
            <a:r>
              <a:rPr lang="en-US" sz="9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r>
              <a:rPr lang="en-US" sz="95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</a:t>
            </a:r>
            <a:r>
              <a:rPr lang="en-US" sz="9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enfoque integrado vs. separado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47472" y="3920817"/>
            <a:ext cx="8449056" cy="433034"/>
          </a:xfrm>
          <a:prstGeom prst="rect">
            <a:avLst/>
          </a:prstGeom>
          <a:solidFill>
            <a:srgbClr val="253649"/>
          </a:solidFill>
          <a:ln w="12700">
            <a:solidFill>
              <a:srgbClr val="25364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1" name="Shape 39"/>
          <p:cNvSpPr/>
          <p:nvPr/>
        </p:nvSpPr>
        <p:spPr>
          <a:xfrm>
            <a:off x="347472" y="3920817"/>
            <a:ext cx="41148" cy="433034"/>
          </a:xfrm>
          <a:prstGeom prst="rect">
            <a:avLst/>
          </a:prstGeom>
          <a:solidFill>
            <a:srgbClr val="E07070"/>
          </a:solidFill>
          <a:ln w="12700">
            <a:solidFill>
              <a:srgbClr val="E0707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2" name="Text 40"/>
          <p:cNvSpPr/>
          <p:nvPr/>
        </p:nvSpPr>
        <p:spPr>
          <a:xfrm>
            <a:off x="474180" y="3948249"/>
            <a:ext cx="1170432" cy="378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10–11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1609344" y="3948249"/>
            <a:ext cx="1901952" cy="378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3547872" y="3948249"/>
            <a:ext cx="822960" cy="378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HU6–HU8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407408" y="3948249"/>
            <a:ext cx="4480560" cy="378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errores </a:t>
            </a:r>
            <a:r>
              <a:rPr lang="en-US" sz="95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9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patología</a:t>
            </a:r>
            <a:r>
              <a:rPr lang="en-US" sz="9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r>
              <a:rPr lang="en-US" sz="95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</a:t>
            </a:r>
            <a:r>
              <a:rPr lang="en-US" sz="9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finales - </a:t>
            </a:r>
            <a:r>
              <a:rPr lang="en-US" sz="95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</a:t>
            </a:r>
            <a:r>
              <a:rPr lang="en-US" sz="9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</a:t>
            </a:r>
            <a:r>
              <a:rPr lang="en-US" sz="95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r>
              <a:rPr lang="en-US" sz="9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r>
              <a:rPr lang="en-US" sz="95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</a:t>
            </a:r>
            <a:r>
              <a:rPr lang="en-US" sz="9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estado del arte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47472" y="4372138"/>
            <a:ext cx="8449056" cy="433034"/>
          </a:xfrm>
          <a:prstGeom prst="rect">
            <a:avLst/>
          </a:prstGeom>
          <a:solidFill>
            <a:srgbClr val="2C3E52"/>
          </a:solidFill>
          <a:ln w="12700">
            <a:solidFill>
              <a:srgbClr val="2C3E5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7" name="Shape 45"/>
          <p:cNvSpPr/>
          <p:nvPr/>
        </p:nvSpPr>
        <p:spPr>
          <a:xfrm>
            <a:off x="347472" y="4372138"/>
            <a:ext cx="41148" cy="433034"/>
          </a:xfrm>
          <a:prstGeom prst="rect">
            <a:avLst/>
          </a:prstGeom>
          <a:solidFill>
            <a:srgbClr val="7B9EC0"/>
          </a:solidFill>
          <a:ln w="12700">
            <a:solidFill>
              <a:srgbClr val="7B9EC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8" name="Text 46"/>
          <p:cNvSpPr/>
          <p:nvPr/>
        </p:nvSpPr>
        <p:spPr>
          <a:xfrm>
            <a:off x="474180" y="4399570"/>
            <a:ext cx="1170432" cy="378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12–15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1609344" y="4399570"/>
            <a:ext cx="1901952" cy="378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 técnica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3547872" y="4399570"/>
            <a:ext cx="822960" cy="378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HU9–HU10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407408" y="4399570"/>
            <a:ext cx="4480560" cy="378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Redacción</a:t>
            </a:r>
            <a:r>
              <a:rPr lang="en-US" sz="9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la memoria de </a:t>
            </a:r>
            <a:r>
              <a:rPr lang="en-US" sz="95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</a:t>
            </a:r>
            <a:r>
              <a:rPr lang="en-US" sz="9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r>
              <a:rPr lang="en-US" sz="95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</a:t>
            </a:r>
            <a:r>
              <a:rPr lang="en-US" sz="9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correcciones con </a:t>
            </a:r>
            <a:r>
              <a:rPr lang="en-US" sz="95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9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director - </a:t>
            </a:r>
            <a:r>
              <a:rPr lang="en-US" sz="95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Pgreparación</a:t>
            </a:r>
            <a:r>
              <a:rPr lang="en-US" sz="9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la defensa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89992"/>
            <a:ext cx="1417320" cy="237744"/>
          </a:xfrm>
          <a:prstGeom prst="roundRect">
            <a:avLst>
              <a:gd name="adj" fmla="val 15385"/>
            </a:avLst>
          </a:prstGeom>
          <a:solidFill>
            <a:srgbClr val="4ABFCF"/>
          </a:solidFill>
          <a:ln w="12700">
            <a:solidFill>
              <a:srgbClr val="4ABFC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347472" y="28999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47472" y="666202"/>
            <a:ext cx="8449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Gantt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331720" y="1389888"/>
            <a:ext cx="6464808" cy="256032"/>
          </a:xfrm>
          <a:prstGeom prst="rect">
            <a:avLst/>
          </a:prstGeom>
          <a:solidFill>
            <a:srgbClr val="2E8FA0"/>
          </a:solidFill>
          <a:ln w="12700">
            <a:solidFill>
              <a:srgbClr val="2E8FA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2331720" y="1417320"/>
            <a:ext cx="718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050032" y="1417320"/>
            <a:ext cx="718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050032" y="1389888"/>
            <a:ext cx="10973" cy="3433572"/>
          </a:xfrm>
          <a:prstGeom prst="rect">
            <a:avLst/>
          </a:prstGeom>
          <a:solidFill>
            <a:srgbClr val="172433"/>
          </a:solidFill>
          <a:ln w="12700">
            <a:solidFill>
              <a:srgbClr val="17243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3768344" y="1417320"/>
            <a:ext cx="718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768344" y="1389888"/>
            <a:ext cx="10973" cy="3433572"/>
          </a:xfrm>
          <a:prstGeom prst="rect">
            <a:avLst/>
          </a:prstGeom>
          <a:solidFill>
            <a:srgbClr val="172433"/>
          </a:solidFill>
          <a:ln w="12700">
            <a:solidFill>
              <a:srgbClr val="17243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4486656" y="1417320"/>
            <a:ext cx="718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486656" y="1389888"/>
            <a:ext cx="10973" cy="3433572"/>
          </a:xfrm>
          <a:prstGeom prst="rect">
            <a:avLst/>
          </a:prstGeom>
          <a:solidFill>
            <a:srgbClr val="172433"/>
          </a:solidFill>
          <a:ln w="12700">
            <a:solidFill>
              <a:srgbClr val="17243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5204968" y="1417320"/>
            <a:ext cx="718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204968" y="1389888"/>
            <a:ext cx="10973" cy="3433572"/>
          </a:xfrm>
          <a:prstGeom prst="rect">
            <a:avLst/>
          </a:prstGeom>
          <a:solidFill>
            <a:srgbClr val="172433"/>
          </a:solidFill>
          <a:ln w="12700">
            <a:solidFill>
              <a:srgbClr val="17243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Text 13"/>
          <p:cNvSpPr/>
          <p:nvPr/>
        </p:nvSpPr>
        <p:spPr>
          <a:xfrm>
            <a:off x="5923280" y="1417320"/>
            <a:ext cx="718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23280" y="1389888"/>
            <a:ext cx="10973" cy="3433572"/>
          </a:xfrm>
          <a:prstGeom prst="rect">
            <a:avLst/>
          </a:prstGeom>
          <a:solidFill>
            <a:srgbClr val="172433"/>
          </a:solidFill>
          <a:ln w="12700">
            <a:solidFill>
              <a:srgbClr val="17243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/>
          <p:nvPr/>
        </p:nvSpPr>
        <p:spPr>
          <a:xfrm>
            <a:off x="6641592" y="1417320"/>
            <a:ext cx="718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641592" y="1389888"/>
            <a:ext cx="10973" cy="3433572"/>
          </a:xfrm>
          <a:prstGeom prst="rect">
            <a:avLst/>
          </a:prstGeom>
          <a:solidFill>
            <a:srgbClr val="172433"/>
          </a:solidFill>
          <a:ln w="12700">
            <a:solidFill>
              <a:srgbClr val="17243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9" name="Text 17"/>
          <p:cNvSpPr/>
          <p:nvPr/>
        </p:nvSpPr>
        <p:spPr>
          <a:xfrm>
            <a:off x="7359904" y="1417320"/>
            <a:ext cx="718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59904" y="1389888"/>
            <a:ext cx="10973" cy="3433572"/>
          </a:xfrm>
          <a:prstGeom prst="rect">
            <a:avLst/>
          </a:prstGeom>
          <a:solidFill>
            <a:srgbClr val="172433"/>
          </a:solidFill>
          <a:ln w="12700">
            <a:solidFill>
              <a:srgbClr val="17243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1" name="Text 19"/>
          <p:cNvSpPr/>
          <p:nvPr/>
        </p:nvSpPr>
        <p:spPr>
          <a:xfrm>
            <a:off x="8078216" y="1417320"/>
            <a:ext cx="718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078216" y="1389888"/>
            <a:ext cx="10973" cy="3433572"/>
          </a:xfrm>
          <a:prstGeom prst="rect">
            <a:avLst/>
          </a:prstGeom>
          <a:solidFill>
            <a:srgbClr val="172433"/>
          </a:solidFill>
          <a:ln w="12700">
            <a:solidFill>
              <a:srgbClr val="17243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4" name="Text 22"/>
          <p:cNvSpPr/>
          <p:nvPr/>
        </p:nvSpPr>
        <p:spPr>
          <a:xfrm>
            <a:off x="3639007" y="1655064"/>
            <a:ext cx="4389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E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91163" y="1682496"/>
            <a:ext cx="1892808" cy="380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 + EDA</a:t>
            </a:r>
            <a:endParaRPr lang="en-US" sz="1200" b="1" dirty="0"/>
          </a:p>
        </p:txBody>
      </p:sp>
      <p:sp>
        <p:nvSpPr>
          <p:cNvPr id="26" name="Shape 24"/>
          <p:cNvSpPr/>
          <p:nvPr/>
        </p:nvSpPr>
        <p:spPr>
          <a:xfrm>
            <a:off x="2331720" y="1645920"/>
            <a:ext cx="6464808" cy="435646"/>
          </a:xfrm>
          <a:prstGeom prst="rect">
            <a:avLst/>
          </a:prstGeom>
          <a:solidFill>
            <a:srgbClr val="2C3E52"/>
          </a:solidFill>
          <a:ln w="2540">
            <a:solidFill>
              <a:srgbClr val="17243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7" name="Shape 25"/>
          <p:cNvSpPr/>
          <p:nvPr/>
        </p:nvSpPr>
        <p:spPr>
          <a:xfrm>
            <a:off x="2331720" y="1700784"/>
            <a:ext cx="1795780" cy="307630"/>
          </a:xfrm>
          <a:prstGeom prst="rect">
            <a:avLst/>
          </a:prstGeom>
          <a:solidFill>
            <a:srgbClr val="4ABFCF"/>
          </a:solidFill>
          <a:ln w="12700">
            <a:solidFill>
              <a:srgbClr val="4ABFC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8" name="Text 26"/>
          <p:cNvSpPr/>
          <p:nvPr/>
        </p:nvSpPr>
        <p:spPr>
          <a:xfrm>
            <a:off x="491163" y="2136430"/>
            <a:ext cx="1892808" cy="380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– HU2</a:t>
            </a:r>
            <a:endParaRPr lang="en-US" sz="1200" b="1" dirty="0"/>
          </a:p>
        </p:txBody>
      </p:sp>
      <p:sp>
        <p:nvSpPr>
          <p:cNvPr id="29" name="Shape 27"/>
          <p:cNvSpPr/>
          <p:nvPr/>
        </p:nvSpPr>
        <p:spPr>
          <a:xfrm>
            <a:off x="2331720" y="2099854"/>
            <a:ext cx="6464808" cy="435646"/>
          </a:xfrm>
          <a:prstGeom prst="rect">
            <a:avLst/>
          </a:prstGeom>
          <a:solidFill>
            <a:srgbClr val="253649"/>
          </a:solidFill>
          <a:ln w="2540">
            <a:solidFill>
              <a:srgbClr val="17243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0" name="Shape 28"/>
          <p:cNvSpPr/>
          <p:nvPr/>
        </p:nvSpPr>
        <p:spPr>
          <a:xfrm>
            <a:off x="3409188" y="2154718"/>
            <a:ext cx="933806" cy="307630"/>
          </a:xfrm>
          <a:prstGeom prst="rect">
            <a:avLst/>
          </a:prstGeom>
          <a:solidFill>
            <a:srgbClr val="7B9EC0"/>
          </a:solidFill>
          <a:ln w="12700">
            <a:solidFill>
              <a:srgbClr val="7B9EC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1" name="Text 29"/>
          <p:cNvSpPr/>
          <p:nvPr/>
        </p:nvSpPr>
        <p:spPr>
          <a:xfrm>
            <a:off x="491163" y="2590365"/>
            <a:ext cx="1892808" cy="380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Preprocesamiento – HU3</a:t>
            </a:r>
            <a:endParaRPr lang="en-US" sz="1200" b="1" dirty="0"/>
          </a:p>
        </p:txBody>
      </p:sp>
      <p:sp>
        <p:nvSpPr>
          <p:cNvPr id="32" name="Shape 30"/>
          <p:cNvSpPr/>
          <p:nvPr/>
        </p:nvSpPr>
        <p:spPr>
          <a:xfrm>
            <a:off x="2331720" y="2553789"/>
            <a:ext cx="6464808" cy="435646"/>
          </a:xfrm>
          <a:prstGeom prst="rect">
            <a:avLst/>
          </a:prstGeom>
          <a:solidFill>
            <a:srgbClr val="2C3E52"/>
          </a:solidFill>
          <a:ln w="2540">
            <a:solidFill>
              <a:srgbClr val="17243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3" name="Shape 31"/>
          <p:cNvSpPr/>
          <p:nvPr/>
        </p:nvSpPr>
        <p:spPr>
          <a:xfrm>
            <a:off x="3768344" y="2608653"/>
            <a:ext cx="1436624" cy="307630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4" name="Text 32"/>
          <p:cNvSpPr/>
          <p:nvPr/>
        </p:nvSpPr>
        <p:spPr>
          <a:xfrm>
            <a:off x="491163" y="3044299"/>
            <a:ext cx="1892808" cy="380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– HU4</a:t>
            </a:r>
            <a:endParaRPr lang="en-US" sz="1200" b="1" dirty="0"/>
          </a:p>
        </p:txBody>
      </p:sp>
      <p:sp>
        <p:nvSpPr>
          <p:cNvPr id="35" name="Shape 33"/>
          <p:cNvSpPr/>
          <p:nvPr/>
        </p:nvSpPr>
        <p:spPr>
          <a:xfrm>
            <a:off x="2331720" y="3007723"/>
            <a:ext cx="6464808" cy="435646"/>
          </a:xfrm>
          <a:prstGeom prst="rect">
            <a:avLst/>
          </a:prstGeom>
          <a:solidFill>
            <a:srgbClr val="253649"/>
          </a:solidFill>
          <a:ln w="2540">
            <a:solidFill>
              <a:srgbClr val="17243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6" name="Shape 34"/>
          <p:cNvSpPr/>
          <p:nvPr/>
        </p:nvSpPr>
        <p:spPr>
          <a:xfrm>
            <a:off x="4630318" y="3062587"/>
            <a:ext cx="1292962" cy="307630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7" name="Text 35"/>
          <p:cNvSpPr/>
          <p:nvPr/>
        </p:nvSpPr>
        <p:spPr>
          <a:xfrm>
            <a:off x="491163" y="3498233"/>
            <a:ext cx="1892808" cy="380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 – HU5/6</a:t>
            </a:r>
            <a:endParaRPr lang="en-US" sz="1200" b="1" dirty="0"/>
          </a:p>
        </p:txBody>
      </p:sp>
      <p:sp>
        <p:nvSpPr>
          <p:cNvPr id="38" name="Shape 36"/>
          <p:cNvSpPr/>
          <p:nvPr/>
        </p:nvSpPr>
        <p:spPr>
          <a:xfrm>
            <a:off x="2331720" y="3461657"/>
            <a:ext cx="6464808" cy="435646"/>
          </a:xfrm>
          <a:prstGeom prst="rect">
            <a:avLst/>
          </a:prstGeom>
          <a:solidFill>
            <a:srgbClr val="2C3E52"/>
          </a:solidFill>
          <a:ln w="2540">
            <a:solidFill>
              <a:srgbClr val="17243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9" name="Shape 37"/>
          <p:cNvSpPr/>
          <p:nvPr/>
        </p:nvSpPr>
        <p:spPr>
          <a:xfrm>
            <a:off x="5564124" y="3516521"/>
            <a:ext cx="1436624" cy="307630"/>
          </a:xfrm>
          <a:prstGeom prst="rect">
            <a:avLst/>
          </a:prstGeom>
          <a:solidFill>
            <a:srgbClr val="3DBFA0"/>
          </a:solidFill>
          <a:ln w="12700">
            <a:solidFill>
              <a:srgbClr val="3DBFA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0" name="Text 38"/>
          <p:cNvSpPr/>
          <p:nvPr/>
        </p:nvSpPr>
        <p:spPr>
          <a:xfrm>
            <a:off x="491163" y="3952167"/>
            <a:ext cx="1892808" cy="380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– HU7/8</a:t>
            </a:r>
            <a:endParaRPr lang="en-US" sz="1200" b="1" dirty="0"/>
          </a:p>
        </p:txBody>
      </p:sp>
      <p:sp>
        <p:nvSpPr>
          <p:cNvPr id="41" name="Shape 39"/>
          <p:cNvSpPr/>
          <p:nvPr/>
        </p:nvSpPr>
        <p:spPr>
          <a:xfrm>
            <a:off x="2331720" y="3915591"/>
            <a:ext cx="6464808" cy="435646"/>
          </a:xfrm>
          <a:prstGeom prst="rect">
            <a:avLst/>
          </a:prstGeom>
          <a:solidFill>
            <a:srgbClr val="253649"/>
          </a:solidFill>
          <a:ln w="2540">
            <a:solidFill>
              <a:srgbClr val="17243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2" name="Shape 40"/>
          <p:cNvSpPr/>
          <p:nvPr/>
        </p:nvSpPr>
        <p:spPr>
          <a:xfrm>
            <a:off x="6497930" y="3970455"/>
            <a:ext cx="1005637" cy="307630"/>
          </a:xfrm>
          <a:prstGeom prst="rect">
            <a:avLst/>
          </a:prstGeom>
          <a:solidFill>
            <a:srgbClr val="E07070"/>
          </a:solidFill>
          <a:ln w="12700">
            <a:solidFill>
              <a:srgbClr val="E0707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3" name="Text 41"/>
          <p:cNvSpPr/>
          <p:nvPr/>
        </p:nvSpPr>
        <p:spPr>
          <a:xfrm>
            <a:off x="491163" y="4406102"/>
            <a:ext cx="1892808" cy="380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Mem. técnica – HU9/10</a:t>
            </a:r>
            <a:endParaRPr lang="en-US" sz="1200" b="1" dirty="0"/>
          </a:p>
        </p:txBody>
      </p:sp>
      <p:sp>
        <p:nvSpPr>
          <p:cNvPr id="44" name="Shape 42"/>
          <p:cNvSpPr/>
          <p:nvPr/>
        </p:nvSpPr>
        <p:spPr>
          <a:xfrm>
            <a:off x="2331720" y="4369526"/>
            <a:ext cx="6464808" cy="435646"/>
          </a:xfrm>
          <a:prstGeom prst="rect">
            <a:avLst/>
          </a:prstGeom>
          <a:solidFill>
            <a:srgbClr val="2C3E52"/>
          </a:solidFill>
          <a:ln w="2540">
            <a:solidFill>
              <a:srgbClr val="17243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5" name="Shape 43"/>
          <p:cNvSpPr/>
          <p:nvPr/>
        </p:nvSpPr>
        <p:spPr>
          <a:xfrm>
            <a:off x="7000748" y="4424390"/>
            <a:ext cx="1795780" cy="307630"/>
          </a:xfrm>
          <a:prstGeom prst="rect">
            <a:avLst/>
          </a:prstGeom>
          <a:solidFill>
            <a:srgbClr val="7B9EC0"/>
          </a:solidFill>
          <a:ln w="12700">
            <a:solidFill>
              <a:srgbClr val="7B9EC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3" name="Shape 21"/>
          <p:cNvSpPr/>
          <p:nvPr/>
        </p:nvSpPr>
        <p:spPr>
          <a:xfrm>
            <a:off x="3840175" y="1389888"/>
            <a:ext cx="10973" cy="3433572"/>
          </a:xfrm>
          <a:prstGeom prst="rect">
            <a:avLst/>
          </a:prstGeom>
          <a:solidFill>
            <a:srgbClr val="E07070"/>
          </a:solidFill>
          <a:ln w="12700">
            <a:solidFill>
              <a:srgbClr val="E0707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89992"/>
            <a:ext cx="1417320" cy="237744"/>
          </a:xfrm>
          <a:prstGeom prst="roundRect">
            <a:avLst>
              <a:gd name="adj" fmla="val 15385"/>
            </a:avLst>
          </a:prstGeom>
          <a:solidFill>
            <a:srgbClr val="4ABFCF"/>
          </a:solidFill>
          <a:ln w="12700">
            <a:solidFill>
              <a:srgbClr val="4ABFC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347472" y="28999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GOBERNANZA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47472" y="694944"/>
            <a:ext cx="8449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Gobernanza de datos y ética en IA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47472" y="1389888"/>
            <a:ext cx="2724912" cy="1359517"/>
          </a:xfrm>
          <a:prstGeom prst="rect">
            <a:avLst/>
          </a:prstGeom>
          <a:solidFill>
            <a:srgbClr val="2C3E52"/>
          </a:solidFill>
          <a:ln w="7620">
            <a:solidFill>
              <a:srgbClr val="4ABFC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Shape 4"/>
          <p:cNvSpPr/>
          <p:nvPr/>
        </p:nvSpPr>
        <p:spPr>
          <a:xfrm>
            <a:off x="347472" y="1389888"/>
            <a:ext cx="41148" cy="1359517"/>
          </a:xfrm>
          <a:prstGeom prst="rect">
            <a:avLst/>
          </a:prstGeom>
          <a:solidFill>
            <a:srgbClr val="4ABFCF"/>
          </a:solidFill>
          <a:ln w="12700">
            <a:solidFill>
              <a:srgbClr val="4ABFC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484632" y="154664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(Unión Europea)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9204" y="1865376"/>
            <a:ext cx="248259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de instituciones europeas. El proyecto cumple sus principios: datos anónimos, fines académicos, sin posibilidad de identificación.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1389888"/>
            <a:ext cx="2724912" cy="1359517"/>
          </a:xfrm>
          <a:prstGeom prst="rect">
            <a:avLst/>
          </a:prstGeom>
          <a:solidFill>
            <a:srgbClr val="2C3E52"/>
          </a:solidFill>
          <a:ln w="7620">
            <a:solidFill>
              <a:srgbClr val="7B9EC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Shape 8"/>
          <p:cNvSpPr/>
          <p:nvPr/>
        </p:nvSpPr>
        <p:spPr>
          <a:xfrm>
            <a:off x="3200400" y="1389888"/>
            <a:ext cx="41148" cy="1359517"/>
          </a:xfrm>
          <a:prstGeom prst="rect">
            <a:avLst/>
          </a:prstGeom>
          <a:solidFill>
            <a:srgbClr val="7B9EC0"/>
          </a:solidFill>
          <a:ln w="12700">
            <a:solidFill>
              <a:srgbClr val="7B9EC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3350620" y="154664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25.326 (Argentina)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44744" y="1828800"/>
            <a:ext cx="2436223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 de </a:t>
            </a:r>
            <a:r>
              <a:rPr lang="en-US" sz="105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r>
              <a:rPr lang="en-US" sz="10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personales</a:t>
            </a:r>
            <a:r>
              <a:rPr lang="en-US" sz="10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Los datos no permiten identificar personas </a:t>
            </a:r>
            <a:r>
              <a:rPr lang="en-US" sz="105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físicas</a:t>
            </a:r>
            <a:r>
              <a:rPr lang="en-US" sz="10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05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encuadrado</a:t>
            </a:r>
            <a:r>
              <a:rPr lang="en-US" sz="10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los usos permitidos por la </a:t>
            </a:r>
            <a:r>
              <a:rPr lang="en-US" sz="105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normativa</a:t>
            </a:r>
            <a:r>
              <a:rPr lang="en-US" sz="10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53328" y="1389888"/>
            <a:ext cx="2724912" cy="1359517"/>
          </a:xfrm>
          <a:prstGeom prst="rect">
            <a:avLst/>
          </a:prstGeom>
          <a:solidFill>
            <a:srgbClr val="2C3E52"/>
          </a:solidFill>
          <a:ln w="7620">
            <a:solidFill>
              <a:srgbClr val="D4A84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Shape 12"/>
          <p:cNvSpPr/>
          <p:nvPr/>
        </p:nvSpPr>
        <p:spPr>
          <a:xfrm>
            <a:off x="6053328" y="1389888"/>
            <a:ext cx="41148" cy="1359517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Text 13"/>
          <p:cNvSpPr/>
          <p:nvPr/>
        </p:nvSpPr>
        <p:spPr>
          <a:xfrm>
            <a:off x="6183954" y="1550559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Propiedad intelectual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72200" y="1828800"/>
            <a:ext cx="2482596" cy="734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Entregables de carácter académico y acceso abierto. Se respetan las licencias de los datasets para investigación sin fines comerciales.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47472" y="3170682"/>
            <a:ext cx="2724912" cy="1359517"/>
          </a:xfrm>
          <a:prstGeom prst="rect">
            <a:avLst/>
          </a:prstGeom>
          <a:solidFill>
            <a:srgbClr val="2C3E52"/>
          </a:solidFill>
          <a:ln w="7620">
            <a:solidFill>
              <a:srgbClr val="3DBFA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8" name="Shape 16"/>
          <p:cNvSpPr/>
          <p:nvPr/>
        </p:nvSpPr>
        <p:spPr>
          <a:xfrm>
            <a:off x="347472" y="3170682"/>
            <a:ext cx="41148" cy="1359517"/>
          </a:xfrm>
          <a:prstGeom prst="rect">
            <a:avLst/>
          </a:prstGeom>
          <a:solidFill>
            <a:srgbClr val="3DBFA0"/>
          </a:solidFill>
          <a:ln w="12700">
            <a:solidFill>
              <a:srgbClr val="3DBFA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9" name="Text 17"/>
          <p:cNvSpPr/>
          <p:nvPr/>
        </p:nvSpPr>
        <p:spPr>
          <a:xfrm>
            <a:off x="484632" y="329510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Beneficencia y no maleficencia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" y="3598164"/>
            <a:ext cx="2415322" cy="631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es herramienta de </a:t>
            </a:r>
            <a:r>
              <a:rPr lang="en-US" sz="105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apoyo</a:t>
            </a:r>
            <a:r>
              <a:rPr lang="en-US" sz="10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 reemplaza el criterio clínico del profesional. Esta limitación está explícita en el alcance.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0" y="3170682"/>
            <a:ext cx="2724912" cy="1359517"/>
          </a:xfrm>
          <a:prstGeom prst="rect">
            <a:avLst/>
          </a:prstGeom>
          <a:solidFill>
            <a:srgbClr val="2C3E52"/>
          </a:solidFill>
          <a:ln w="7620">
            <a:solidFill>
              <a:srgbClr val="3DBFA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2" name="Shape 20"/>
          <p:cNvSpPr/>
          <p:nvPr/>
        </p:nvSpPr>
        <p:spPr>
          <a:xfrm>
            <a:off x="3200400" y="3170682"/>
            <a:ext cx="41148" cy="1359517"/>
          </a:xfrm>
          <a:prstGeom prst="rect">
            <a:avLst/>
          </a:prstGeom>
          <a:solidFill>
            <a:srgbClr val="3DBFA0"/>
          </a:solidFill>
          <a:ln w="12700">
            <a:solidFill>
              <a:srgbClr val="3DBFA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3" name="Text 21"/>
          <p:cNvSpPr/>
          <p:nvPr/>
        </p:nvSpPr>
        <p:spPr>
          <a:xfrm>
            <a:off x="3363684" y="3301311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Transparencia y equidad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63684" y="3593919"/>
            <a:ext cx="2370909" cy="11955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documentado y reproducible. Las limitaciones de diversidad poblacional de los datasets serán explicitadas en el informe.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53328" y="3170682"/>
            <a:ext cx="2724912" cy="1359517"/>
          </a:xfrm>
          <a:prstGeom prst="rect">
            <a:avLst/>
          </a:prstGeom>
          <a:solidFill>
            <a:srgbClr val="2C3E52"/>
          </a:solidFill>
          <a:ln w="7620">
            <a:solidFill>
              <a:srgbClr val="E0707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6" name="Shape 24"/>
          <p:cNvSpPr/>
          <p:nvPr/>
        </p:nvSpPr>
        <p:spPr>
          <a:xfrm>
            <a:off x="6053328" y="3170682"/>
            <a:ext cx="41148" cy="1359517"/>
          </a:xfrm>
          <a:prstGeom prst="rect">
            <a:avLst/>
          </a:prstGeom>
          <a:solidFill>
            <a:srgbClr val="E07070"/>
          </a:solidFill>
          <a:ln w="12700">
            <a:solidFill>
              <a:srgbClr val="E0707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7" name="Text 25"/>
          <p:cNvSpPr/>
          <p:nvPr/>
        </p:nvSpPr>
        <p:spPr>
          <a:xfrm>
            <a:off x="6217920" y="3301311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17920" y="3593919"/>
            <a:ext cx="2252690" cy="808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resultados se presentarán con rigor académico, sin exagerar capacidades ni minimizar limitaciones del sistema desarrollado.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89992"/>
            <a:ext cx="1417320" cy="237744"/>
          </a:xfrm>
          <a:prstGeom prst="roundRect">
            <a:avLst>
              <a:gd name="adj" fmla="val 15385"/>
            </a:avLst>
          </a:prstGeom>
          <a:solidFill>
            <a:srgbClr val="4ABFCF"/>
          </a:solidFill>
          <a:ln w="12700">
            <a:solidFill>
              <a:srgbClr val="4ABFC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347472" y="28999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47472" y="548640"/>
            <a:ext cx="8449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riesgos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47472" y="1042416"/>
            <a:ext cx="8449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RPN = Severidad × Ocurrencia  |  Criterio de actuación: RPN &gt; 13  |  (*) valores post-mitigación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47472" y="1389888"/>
            <a:ext cx="8449056" cy="274320"/>
          </a:xfrm>
          <a:prstGeom prst="rect">
            <a:avLst/>
          </a:prstGeom>
          <a:solidFill>
            <a:srgbClr val="2E8FA0"/>
          </a:solidFill>
          <a:ln w="12700">
            <a:solidFill>
              <a:srgbClr val="2E8FA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402336" y="1426464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227832" y="1426464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48456" y="1426464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069080" y="1426464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636008" y="1426464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RPN*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202936" y="1426464"/>
            <a:ext cx="3392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Mitigación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47472" y="1664208"/>
            <a:ext cx="8449056" cy="613562"/>
          </a:xfrm>
          <a:prstGeom prst="rect">
            <a:avLst/>
          </a:prstGeom>
          <a:solidFill>
            <a:srgbClr val="2C3E52"/>
          </a:solidFill>
          <a:ln w="12700">
            <a:solidFill>
              <a:srgbClr val="2C3E5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Shape 12"/>
          <p:cNvSpPr/>
          <p:nvPr/>
        </p:nvSpPr>
        <p:spPr>
          <a:xfrm>
            <a:off x="347472" y="1664208"/>
            <a:ext cx="41148" cy="613562"/>
          </a:xfrm>
          <a:prstGeom prst="rect">
            <a:avLst/>
          </a:prstGeom>
          <a:solidFill>
            <a:srgbClr val="4ABFCF"/>
          </a:solidFill>
          <a:ln w="12700">
            <a:solidFill>
              <a:srgbClr val="4ABFC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Text 13"/>
          <p:cNvSpPr/>
          <p:nvPr/>
        </p:nvSpPr>
        <p:spPr>
          <a:xfrm>
            <a:off x="487243" y="1700784"/>
            <a:ext cx="2372215" cy="540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insuficiente de grabaciones del dataset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227832" y="1700784"/>
            <a:ext cx="384048" cy="540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648456" y="1700784"/>
            <a:ext cx="384048" cy="540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069080" y="1700784"/>
            <a:ext cx="530352" cy="540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636008" y="1700784"/>
            <a:ext cx="530352" cy="540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202936" y="1700784"/>
            <a:ext cx="3392424" cy="540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Preprocesamiento iterativo con validación visual por etapa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7472" y="2296058"/>
            <a:ext cx="8449056" cy="613562"/>
          </a:xfrm>
          <a:prstGeom prst="rect">
            <a:avLst/>
          </a:prstGeom>
          <a:solidFill>
            <a:srgbClr val="253649"/>
          </a:solidFill>
          <a:ln w="12700">
            <a:solidFill>
              <a:srgbClr val="25364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2" name="Shape 20"/>
          <p:cNvSpPr/>
          <p:nvPr/>
        </p:nvSpPr>
        <p:spPr>
          <a:xfrm>
            <a:off x="347472" y="2296058"/>
            <a:ext cx="41148" cy="613562"/>
          </a:xfrm>
          <a:prstGeom prst="rect">
            <a:avLst/>
          </a:prstGeom>
          <a:solidFill>
            <a:srgbClr val="E07070"/>
          </a:solidFill>
          <a:ln w="12700">
            <a:solidFill>
              <a:srgbClr val="E0707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3" name="Text 21"/>
          <p:cNvSpPr/>
          <p:nvPr/>
        </p:nvSpPr>
        <p:spPr>
          <a:xfrm>
            <a:off x="487243" y="2332634"/>
            <a:ext cx="2788920" cy="540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Desempeño insuficiente del modelo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227832" y="2332634"/>
            <a:ext cx="384048" cy="540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648456" y="2332634"/>
            <a:ext cx="384048" cy="540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069080" y="2332634"/>
            <a:ext cx="530352" cy="540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636008" y="2332634"/>
            <a:ext cx="530352" cy="540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202936" y="2332634"/>
            <a:ext cx="3392424" cy="540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Experimentación iterativa desde el inicio, ≥2 arquitecturas candidatas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47472" y="2927909"/>
            <a:ext cx="8449056" cy="613562"/>
          </a:xfrm>
          <a:prstGeom prst="rect">
            <a:avLst/>
          </a:prstGeom>
          <a:solidFill>
            <a:srgbClr val="2C3E52"/>
          </a:solidFill>
          <a:ln w="12700">
            <a:solidFill>
              <a:srgbClr val="2C3E5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0" name="Shape 28"/>
          <p:cNvSpPr/>
          <p:nvPr/>
        </p:nvSpPr>
        <p:spPr>
          <a:xfrm>
            <a:off x="347472" y="2927909"/>
            <a:ext cx="41148" cy="613562"/>
          </a:xfrm>
          <a:prstGeom prst="rect">
            <a:avLst/>
          </a:prstGeom>
          <a:solidFill>
            <a:srgbClr val="E07070"/>
          </a:solidFill>
          <a:ln w="12700">
            <a:solidFill>
              <a:srgbClr val="E0707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1" name="Text 29"/>
          <p:cNvSpPr/>
          <p:nvPr/>
        </p:nvSpPr>
        <p:spPr>
          <a:xfrm>
            <a:off x="487243" y="2964485"/>
            <a:ext cx="2788920" cy="540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disponible inferior al planificado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227832" y="2964485"/>
            <a:ext cx="384048" cy="540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648456" y="2964485"/>
            <a:ext cx="384048" cy="540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069080" y="2964485"/>
            <a:ext cx="530352" cy="540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636008" y="2964485"/>
            <a:ext cx="530352" cy="540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202936" y="2964485"/>
            <a:ext cx="3392424" cy="540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Colchón en último bimestre, revisión mensual de avance real vs planificado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47472" y="3559759"/>
            <a:ext cx="8449056" cy="613562"/>
          </a:xfrm>
          <a:prstGeom prst="rect">
            <a:avLst/>
          </a:prstGeom>
          <a:solidFill>
            <a:srgbClr val="253649"/>
          </a:solidFill>
          <a:ln w="12700">
            <a:solidFill>
              <a:srgbClr val="253649"/>
            </a:solidFill>
            <a:prstDash val="solid"/>
          </a:ln>
        </p:spPr>
        <p:txBody>
          <a:bodyPr/>
          <a:lstStyle/>
          <a:p>
            <a:endParaRPr lang="es-AR" sz="2400"/>
          </a:p>
        </p:txBody>
      </p:sp>
      <p:sp>
        <p:nvSpPr>
          <p:cNvPr id="38" name="Shape 36"/>
          <p:cNvSpPr/>
          <p:nvPr/>
        </p:nvSpPr>
        <p:spPr>
          <a:xfrm>
            <a:off x="347472" y="3559759"/>
            <a:ext cx="41148" cy="613562"/>
          </a:xfrm>
          <a:prstGeom prst="rect">
            <a:avLst/>
          </a:prstGeom>
          <a:solidFill>
            <a:srgbClr val="E07070"/>
          </a:solidFill>
          <a:ln w="12700">
            <a:solidFill>
              <a:srgbClr val="E0707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9" name="Text 37"/>
          <p:cNvSpPr/>
          <p:nvPr/>
        </p:nvSpPr>
        <p:spPr>
          <a:xfrm>
            <a:off x="487243" y="3596335"/>
            <a:ext cx="2788920" cy="540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Desbalance severo de clases en los datasets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227832" y="3596335"/>
            <a:ext cx="384048" cy="540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648456" y="3596335"/>
            <a:ext cx="384048" cy="540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069080" y="3596335"/>
            <a:ext cx="530352" cy="540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636008" y="3596335"/>
            <a:ext cx="530352" cy="540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202936" y="3596335"/>
            <a:ext cx="3392424" cy="540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augmentation, métricas sensibles al desbalance (F1 macro, AUC)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47472" y="4191610"/>
            <a:ext cx="8449056" cy="613562"/>
          </a:xfrm>
          <a:prstGeom prst="rect">
            <a:avLst/>
          </a:prstGeom>
          <a:solidFill>
            <a:srgbClr val="2C3E52"/>
          </a:solidFill>
          <a:ln w="12700">
            <a:solidFill>
              <a:srgbClr val="2C3E5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6" name="Shape 44"/>
          <p:cNvSpPr/>
          <p:nvPr/>
        </p:nvSpPr>
        <p:spPr>
          <a:xfrm>
            <a:off x="347472" y="4191610"/>
            <a:ext cx="41148" cy="613562"/>
          </a:xfrm>
          <a:prstGeom prst="rect">
            <a:avLst/>
          </a:prstGeom>
          <a:solidFill>
            <a:srgbClr val="4ABFCF"/>
          </a:solidFill>
          <a:ln w="12700">
            <a:solidFill>
              <a:srgbClr val="4ABFC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7" name="Text 45"/>
          <p:cNvSpPr/>
          <p:nvPr/>
        </p:nvSpPr>
        <p:spPr>
          <a:xfrm>
            <a:off x="487243" y="4228186"/>
            <a:ext cx="2788920" cy="540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 de hardware insuficiente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3227832" y="4228186"/>
            <a:ext cx="384048" cy="540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3648456" y="4228186"/>
            <a:ext cx="384048" cy="540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069080" y="4228186"/>
            <a:ext cx="530352" cy="540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4636008" y="4228186"/>
            <a:ext cx="530352" cy="540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5202936" y="4228186"/>
            <a:ext cx="3392424" cy="540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 como alternativa con hardware dedicado (GPU)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89992"/>
            <a:ext cx="1417320" cy="237744"/>
          </a:xfrm>
          <a:prstGeom prst="roundRect">
            <a:avLst>
              <a:gd name="adj" fmla="val 15385"/>
            </a:avLst>
          </a:prstGeom>
          <a:solidFill>
            <a:srgbClr val="4ABFCF"/>
          </a:solidFill>
          <a:ln w="12700">
            <a:solidFill>
              <a:srgbClr val="4ABFC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347472" y="28999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REVIEW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47472" y="693900"/>
            <a:ext cx="8449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Review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47472" y="1389888"/>
            <a:ext cx="4041648" cy="1625346"/>
          </a:xfrm>
          <a:prstGeom prst="rect">
            <a:avLst/>
          </a:prstGeom>
          <a:solidFill>
            <a:srgbClr val="2C3E52"/>
          </a:solidFill>
          <a:ln w="7620">
            <a:solidFill>
              <a:srgbClr val="4ABFC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Shape 4"/>
          <p:cNvSpPr/>
          <p:nvPr/>
        </p:nvSpPr>
        <p:spPr>
          <a:xfrm>
            <a:off x="347472" y="1389888"/>
            <a:ext cx="41148" cy="1625346"/>
          </a:xfrm>
          <a:prstGeom prst="rect">
            <a:avLst/>
          </a:prstGeom>
          <a:solidFill>
            <a:srgbClr val="4ABFCF"/>
          </a:solidFill>
          <a:ln w="12700">
            <a:solidFill>
              <a:srgbClr val="4ABFC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458505" y="1472184"/>
            <a:ext cx="38770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HU2 – Visualización de señales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8912" y="1746504"/>
            <a:ext cx="3858768" cy="20117"/>
          </a:xfrm>
          <a:prstGeom prst="rect">
            <a:avLst/>
          </a:prstGeom>
          <a:solidFill>
            <a:srgbClr val="172433"/>
          </a:solidFill>
          <a:ln w="12700">
            <a:solidFill>
              <a:srgbClr val="17243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438912" y="1728742"/>
            <a:ext cx="3877056" cy="9834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endParaRPr lang="en-US" sz="950" dirty="0">
              <a:solidFill>
                <a:srgbClr val="B8CCD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buSzPct val="100000"/>
              <a:buChar char="•"/>
            </a:pPr>
            <a:r>
              <a:rPr lang="en-US" sz="95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</a:t>
            </a:r>
            <a:r>
              <a:rPr lang="en-US" sz="9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forma de onda temporal de las </a:t>
            </a:r>
            <a:r>
              <a:rPr lang="en-US" sz="95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</a:t>
            </a:r>
            <a:r>
              <a:rPr lang="en-US" sz="9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representativas</a:t>
            </a:r>
            <a:r>
              <a:rPr lang="en-US" sz="9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Representaciones en frecuencia de cada clase </a:t>
            </a:r>
            <a:r>
              <a:rPr lang="en-US" sz="95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comparadas</a:t>
            </a:r>
            <a:r>
              <a:rPr lang="en-US" sz="9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visualmente</a:t>
            </a:r>
            <a:r>
              <a:rPr lang="en-US" sz="9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342900" indent="-342900">
              <a:buSzPct val="100000"/>
              <a:buChar char="•"/>
            </a:pP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director verifica que las visualizaciones permitan distinguir entre </a:t>
            </a:r>
            <a:r>
              <a:rPr lang="en-US" sz="95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</a:t>
            </a:r>
            <a:r>
              <a:rPr lang="en-US" sz="95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5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420624" y="2795778"/>
            <a:ext cx="3895344" cy="201168"/>
          </a:xfrm>
          <a:prstGeom prst="rect">
            <a:avLst/>
          </a:prstGeom>
          <a:solidFill>
            <a:srgbClr val="253649"/>
          </a:solidFill>
          <a:ln w="12700">
            <a:solidFill>
              <a:srgbClr val="25364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457200" y="2814066"/>
            <a:ext cx="3822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Riesgo: que no se identifique ninguna diferencia entre clases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98114"/>
            <a:ext cx="4041648" cy="1625346"/>
          </a:xfrm>
          <a:prstGeom prst="rect">
            <a:avLst/>
          </a:prstGeom>
          <a:solidFill>
            <a:srgbClr val="2C3E52"/>
          </a:solidFill>
          <a:ln w="7620">
            <a:solidFill>
              <a:srgbClr val="D4A84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Shape 11"/>
          <p:cNvSpPr/>
          <p:nvPr/>
        </p:nvSpPr>
        <p:spPr>
          <a:xfrm>
            <a:off x="347472" y="3198114"/>
            <a:ext cx="41148" cy="1625346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/>
          <p:nvPr/>
        </p:nvSpPr>
        <p:spPr>
          <a:xfrm>
            <a:off x="458505" y="3280410"/>
            <a:ext cx="38770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HU4 – Extracción de features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8912" y="3554730"/>
            <a:ext cx="3858768" cy="20117"/>
          </a:xfrm>
          <a:prstGeom prst="rect">
            <a:avLst/>
          </a:prstGeom>
          <a:solidFill>
            <a:srgbClr val="172433"/>
          </a:solidFill>
          <a:ln w="12700">
            <a:solidFill>
              <a:srgbClr val="17243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/>
          <p:nvPr/>
        </p:nvSpPr>
        <p:spPr>
          <a:xfrm>
            <a:off x="438912" y="3618738"/>
            <a:ext cx="3877056" cy="9669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Espectrogramas Mel y vectores MFCC generados para todas las </a:t>
            </a:r>
            <a:r>
              <a:rPr lang="en-US" sz="95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grabaciones</a:t>
            </a:r>
            <a:r>
              <a:rPr lang="en-US" sz="9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>
              <a:buSzPct val="100000"/>
            </a:pP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almacenados en formato utilizable para </a:t>
            </a:r>
            <a:r>
              <a:rPr lang="en-US" sz="95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95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r>
              <a:rPr lang="en-US" sz="95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5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de </a:t>
            </a:r>
            <a:r>
              <a:rPr lang="en-US" sz="95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</a:t>
            </a:r>
            <a:r>
              <a:rPr lang="en-US" sz="95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documentada</a:t>
            </a:r>
            <a:r>
              <a:rPr lang="en-US" sz="95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5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20624" y="4604004"/>
            <a:ext cx="3895344" cy="201168"/>
          </a:xfrm>
          <a:prstGeom prst="rect">
            <a:avLst/>
          </a:prstGeom>
          <a:solidFill>
            <a:srgbClr val="253649"/>
          </a:solidFill>
          <a:ln w="12700">
            <a:solidFill>
              <a:srgbClr val="25364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8" name="Text 16"/>
          <p:cNvSpPr/>
          <p:nvPr/>
        </p:nvSpPr>
        <p:spPr>
          <a:xfrm>
            <a:off x="457200" y="4622292"/>
            <a:ext cx="3822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Riesgo: features incorrectos o insuficientes para el entrenamiento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73168" y="1389888"/>
            <a:ext cx="4041648" cy="1625346"/>
          </a:xfrm>
          <a:prstGeom prst="rect">
            <a:avLst/>
          </a:prstGeom>
          <a:solidFill>
            <a:srgbClr val="2C3E52"/>
          </a:solidFill>
          <a:ln w="7620">
            <a:solidFill>
              <a:srgbClr val="3DBFA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0" name="Shape 18"/>
          <p:cNvSpPr/>
          <p:nvPr/>
        </p:nvSpPr>
        <p:spPr>
          <a:xfrm>
            <a:off x="4773168" y="1389888"/>
            <a:ext cx="41148" cy="1625346"/>
          </a:xfrm>
          <a:prstGeom prst="rect">
            <a:avLst/>
          </a:prstGeom>
          <a:solidFill>
            <a:srgbClr val="3DBFA0"/>
          </a:solidFill>
          <a:ln w="12700">
            <a:solidFill>
              <a:srgbClr val="3DBFA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1" name="Text 19"/>
          <p:cNvSpPr/>
          <p:nvPr/>
        </p:nvSpPr>
        <p:spPr>
          <a:xfrm>
            <a:off x="4884201" y="1472184"/>
            <a:ext cx="38770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HU5 – Diseño del modelo CNN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64608" y="1746504"/>
            <a:ext cx="3858768" cy="20117"/>
          </a:xfrm>
          <a:prstGeom prst="rect">
            <a:avLst/>
          </a:prstGeom>
          <a:solidFill>
            <a:srgbClr val="172433"/>
          </a:solidFill>
          <a:ln w="12700">
            <a:solidFill>
              <a:srgbClr val="17243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3" name="Text 21"/>
          <p:cNvSpPr/>
          <p:nvPr/>
        </p:nvSpPr>
        <p:spPr>
          <a:xfrm>
            <a:off x="4864608" y="1810512"/>
            <a:ext cx="3877056" cy="9669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menos dos arquitecturas candidatas implementadas y </a:t>
            </a:r>
            <a:r>
              <a:rPr lang="en-US" sz="95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comparadas</a:t>
            </a:r>
            <a:r>
              <a:rPr lang="en-US" sz="9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>
              <a:buSzPct val="100000"/>
            </a:pP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final definida, documentada y </a:t>
            </a:r>
            <a:r>
              <a:rPr lang="en-US" sz="95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entrenada</a:t>
            </a:r>
            <a:r>
              <a:rPr lang="en-US" sz="95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5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evaluado sobre conjunto de audios de </a:t>
            </a:r>
            <a:r>
              <a:rPr lang="en-US" sz="95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</a:t>
            </a:r>
            <a:r>
              <a:rPr lang="en-US" sz="95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5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846320" y="2795778"/>
            <a:ext cx="3895344" cy="201168"/>
          </a:xfrm>
          <a:prstGeom prst="rect">
            <a:avLst/>
          </a:prstGeom>
          <a:solidFill>
            <a:srgbClr val="253649"/>
          </a:solidFill>
          <a:ln w="12700">
            <a:solidFill>
              <a:srgbClr val="25364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5" name="Text 23"/>
          <p:cNvSpPr/>
          <p:nvPr/>
        </p:nvSpPr>
        <p:spPr>
          <a:xfrm>
            <a:off x="4882896" y="2814066"/>
            <a:ext cx="3822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Riesgo: requerimientos computacionales elevados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773168" y="3198114"/>
            <a:ext cx="4041648" cy="1625346"/>
          </a:xfrm>
          <a:prstGeom prst="rect">
            <a:avLst/>
          </a:prstGeom>
          <a:solidFill>
            <a:srgbClr val="2C3E52"/>
          </a:solidFill>
          <a:ln w="7620">
            <a:solidFill>
              <a:srgbClr val="E0707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7" name="Shape 25"/>
          <p:cNvSpPr/>
          <p:nvPr/>
        </p:nvSpPr>
        <p:spPr>
          <a:xfrm>
            <a:off x="4773168" y="3198114"/>
            <a:ext cx="41148" cy="1625346"/>
          </a:xfrm>
          <a:prstGeom prst="rect">
            <a:avLst/>
          </a:prstGeom>
          <a:solidFill>
            <a:srgbClr val="E07070"/>
          </a:solidFill>
          <a:ln w="12700">
            <a:solidFill>
              <a:srgbClr val="E0707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8" name="Text 26"/>
          <p:cNvSpPr/>
          <p:nvPr/>
        </p:nvSpPr>
        <p:spPr>
          <a:xfrm>
            <a:off x="4884201" y="3280410"/>
            <a:ext cx="38770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HU7 – Evaluación del modelo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64608" y="3554730"/>
            <a:ext cx="3858768" cy="20117"/>
          </a:xfrm>
          <a:prstGeom prst="rect">
            <a:avLst/>
          </a:prstGeom>
          <a:solidFill>
            <a:srgbClr val="172433"/>
          </a:solidFill>
          <a:ln w="12700">
            <a:solidFill>
              <a:srgbClr val="17243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0" name="Text 28"/>
          <p:cNvSpPr/>
          <p:nvPr/>
        </p:nvSpPr>
        <p:spPr>
          <a:xfrm>
            <a:off x="4864608" y="3618738"/>
            <a:ext cx="3877056" cy="9669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F1-score, matriz de confusión y ROC sobre conjunto de </a:t>
            </a:r>
            <a:r>
              <a:rPr lang="en-US" sz="95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</a:t>
            </a:r>
            <a:r>
              <a:rPr lang="en-US" sz="9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>
              <a:buSzPct val="100000"/>
            </a:pP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interpretados en contexto clínico junto al equipo del CIBIO.</a:t>
            </a:r>
            <a:endParaRPr lang="en-US" sz="95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claras y sin ambigüedad en </a:t>
            </a:r>
            <a:r>
              <a:rPr lang="en-US" sz="95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</a:t>
            </a:r>
            <a:r>
              <a:rPr lang="en-US" sz="95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</a:t>
            </a:r>
            <a:r>
              <a:rPr lang="en-US" sz="95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5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846320" y="4604004"/>
            <a:ext cx="3895344" cy="201168"/>
          </a:xfrm>
          <a:prstGeom prst="rect">
            <a:avLst/>
          </a:prstGeom>
          <a:solidFill>
            <a:srgbClr val="253649"/>
          </a:solidFill>
          <a:ln w="12700">
            <a:solidFill>
              <a:srgbClr val="25364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2" name="Text 30"/>
          <p:cNvSpPr/>
          <p:nvPr/>
        </p:nvSpPr>
        <p:spPr>
          <a:xfrm>
            <a:off x="4882896" y="4622292"/>
            <a:ext cx="3822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Riesgo: resultados insuficientes para alcanzar los requerimientos mínimos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89992"/>
            <a:ext cx="1417320" cy="237744"/>
          </a:xfrm>
          <a:prstGeom prst="roundRect">
            <a:avLst>
              <a:gd name="adj" fmla="val 15385"/>
            </a:avLst>
          </a:prstGeom>
          <a:solidFill>
            <a:srgbClr val="4ABFCF"/>
          </a:solidFill>
          <a:ln w="12700">
            <a:solidFill>
              <a:srgbClr val="4ABFC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347472" y="28999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47472" y="687106"/>
            <a:ext cx="8449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Retrospective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47472" y="1389888"/>
            <a:ext cx="4041648" cy="1625346"/>
          </a:xfrm>
          <a:prstGeom prst="rect">
            <a:avLst/>
          </a:prstGeom>
          <a:solidFill>
            <a:srgbClr val="2C3E52"/>
          </a:solidFill>
          <a:ln w="7620">
            <a:solidFill>
              <a:srgbClr val="D4A84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Shape 4"/>
          <p:cNvSpPr/>
          <p:nvPr/>
        </p:nvSpPr>
        <p:spPr>
          <a:xfrm>
            <a:off x="347472" y="1389888"/>
            <a:ext cx="41148" cy="1625346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465036" y="1472184"/>
            <a:ext cx="38770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</a:t>
            </a:r>
            <a:r>
              <a:rPr lang="en-US" sz="1050" b="1" dirty="0" err="1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</a:t>
            </a:r>
            <a:r>
              <a:rPr lang="en-US" sz="1050" b="1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4  ·  Preprocesamiento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8912" y="1746504"/>
            <a:ext cx="3858768" cy="20117"/>
          </a:xfrm>
          <a:prstGeom prst="rect">
            <a:avLst/>
          </a:prstGeom>
          <a:solidFill>
            <a:srgbClr val="172433"/>
          </a:solidFill>
          <a:ln w="12700">
            <a:solidFill>
              <a:srgbClr val="17243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438912" y="1810512"/>
            <a:ext cx="3877056" cy="352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Más de: </a:t>
            </a:r>
            <a:r>
              <a:rPr lang="en-US" sz="950" b="1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r>
              <a:rPr lang="en-US" sz="95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alidar</a:t>
            </a:r>
            <a:r>
              <a:rPr lang="en-US" sz="9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visualmente las señales luego de cada paso del preprocesamiento, sin tener el pipeline completo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38912" y="2199894"/>
            <a:ext cx="3877056" cy="352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Menos: </a:t>
            </a:r>
            <a:r>
              <a:rPr lang="en-US" sz="95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iterar</a:t>
            </a:r>
            <a:r>
              <a:rPr lang="en-US" sz="9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indefinidamente sobre la elección de la técnica de eliminación de ruido sin establecer un criterio de corte claro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2589276"/>
            <a:ext cx="3877056" cy="352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Mantener: </a:t>
            </a:r>
            <a:r>
              <a:rPr lang="en-US" sz="95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</a:t>
            </a:r>
            <a:r>
              <a:rPr lang="en-US" sz="9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manera incremental cada paso del preprocesamiento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47472" y="3198114"/>
            <a:ext cx="4041648" cy="1625346"/>
          </a:xfrm>
          <a:prstGeom prst="rect">
            <a:avLst/>
          </a:prstGeom>
          <a:solidFill>
            <a:srgbClr val="2C3E52"/>
          </a:solidFill>
          <a:ln w="7620">
            <a:solidFill>
              <a:srgbClr val="3DBFA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Shape 11"/>
          <p:cNvSpPr/>
          <p:nvPr/>
        </p:nvSpPr>
        <p:spPr>
          <a:xfrm>
            <a:off x="347472" y="3198114"/>
            <a:ext cx="41148" cy="1625346"/>
          </a:xfrm>
          <a:prstGeom prst="rect">
            <a:avLst/>
          </a:prstGeom>
          <a:solidFill>
            <a:srgbClr val="3DBFA0"/>
          </a:solidFill>
          <a:ln w="12700">
            <a:solidFill>
              <a:srgbClr val="3DBFA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/>
          <p:nvPr/>
        </p:nvSpPr>
        <p:spPr>
          <a:xfrm>
            <a:off x="465036" y="3280410"/>
            <a:ext cx="38770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técnico 8  ·  Modelado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8912" y="3554730"/>
            <a:ext cx="3858768" cy="20117"/>
          </a:xfrm>
          <a:prstGeom prst="rect">
            <a:avLst/>
          </a:prstGeom>
          <a:solidFill>
            <a:srgbClr val="172433"/>
          </a:solidFill>
          <a:ln w="12700">
            <a:solidFill>
              <a:srgbClr val="17243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/>
          <p:nvPr/>
        </p:nvSpPr>
        <p:spPr>
          <a:xfrm>
            <a:off x="438912" y="3618738"/>
            <a:ext cx="3877056" cy="352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Más de: </a:t>
            </a:r>
            <a:r>
              <a:rPr lang="en-US" sz="9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los resultados de cada experimento de forma estructurada para facilitar la comparación entre arquitecturas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38912" y="4008120"/>
            <a:ext cx="3877056" cy="352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Menos: </a:t>
            </a:r>
            <a:r>
              <a:rPr lang="en-US" sz="95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invertir</a:t>
            </a:r>
            <a:r>
              <a:rPr lang="en-US" sz="9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tiempo excesivo en optimizar una arquitectura antes de compararla con otras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38912" y="4397502"/>
            <a:ext cx="3877056" cy="352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Mantener: </a:t>
            </a:r>
            <a:r>
              <a:rPr lang="en-US" sz="95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investigar</a:t>
            </a:r>
            <a:r>
              <a:rPr lang="en-US" sz="9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arquitecturas en la literatura antes de diseñar una propia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73168" y="1389888"/>
            <a:ext cx="4041648" cy="1625346"/>
          </a:xfrm>
          <a:prstGeom prst="rect">
            <a:avLst/>
          </a:prstGeom>
          <a:solidFill>
            <a:srgbClr val="2C3E52"/>
          </a:solidFill>
          <a:ln w="7620">
            <a:solidFill>
              <a:srgbClr val="E0707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0" name="Shape 18"/>
          <p:cNvSpPr/>
          <p:nvPr/>
        </p:nvSpPr>
        <p:spPr>
          <a:xfrm>
            <a:off x="4773168" y="1389888"/>
            <a:ext cx="41148" cy="1625346"/>
          </a:xfrm>
          <a:prstGeom prst="rect">
            <a:avLst/>
          </a:prstGeom>
          <a:solidFill>
            <a:srgbClr val="E07070"/>
          </a:solidFill>
          <a:ln w="12700">
            <a:solidFill>
              <a:srgbClr val="E0707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1" name="Text 19"/>
          <p:cNvSpPr/>
          <p:nvPr/>
        </p:nvSpPr>
        <p:spPr>
          <a:xfrm>
            <a:off x="4890732" y="1472184"/>
            <a:ext cx="38770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técnico 10  ·  Evaluación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64608" y="1746504"/>
            <a:ext cx="3858768" cy="20117"/>
          </a:xfrm>
          <a:prstGeom prst="rect">
            <a:avLst/>
          </a:prstGeom>
          <a:solidFill>
            <a:srgbClr val="172433"/>
          </a:solidFill>
          <a:ln w="12700">
            <a:solidFill>
              <a:srgbClr val="17243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3" name="Text 21"/>
          <p:cNvSpPr/>
          <p:nvPr/>
        </p:nvSpPr>
        <p:spPr>
          <a:xfrm>
            <a:off x="4864608" y="1810512"/>
            <a:ext cx="3877056" cy="352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Más de: </a:t>
            </a:r>
            <a:r>
              <a:rPr lang="en-US" sz="95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</a:t>
            </a:r>
            <a:r>
              <a:rPr lang="en-US" sz="9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errores del modelo para entender qué clases presentan mayor dificultad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64608" y="2199894"/>
            <a:ext cx="3877056" cy="352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Menos: </a:t>
            </a:r>
            <a:r>
              <a:rPr lang="en-US" sz="95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</a:t>
            </a:r>
            <a:r>
              <a:rPr lang="en-US" sz="9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hiperparámetros de forma aleatoria sin establecer un criterio de corte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64608" y="2589276"/>
            <a:ext cx="3877056" cy="352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Mantener: </a:t>
            </a:r>
            <a:r>
              <a:rPr lang="en-US" sz="95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</a:t>
            </a:r>
            <a:r>
              <a:rPr lang="en-US" sz="9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entre enfoque integrado y por separado de forma sistemática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73168" y="3198114"/>
            <a:ext cx="4041648" cy="1625346"/>
          </a:xfrm>
          <a:prstGeom prst="rect">
            <a:avLst/>
          </a:prstGeom>
          <a:solidFill>
            <a:srgbClr val="2C3E52"/>
          </a:solidFill>
          <a:ln w="7620">
            <a:solidFill>
              <a:srgbClr val="4ABFC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7" name="Shape 25"/>
          <p:cNvSpPr/>
          <p:nvPr/>
        </p:nvSpPr>
        <p:spPr>
          <a:xfrm>
            <a:off x="4773168" y="3198114"/>
            <a:ext cx="41148" cy="1625346"/>
          </a:xfrm>
          <a:prstGeom prst="rect">
            <a:avLst/>
          </a:prstGeom>
          <a:solidFill>
            <a:srgbClr val="4ABFCF"/>
          </a:solidFill>
          <a:ln w="12700">
            <a:solidFill>
              <a:srgbClr val="4ABFC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8" name="Text 26"/>
          <p:cNvSpPr/>
          <p:nvPr/>
        </p:nvSpPr>
        <p:spPr>
          <a:xfrm>
            <a:off x="4890732" y="3280410"/>
            <a:ext cx="38770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no técnico 1  ·  Planificación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64608" y="3554730"/>
            <a:ext cx="3858768" cy="20117"/>
          </a:xfrm>
          <a:prstGeom prst="rect">
            <a:avLst/>
          </a:prstGeom>
          <a:solidFill>
            <a:srgbClr val="172433"/>
          </a:solidFill>
          <a:ln w="12700">
            <a:solidFill>
              <a:srgbClr val="17243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0" name="Text 28"/>
          <p:cNvSpPr/>
          <p:nvPr/>
        </p:nvSpPr>
        <p:spPr>
          <a:xfrm>
            <a:off x="4864608" y="3618738"/>
            <a:ext cx="3877056" cy="352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Más de: </a:t>
            </a:r>
            <a:r>
              <a:rPr lang="en-US" sz="95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</a:t>
            </a:r>
            <a:r>
              <a:rPr lang="en-US" sz="9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 director ante dudas sobre el alcance o criterios de evaluación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64608" y="4008120"/>
            <a:ext cx="3877056" cy="352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Menos: </a:t>
            </a:r>
            <a:r>
              <a:rPr lang="en-US" sz="9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extender la etapa de planificación más allá de lo estrictamente necesario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64608" y="4397502"/>
            <a:ext cx="3877056" cy="352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B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Mantener: </a:t>
            </a:r>
            <a:r>
              <a:rPr lang="en-US" sz="950" dirty="0" err="1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9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registro de cambios del documento — actualizado en cada revisión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"/>
            <a:ext cx="9144000" cy="4924044"/>
          </a:xfrm>
          <a:prstGeom prst="rect">
            <a:avLst/>
          </a:prstGeom>
          <a:solidFill>
            <a:srgbClr val="253649"/>
          </a:solidFill>
          <a:ln w="12700">
            <a:solidFill>
              <a:srgbClr val="25364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0" y="164592"/>
            <a:ext cx="91440" cy="4924044"/>
          </a:xfrm>
          <a:prstGeom prst="rect">
            <a:avLst/>
          </a:prstGeom>
          <a:solidFill>
            <a:srgbClr val="4ABFCF"/>
          </a:solidFill>
          <a:ln w="12700">
            <a:solidFill>
              <a:srgbClr val="4ABFC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365760" y="1338942"/>
            <a:ext cx="8412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365760" y="2216766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4A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patologías cardiopulmonares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dirty="0">
                <a:solidFill>
                  <a:srgbClr val="4A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mediante redes neuronales aplicadas a señales de auscultación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347472" y="2828109"/>
            <a:ext cx="8449056" cy="20117"/>
          </a:xfrm>
          <a:prstGeom prst="rect">
            <a:avLst/>
          </a:prstGeom>
          <a:solidFill>
            <a:srgbClr val="172433"/>
          </a:solidFill>
          <a:ln w="12700">
            <a:solidFill>
              <a:srgbClr val="17243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/>
          <p:nvPr/>
        </p:nvSpPr>
        <p:spPr>
          <a:xfrm>
            <a:off x="365760" y="2919549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Santiago Federico Bettig  ·  Director: Dr. Ing. Leandro Javier Cymberknop (CIBIO – UTN FRBA)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65760" y="3221301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Carrera de Especialización en Inteligencia Artificial  –  FIUBA  |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</TotalTime>
  <Words>1906</Words>
  <Application>Microsoft Office PowerPoint</Application>
  <PresentationFormat>Presentación en pantalla (16:9)</PresentationFormat>
  <Paragraphs>347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Detección de patologías cardiopulmonares</dc:title>
  <dc:subject>PptxGenJS Presentation</dc:subject>
  <dc:creator>Ing. Santiago Federico Bettig</dc:creator>
  <cp:lastModifiedBy>Santiago Bettig</cp:lastModifiedBy>
  <cp:revision>44</cp:revision>
  <dcterms:created xsi:type="dcterms:W3CDTF">2026-06-06T21:38:28Z</dcterms:created>
  <dcterms:modified xsi:type="dcterms:W3CDTF">2026-06-07T19:21:57Z</dcterms:modified>
</cp:coreProperties>
</file>